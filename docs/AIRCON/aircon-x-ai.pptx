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14" y="-7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Rectangle 1"/>
          <p:cNvSpPr/>
          <p:nvPr/>
        </p:nvSpPr>
        <p:spPr>
          <a:xfrm>
            <a:off x="713232"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84108"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498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2586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96738"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56761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73849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909368"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080245"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5112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21998"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9287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6375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934628"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10550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7638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447258"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1813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78901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95988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3076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0164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7251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64339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814272"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98514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15602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32690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9777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668655"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83953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01040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181285"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5216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52303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69391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86479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03566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20654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37742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48299"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71917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89005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6092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23180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40268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57355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74443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915312"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08618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925706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427942"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59881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976969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940573"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011144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0282326" y="932688"/>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0453203"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062407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079495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965833"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1136709"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1307586"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1478463" y="932688"/>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13232" y="603504"/>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HỆ THỐNG ĐIỀU HOÀ THÍCH ỨNG  ·  VHITEK</a:t>
            </a:r>
          </a:p>
        </p:txBody>
      </p:sp>
      <p:sp>
        <p:nvSpPr>
          <p:cNvPr id="67" name="TextBox 66"/>
          <p:cNvSpPr txBox="1"/>
          <p:nvPr/>
        </p:nvSpPr>
        <p:spPr>
          <a:xfrm>
            <a:off x="713232" y="1755648"/>
            <a:ext cx="8612184" cy="2194560"/>
          </a:xfrm>
          <a:prstGeom prst="rect">
            <a:avLst/>
          </a:prstGeom>
          <a:noFill/>
        </p:spPr>
        <p:txBody>
          <a:bodyPr wrap="square" lIns="0" tIns="0" rIns="0" bIns="0" anchor="t">
            <a:spAutoFit/>
          </a:bodyPr>
          <a:lstStyle/>
          <a:p>
            <a:pPr algn="l">
              <a:lnSpc>
                <a:spcPct val="86000"/>
              </a:lnSpc>
            </a:pPr>
            <a:r>
              <a:rPr sz="8800" b="1" i="0">
                <a:solidFill>
                  <a:srgbClr val="111111"/>
                </a:solidFill>
                <a:latin typeface="Segoe UI"/>
              </a:rPr>
              <a:t>AIRCON</a:t>
            </a:r>
          </a:p>
        </p:txBody>
      </p:sp>
      <p:sp>
        <p:nvSpPr>
          <p:cNvPr id="68" name="Rectangle 67"/>
          <p:cNvSpPr/>
          <p:nvPr/>
        </p:nvSpPr>
        <p:spPr>
          <a:xfrm>
            <a:off x="713232" y="2889504"/>
            <a:ext cx="2377440" cy="45720"/>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13232" y="3145536"/>
            <a:ext cx="6674443" cy="1371600"/>
          </a:xfrm>
          <a:prstGeom prst="rect">
            <a:avLst/>
          </a:prstGeom>
          <a:noFill/>
        </p:spPr>
        <p:txBody>
          <a:bodyPr wrap="square" lIns="0" tIns="0" rIns="0" bIns="0" anchor="t">
            <a:spAutoFit/>
          </a:bodyPr>
          <a:lstStyle/>
          <a:p>
            <a:pPr algn="l">
              <a:lnSpc>
                <a:spcPct val="128000"/>
              </a:lnSpc>
            </a:pPr>
            <a:r>
              <a:rPr sz="2500" b="1" i="0">
                <a:solidFill>
                  <a:srgbClr val="0044CC"/>
                </a:solidFill>
                <a:latin typeface="Segoe UI"/>
              </a:rPr>
              <a:t>Điều hoà biết trước.</a:t>
            </a:r>
          </a:p>
          <a:p>
            <a:pPr algn="l">
              <a:lnSpc>
                <a:spcPct val="128000"/>
              </a:lnSpc>
            </a:pPr>
            <a:r>
              <a:rPr sz="1450" b="0" i="0">
                <a:solidFill>
                  <a:srgbClr val="556575"/>
                </a:solidFill>
                <a:latin typeface="Segoe UI"/>
              </a:rPr>
              <a:t>Thêm lớp dự báo cho thuật toán comfort đã có, chạy tại biên.</a:t>
            </a:r>
          </a:p>
        </p:txBody>
      </p:sp>
      <p:sp>
        <p:nvSpPr>
          <p:cNvPr id="70" name="Freeform 69"/>
          <p:cNvSpPr/>
          <p:nvPr/>
        </p:nvSpPr>
        <p:spPr>
          <a:xfrm>
            <a:off x="7355635" y="3017520"/>
            <a:ext cx="4144614" cy="1219200"/>
          </a:xfrm>
          <a:custGeom>
            <a:avLst/>
            <a:gdLst/>
            <a:ahLst/>
            <a:cxnLst/>
            <a:rect l="l" t="t" r="r" b="b"/>
            <a:pathLst>
              <a:path w="4144614" h="1792224">
                <a:moveTo>
                  <a:pt x="118872" y="0"/>
                </a:moveTo>
                <a:lnTo>
                  <a:pt x="4144614" y="0"/>
                </a:lnTo>
                <a:lnTo>
                  <a:pt x="4144614" y="1673352"/>
                </a:lnTo>
                <a:lnTo>
                  <a:pt x="4025742" y="1792224"/>
                </a:lnTo>
                <a:lnTo>
                  <a:pt x="0" y="1792224"/>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7333848" y="3136391"/>
            <a:ext cx="45719" cy="1100329"/>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608169" y="3218688"/>
            <a:ext cx="3595974"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QUALCOMM FUTURE MAKERS</a:t>
            </a:r>
          </a:p>
        </p:txBody>
      </p:sp>
      <p:sp>
        <p:nvSpPr>
          <p:cNvPr id="73" name="TextBox 72"/>
          <p:cNvSpPr txBox="1"/>
          <p:nvPr/>
        </p:nvSpPr>
        <p:spPr>
          <a:xfrm>
            <a:off x="7608169" y="3419856"/>
            <a:ext cx="3595974"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HACK THE CHALLENGE 2026</a:t>
            </a:r>
          </a:p>
        </p:txBody>
      </p:sp>
      <p:sp>
        <p:nvSpPr>
          <p:cNvPr id="74" name="TextBox 73"/>
          <p:cNvSpPr txBox="1"/>
          <p:nvPr/>
        </p:nvSpPr>
        <p:spPr>
          <a:xfrm>
            <a:off x="7632088" y="3694176"/>
            <a:ext cx="3595974" cy="206595"/>
          </a:xfrm>
          <a:prstGeom prst="rect">
            <a:avLst/>
          </a:prstGeom>
          <a:noFill/>
        </p:spPr>
        <p:txBody>
          <a:bodyPr wrap="square" lIns="0" tIns="0" rIns="0" bIns="0" anchor="t">
            <a:spAutoFit/>
          </a:bodyPr>
          <a:lstStyle/>
          <a:p>
            <a:pPr algn="l">
              <a:lnSpc>
                <a:spcPct val="124000"/>
              </a:lnSpc>
            </a:pPr>
            <a:r>
              <a:rPr sz="1200" b="1" i="0" dirty="0">
                <a:solidFill>
                  <a:srgbClr val="111111"/>
                </a:solidFill>
                <a:latin typeface="Segoe UI"/>
              </a:rPr>
              <a:t>SMART LIVING · EDGE–CLOUD AI</a:t>
            </a:r>
          </a:p>
        </p:txBody>
      </p:sp>
      <p:sp>
        <p:nvSpPr>
          <p:cNvPr id="75" name="TextBox 74"/>
          <p:cNvSpPr txBox="1"/>
          <p:nvPr/>
        </p:nvSpPr>
        <p:spPr>
          <a:xfrm>
            <a:off x="713232" y="4718304"/>
            <a:ext cx="2011680" cy="566928"/>
          </a:xfrm>
          <a:prstGeom prst="rect">
            <a:avLst/>
          </a:prstGeom>
          <a:noFill/>
        </p:spPr>
        <p:txBody>
          <a:bodyPr wrap="square" lIns="0" tIns="0" rIns="0" bIns="0" anchor="t">
            <a:spAutoFit/>
          </a:bodyPr>
          <a:lstStyle/>
          <a:p>
            <a:pPr algn="l">
              <a:lnSpc>
                <a:spcPct val="86000"/>
              </a:lnSpc>
            </a:pPr>
            <a:r>
              <a:rPr sz="4000" b="1" i="0">
                <a:solidFill>
                  <a:srgbClr val="0044CC"/>
                </a:solidFill>
                <a:latin typeface="Segoe UI"/>
              </a:rPr>
              <a:t>3</a:t>
            </a:r>
          </a:p>
        </p:txBody>
      </p:sp>
      <p:sp>
        <p:nvSpPr>
          <p:cNvPr id="76" name="TextBox 75"/>
          <p:cNvSpPr txBox="1"/>
          <p:nvPr/>
        </p:nvSpPr>
        <p:spPr>
          <a:xfrm>
            <a:off x="713232" y="5230368"/>
            <a:ext cx="2011680" cy="201168"/>
          </a:xfrm>
          <a:prstGeom prst="rect">
            <a:avLst/>
          </a:prstGeom>
          <a:noFill/>
        </p:spPr>
        <p:txBody>
          <a:bodyPr wrap="square" lIns="0" tIns="0" rIns="0" bIns="0" anchor="t">
            <a:spAutoFit/>
          </a:bodyPr>
          <a:lstStyle/>
          <a:p>
            <a:pPr algn="l">
              <a:lnSpc>
                <a:spcPct val="100000"/>
              </a:lnSpc>
            </a:pPr>
            <a:r>
              <a:rPr sz="950" b="0" i="0" spc="80">
                <a:solidFill>
                  <a:srgbClr val="6B7C90"/>
                </a:solidFill>
                <a:latin typeface="Consolas"/>
              </a:rPr>
              <a:t>lớp</a:t>
            </a:r>
          </a:p>
        </p:txBody>
      </p:sp>
      <p:sp>
        <p:nvSpPr>
          <p:cNvPr id="77" name="TextBox 76"/>
          <p:cNvSpPr txBox="1"/>
          <p:nvPr/>
        </p:nvSpPr>
        <p:spPr>
          <a:xfrm>
            <a:off x="713232" y="5449824"/>
            <a:ext cx="2011680" cy="201168"/>
          </a:xfrm>
          <a:prstGeom prst="rect">
            <a:avLst/>
          </a:prstGeom>
          <a:noFill/>
        </p:spPr>
        <p:txBody>
          <a:bodyPr wrap="square" lIns="0" tIns="0" rIns="0" bIns="0" anchor="t">
            <a:spAutoFit/>
          </a:bodyPr>
          <a:lstStyle/>
          <a:p>
            <a:pPr algn="l">
              <a:lnSpc>
                <a:spcPct val="100000"/>
              </a:lnSpc>
            </a:pPr>
            <a:r>
              <a:rPr sz="850" b="1" i="0" spc="160">
                <a:solidFill>
                  <a:srgbClr val="556575"/>
                </a:solidFill>
                <a:latin typeface="Segoe UI"/>
              </a:rPr>
              <a:t>CẢM BIẾN · BIÊN · ĐÁM MÂY</a:t>
            </a:r>
          </a:p>
        </p:txBody>
      </p:sp>
      <p:sp>
        <p:nvSpPr>
          <p:cNvPr id="78" name="TextBox 77"/>
          <p:cNvSpPr txBox="1"/>
          <p:nvPr/>
        </p:nvSpPr>
        <p:spPr>
          <a:xfrm>
            <a:off x="2862072" y="4718304"/>
            <a:ext cx="2011680" cy="566928"/>
          </a:xfrm>
          <a:prstGeom prst="rect">
            <a:avLst/>
          </a:prstGeom>
          <a:noFill/>
        </p:spPr>
        <p:txBody>
          <a:bodyPr wrap="square" lIns="0" tIns="0" rIns="0" bIns="0" anchor="t">
            <a:spAutoFit/>
          </a:bodyPr>
          <a:lstStyle/>
          <a:p>
            <a:pPr algn="l">
              <a:lnSpc>
                <a:spcPct val="86000"/>
              </a:lnSpc>
            </a:pPr>
            <a:r>
              <a:rPr sz="4000" b="1" i="0">
                <a:solidFill>
                  <a:srgbClr val="007A45"/>
                </a:solidFill>
                <a:latin typeface="Segoe UI"/>
              </a:rPr>
              <a:t>15</a:t>
            </a:r>
          </a:p>
        </p:txBody>
      </p:sp>
      <p:sp>
        <p:nvSpPr>
          <p:cNvPr id="79" name="TextBox 78"/>
          <p:cNvSpPr txBox="1"/>
          <p:nvPr/>
        </p:nvSpPr>
        <p:spPr>
          <a:xfrm>
            <a:off x="2862072" y="5230368"/>
            <a:ext cx="2011680" cy="201168"/>
          </a:xfrm>
          <a:prstGeom prst="rect">
            <a:avLst/>
          </a:prstGeom>
          <a:noFill/>
        </p:spPr>
        <p:txBody>
          <a:bodyPr wrap="square" lIns="0" tIns="0" rIns="0" bIns="0" anchor="t">
            <a:spAutoFit/>
          </a:bodyPr>
          <a:lstStyle/>
          <a:p>
            <a:pPr algn="l">
              <a:lnSpc>
                <a:spcPct val="100000"/>
              </a:lnSpc>
            </a:pPr>
            <a:r>
              <a:rPr sz="950" b="0" i="0" spc="80">
                <a:solidFill>
                  <a:srgbClr val="6B7C90"/>
                </a:solidFill>
                <a:latin typeface="Consolas"/>
              </a:rPr>
              <a:t>giây</a:t>
            </a:r>
          </a:p>
        </p:txBody>
      </p:sp>
      <p:sp>
        <p:nvSpPr>
          <p:cNvPr id="80" name="TextBox 79"/>
          <p:cNvSpPr txBox="1"/>
          <p:nvPr/>
        </p:nvSpPr>
        <p:spPr>
          <a:xfrm>
            <a:off x="2862072" y="5449824"/>
            <a:ext cx="2011680" cy="201168"/>
          </a:xfrm>
          <a:prstGeom prst="rect">
            <a:avLst/>
          </a:prstGeom>
          <a:noFill/>
        </p:spPr>
        <p:txBody>
          <a:bodyPr wrap="square" lIns="0" tIns="0" rIns="0" bIns="0" anchor="t">
            <a:spAutoFit/>
          </a:bodyPr>
          <a:lstStyle/>
          <a:p>
            <a:pPr algn="l">
              <a:lnSpc>
                <a:spcPct val="100000"/>
              </a:lnSpc>
            </a:pPr>
            <a:r>
              <a:rPr sz="850" b="1" i="0" spc="160">
                <a:solidFill>
                  <a:srgbClr val="556575"/>
                </a:solidFill>
                <a:latin typeface="Segoe UI"/>
              </a:rPr>
              <a:t>CHU KỲ ĐO TELEMETRY</a:t>
            </a:r>
          </a:p>
        </p:txBody>
      </p:sp>
      <p:sp>
        <p:nvSpPr>
          <p:cNvPr id="81" name="TextBox 80"/>
          <p:cNvSpPr txBox="1"/>
          <p:nvPr/>
        </p:nvSpPr>
        <p:spPr>
          <a:xfrm>
            <a:off x="5010912" y="4718304"/>
            <a:ext cx="2011680" cy="566928"/>
          </a:xfrm>
          <a:prstGeom prst="rect">
            <a:avLst/>
          </a:prstGeom>
          <a:noFill/>
        </p:spPr>
        <p:txBody>
          <a:bodyPr wrap="square" lIns="0" tIns="0" rIns="0" bIns="0" anchor="t">
            <a:spAutoFit/>
          </a:bodyPr>
          <a:lstStyle/>
          <a:p>
            <a:pPr algn="l">
              <a:lnSpc>
                <a:spcPct val="86000"/>
              </a:lnSpc>
            </a:pPr>
            <a:r>
              <a:rPr sz="4000" b="1" i="0">
                <a:solidFill>
                  <a:srgbClr val="9A6200"/>
                </a:solidFill>
                <a:latin typeface="Segoe UI"/>
              </a:rPr>
              <a:t>2 GB</a:t>
            </a:r>
          </a:p>
        </p:txBody>
      </p:sp>
      <p:sp>
        <p:nvSpPr>
          <p:cNvPr id="82" name="TextBox 81"/>
          <p:cNvSpPr txBox="1"/>
          <p:nvPr/>
        </p:nvSpPr>
        <p:spPr>
          <a:xfrm>
            <a:off x="5010912" y="5230368"/>
            <a:ext cx="2011680" cy="201168"/>
          </a:xfrm>
          <a:prstGeom prst="rect">
            <a:avLst/>
          </a:prstGeom>
          <a:noFill/>
        </p:spPr>
        <p:txBody>
          <a:bodyPr wrap="square" lIns="0" tIns="0" rIns="0" bIns="0" anchor="t">
            <a:spAutoFit/>
          </a:bodyPr>
          <a:lstStyle/>
          <a:p>
            <a:pPr algn="l">
              <a:lnSpc>
                <a:spcPct val="100000"/>
              </a:lnSpc>
            </a:pPr>
            <a:r>
              <a:rPr sz="950" b="0" i="0" spc="80">
                <a:solidFill>
                  <a:srgbClr val="6B7C90"/>
                </a:solidFill>
                <a:latin typeface="Consolas"/>
              </a:rPr>
              <a:t>ram · 16 gb emmc</a:t>
            </a:r>
          </a:p>
        </p:txBody>
      </p:sp>
      <p:sp>
        <p:nvSpPr>
          <p:cNvPr id="83" name="TextBox 82"/>
          <p:cNvSpPr txBox="1"/>
          <p:nvPr/>
        </p:nvSpPr>
        <p:spPr>
          <a:xfrm>
            <a:off x="5010912" y="5449824"/>
            <a:ext cx="2011680" cy="201168"/>
          </a:xfrm>
          <a:prstGeom prst="rect">
            <a:avLst/>
          </a:prstGeom>
          <a:noFill/>
        </p:spPr>
        <p:txBody>
          <a:bodyPr wrap="square" lIns="0" tIns="0" rIns="0" bIns="0" anchor="t">
            <a:spAutoFit/>
          </a:bodyPr>
          <a:lstStyle/>
          <a:p>
            <a:pPr algn="l">
              <a:lnSpc>
                <a:spcPct val="100000"/>
              </a:lnSpc>
            </a:pPr>
            <a:r>
              <a:rPr sz="850" b="1" i="0" spc="160">
                <a:solidFill>
                  <a:srgbClr val="556575"/>
                </a:solidFill>
                <a:latin typeface="Segoe UI"/>
              </a:rPr>
              <a:t>ARDUINO UNO Q</a:t>
            </a:r>
          </a:p>
        </p:txBody>
      </p:sp>
      <p:sp>
        <p:nvSpPr>
          <p:cNvPr id="84" name="TextBox 83"/>
          <p:cNvSpPr txBox="1"/>
          <p:nvPr/>
        </p:nvSpPr>
        <p:spPr>
          <a:xfrm>
            <a:off x="8369503" y="1755648"/>
            <a:ext cx="3108960" cy="822960"/>
          </a:xfrm>
          <a:prstGeom prst="rect">
            <a:avLst/>
          </a:prstGeom>
          <a:noFill/>
        </p:spPr>
        <p:txBody>
          <a:bodyPr wrap="square" lIns="0" tIns="0" rIns="0" bIns="0" anchor="t">
            <a:spAutoFit/>
          </a:bodyPr>
          <a:lstStyle/>
          <a:p>
            <a:pPr algn="r">
              <a:lnSpc>
                <a:spcPct val="150000"/>
              </a:lnSpc>
            </a:pPr>
            <a:r>
              <a:rPr sz="1000" b="0" i="0" spc="80">
                <a:solidFill>
                  <a:srgbClr val="6B7C90"/>
                </a:solidFill>
                <a:latin typeface="Consolas"/>
              </a:rPr>
              <a:t>Hồ sơ dự thi</a:t>
            </a:r>
          </a:p>
          <a:p>
            <a:pPr algn="r">
              <a:lnSpc>
                <a:spcPct val="150000"/>
              </a:lnSpc>
            </a:pPr>
            <a:r>
              <a:rPr sz="1000" b="0" i="0" spc="80">
                <a:solidFill>
                  <a:srgbClr val="6B7C90"/>
                </a:solidFill>
                <a:latin typeface="Consolas"/>
              </a:rPr>
              <a:t>Bản 1.0</a:t>
            </a:r>
          </a:p>
        </p:txBody>
      </p:sp>
      <p:sp>
        <p:nvSpPr>
          <p:cNvPr id="85" name="Rectangle 84"/>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AIRCON / EDGE-AI / 2026 — hồ sơ dự thi Hack The Challenge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BỐI CẢNH</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02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Thuật toán comfort đã tốt — và đã tới trần của nó</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Aircon không điều khiển theo ngưỡng. Nó chạy mô hình adaptive comfort (ASHRAE RP-884). Bốn giới hạn còn lại đều cùng một gốc.</a:t>
            </a:r>
          </a:p>
        </p:txBody>
      </p:sp>
      <p:sp>
        <p:nvSpPr>
          <p:cNvPr id="7" name="Freeform 6"/>
          <p:cNvSpPr/>
          <p:nvPr/>
        </p:nvSpPr>
        <p:spPr>
          <a:xfrm>
            <a:off x="713232" y="2066543"/>
            <a:ext cx="2485567" cy="2395728"/>
          </a:xfrm>
          <a:custGeom>
            <a:avLst/>
            <a:gdLst/>
            <a:ahLst/>
            <a:cxnLst/>
            <a:rect l="l" t="t" r="r" b="b"/>
            <a:pathLst>
              <a:path w="2485567" h="2395728">
                <a:moveTo>
                  <a:pt x="118872" y="0"/>
                </a:moveTo>
                <a:lnTo>
                  <a:pt x="2485567" y="0"/>
                </a:lnTo>
                <a:lnTo>
                  <a:pt x="2485567" y="2276856"/>
                </a:lnTo>
                <a:lnTo>
                  <a:pt x="2366695" y="2395728"/>
                </a:lnTo>
                <a:lnTo>
                  <a:pt x="0" y="239572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2276856"/>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2304287"/>
            <a:ext cx="1955215"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GỐC CỦA CẢ BỐN</a:t>
            </a:r>
          </a:p>
        </p:txBody>
      </p:sp>
      <p:sp>
        <p:nvSpPr>
          <p:cNvPr id="10" name="TextBox 9"/>
          <p:cNvSpPr txBox="1"/>
          <p:nvPr/>
        </p:nvSpPr>
        <p:spPr>
          <a:xfrm>
            <a:off x="987552" y="2560320"/>
            <a:ext cx="1955215" cy="54864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Tính từ quá khứ, không từ tương lai</a:t>
            </a:r>
          </a:p>
        </p:txBody>
      </p:sp>
      <p:sp>
        <p:nvSpPr>
          <p:cNvPr id="11" name="TextBox 10"/>
          <p:cNvSpPr txBox="1"/>
          <p:nvPr/>
        </p:nvSpPr>
        <p:spPr>
          <a:xfrm>
            <a:off x="987552" y="3182111"/>
            <a:ext cx="1955215" cy="1078992"/>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T_rm là trung bình trượt của nhiệt độ ngoài trời ĐÃ QUA. Công thức cho ra nhiệt độ đặt đúng cho điều kiện ĐANG CÓ — nhưng phòng phản ứng chậm hơn công thức.</a:t>
            </a:r>
          </a:p>
        </p:txBody>
      </p:sp>
      <p:sp>
        <p:nvSpPr>
          <p:cNvPr id="12" name="Freeform 11"/>
          <p:cNvSpPr/>
          <p:nvPr/>
        </p:nvSpPr>
        <p:spPr>
          <a:xfrm>
            <a:off x="3473119" y="2066543"/>
            <a:ext cx="2485567" cy="2395728"/>
          </a:xfrm>
          <a:custGeom>
            <a:avLst/>
            <a:gdLst/>
            <a:ahLst/>
            <a:cxnLst/>
            <a:rect l="l" t="t" r="r" b="b"/>
            <a:pathLst>
              <a:path w="2485567" h="2395728">
                <a:moveTo>
                  <a:pt x="118872" y="0"/>
                </a:moveTo>
                <a:lnTo>
                  <a:pt x="2485567" y="0"/>
                </a:lnTo>
                <a:lnTo>
                  <a:pt x="2485567" y="2276856"/>
                </a:lnTo>
                <a:lnTo>
                  <a:pt x="2366695" y="2395728"/>
                </a:lnTo>
                <a:lnTo>
                  <a:pt x="0" y="239572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3119" y="2185415"/>
            <a:ext cx="32004" cy="2276856"/>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7439" y="2304287"/>
            <a:ext cx="1955215" cy="201168"/>
          </a:xfrm>
          <a:prstGeom prst="rect">
            <a:avLst/>
          </a:prstGeom>
          <a:noFill/>
        </p:spPr>
        <p:txBody>
          <a:bodyPr wrap="square" lIns="0" tIns="0" rIns="0" bIns="0" anchor="t">
            <a:spAutoFit/>
          </a:bodyPr>
          <a:lstStyle/>
          <a:p>
            <a:pPr algn="l">
              <a:lnSpc>
                <a:spcPct val="100000"/>
              </a:lnSpc>
            </a:pPr>
            <a:r>
              <a:rPr sz="800" b="1" i="0" spc="160">
                <a:solidFill>
                  <a:srgbClr val="9A6200"/>
                </a:solidFill>
                <a:latin typeface="Segoe UI"/>
              </a:rPr>
              <a:t>QUÁN TÍNH PHÒNG</a:t>
            </a:r>
          </a:p>
        </p:txBody>
      </p:sp>
      <p:sp>
        <p:nvSpPr>
          <p:cNvPr id="15" name="TextBox 14"/>
          <p:cNvSpPr txBox="1"/>
          <p:nvPr/>
        </p:nvSpPr>
        <p:spPr>
          <a:xfrm>
            <a:off x="3747439" y="2560320"/>
            <a:ext cx="1955215" cy="54864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Một công thức cho mọi phòng</a:t>
            </a:r>
          </a:p>
        </p:txBody>
      </p:sp>
      <p:sp>
        <p:nvSpPr>
          <p:cNvPr id="16" name="TextBox 15"/>
          <p:cNvSpPr txBox="1"/>
          <p:nvPr/>
        </p:nvSpPr>
        <p:spPr>
          <a:xfrm>
            <a:off x="3747439" y="3182111"/>
            <a:ext cx="1955215" cy="1078992"/>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Phòng 12 m² và phòng 40 m², tường gạch và vách kính, cùng nhận một nhiệt độ đặt. Hằng số hồi quy 0.31 / 17.8 không biết phòng nào đang nói chuyện với nó.</a:t>
            </a:r>
          </a:p>
        </p:txBody>
      </p:sp>
      <p:sp>
        <p:nvSpPr>
          <p:cNvPr id="17" name="Freeform 16"/>
          <p:cNvSpPr/>
          <p:nvPr/>
        </p:nvSpPr>
        <p:spPr>
          <a:xfrm>
            <a:off x="6233007" y="2066543"/>
            <a:ext cx="2485567" cy="2395728"/>
          </a:xfrm>
          <a:custGeom>
            <a:avLst/>
            <a:gdLst/>
            <a:ahLst/>
            <a:cxnLst/>
            <a:rect l="l" t="t" r="r" b="b"/>
            <a:pathLst>
              <a:path w="2485567" h="2395728">
                <a:moveTo>
                  <a:pt x="118872" y="0"/>
                </a:moveTo>
                <a:lnTo>
                  <a:pt x="2485567" y="0"/>
                </a:lnTo>
                <a:lnTo>
                  <a:pt x="2485567" y="2276856"/>
                </a:lnTo>
                <a:lnTo>
                  <a:pt x="2366695" y="2395728"/>
                </a:lnTo>
                <a:lnTo>
                  <a:pt x="0" y="239572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3007" y="2185415"/>
            <a:ext cx="32004" cy="2276856"/>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07327" y="2304287"/>
            <a:ext cx="1955215" cy="201168"/>
          </a:xfrm>
          <a:prstGeom prst="rect">
            <a:avLst/>
          </a:prstGeom>
          <a:noFill/>
        </p:spPr>
        <p:txBody>
          <a:bodyPr wrap="square" lIns="0" tIns="0" rIns="0" bIns="0" anchor="t">
            <a:spAutoFit/>
          </a:bodyPr>
          <a:lstStyle/>
          <a:p>
            <a:pPr algn="l">
              <a:lnSpc>
                <a:spcPct val="100000"/>
              </a:lnSpc>
            </a:pPr>
            <a:r>
              <a:rPr sz="800" b="1" i="0" spc="160">
                <a:solidFill>
                  <a:srgbClr val="9A6200"/>
                </a:solidFill>
                <a:latin typeface="Segoe UI"/>
              </a:rPr>
              <a:t>THÓI QUEN</a:t>
            </a:r>
          </a:p>
        </p:txBody>
      </p:sp>
      <p:sp>
        <p:nvSpPr>
          <p:cNvPr id="20" name="TextBox 19"/>
          <p:cNvSpPr txBox="1"/>
          <p:nvPr/>
        </p:nvSpPr>
        <p:spPr>
          <a:xfrm>
            <a:off x="6507327" y="2560320"/>
            <a:ext cx="1955215" cy="54864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Không biết khi nào có người</a:t>
            </a:r>
          </a:p>
        </p:txBody>
      </p:sp>
      <p:sp>
        <p:nvSpPr>
          <p:cNvPr id="21" name="TextBox 20"/>
          <p:cNvSpPr txBox="1"/>
          <p:nvPr/>
        </p:nvSpPr>
        <p:spPr>
          <a:xfrm>
            <a:off x="6507327" y="3182111"/>
            <a:ext cx="1955215" cy="1078992"/>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night_offset là một khung giờ cố định do người cấu hình đặt. Hệ thống không tự học được nhà này thường về lúc 18h30 hay 21h.</a:t>
            </a:r>
          </a:p>
        </p:txBody>
      </p:sp>
      <p:sp>
        <p:nvSpPr>
          <p:cNvPr id="22" name="Freeform 21"/>
          <p:cNvSpPr/>
          <p:nvPr/>
        </p:nvSpPr>
        <p:spPr>
          <a:xfrm>
            <a:off x="8992895" y="2066543"/>
            <a:ext cx="2485567" cy="2395728"/>
          </a:xfrm>
          <a:custGeom>
            <a:avLst/>
            <a:gdLst/>
            <a:ahLst/>
            <a:cxnLst/>
            <a:rect l="l" t="t" r="r" b="b"/>
            <a:pathLst>
              <a:path w="2485567" h="2395728">
                <a:moveTo>
                  <a:pt x="118872" y="0"/>
                </a:moveTo>
                <a:lnTo>
                  <a:pt x="2485567" y="0"/>
                </a:lnTo>
                <a:lnTo>
                  <a:pt x="2485567" y="2276856"/>
                </a:lnTo>
                <a:lnTo>
                  <a:pt x="2366695" y="2395728"/>
                </a:lnTo>
                <a:lnTo>
                  <a:pt x="0" y="239572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92895" y="2185415"/>
            <a:ext cx="32004" cy="2276856"/>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67215" y="2304287"/>
            <a:ext cx="1955215" cy="201168"/>
          </a:xfrm>
          <a:prstGeom prst="rect">
            <a:avLst/>
          </a:prstGeom>
          <a:noFill/>
        </p:spPr>
        <p:txBody>
          <a:bodyPr wrap="square" lIns="0" tIns="0" rIns="0" bIns="0" anchor="t">
            <a:spAutoFit/>
          </a:bodyPr>
          <a:lstStyle/>
          <a:p>
            <a:pPr algn="l">
              <a:lnSpc>
                <a:spcPct val="100000"/>
              </a:lnSpc>
            </a:pPr>
            <a:r>
              <a:rPr sz="800" b="1" i="0" spc="160">
                <a:solidFill>
                  <a:srgbClr val="C12727"/>
                </a:solidFill>
                <a:latin typeface="Segoe UI"/>
              </a:rPr>
              <a:t>SỨC KHOẺ MÁY</a:t>
            </a:r>
          </a:p>
        </p:txBody>
      </p:sp>
      <p:sp>
        <p:nvSpPr>
          <p:cNvPr id="25" name="TextBox 24"/>
          <p:cNvSpPr txBox="1"/>
          <p:nvPr/>
        </p:nvSpPr>
        <p:spPr>
          <a:xfrm>
            <a:off x="9267215" y="2560320"/>
            <a:ext cx="1955215"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Không thấy máy yếu đi</a:t>
            </a:r>
          </a:p>
        </p:txBody>
      </p:sp>
      <p:sp>
        <p:nvSpPr>
          <p:cNvPr id="26" name="TextBox 25"/>
          <p:cNvSpPr txBox="1"/>
          <p:nvPr/>
        </p:nvSpPr>
        <p:spPr>
          <a:xfrm>
            <a:off x="9267215" y="2907791"/>
            <a:ext cx="1955215" cy="1353312"/>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Lọc bẩn hay thiếu gas làm tốc độ hạ nhiệt giảm dần. Dữ liệu để phát hiện đã có sẵn trong lịch sử telemetry, chỉ là chưa ai đọc.</a:t>
            </a:r>
          </a:p>
        </p:txBody>
      </p:sp>
      <p:sp>
        <p:nvSpPr>
          <p:cNvPr id="27" name="Freeform 26"/>
          <p:cNvSpPr/>
          <p:nvPr/>
        </p:nvSpPr>
        <p:spPr>
          <a:xfrm>
            <a:off x="713232" y="4736592"/>
            <a:ext cx="10765231" cy="1170432"/>
          </a:xfrm>
          <a:custGeom>
            <a:avLst/>
            <a:gdLst/>
            <a:ahLst/>
            <a:cxnLst/>
            <a:rect l="l" t="t" r="r" b="b"/>
            <a:pathLst>
              <a:path w="10765231" h="1170432">
                <a:moveTo>
                  <a:pt x="118872" y="0"/>
                </a:moveTo>
                <a:lnTo>
                  <a:pt x="10765231" y="0"/>
                </a:lnTo>
                <a:lnTo>
                  <a:pt x="10765231" y="1051560"/>
                </a:lnTo>
                <a:lnTo>
                  <a:pt x="10646359" y="1170432"/>
                </a:lnTo>
                <a:lnTo>
                  <a:pt x="0" y="1170432"/>
                </a:lnTo>
                <a:lnTo>
                  <a:pt x="0" y="118872"/>
                </a:lnTo>
                <a:close/>
              </a:path>
            </a:pathLst>
          </a:custGeom>
          <a:solidFill>
            <a:srgbClr val="E7EDF9"/>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13232" y="4855464"/>
            <a:ext cx="32004" cy="1051560"/>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 y="4956048"/>
            <a:ext cx="45720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HƯỚNG ĐI</a:t>
            </a:r>
          </a:p>
        </p:txBody>
      </p:sp>
      <p:sp>
        <p:nvSpPr>
          <p:cNvPr id="30" name="TextBox 29"/>
          <p:cNvSpPr txBox="1"/>
          <p:nvPr/>
        </p:nvSpPr>
        <p:spPr>
          <a:xfrm>
            <a:off x="987552" y="5212079"/>
            <a:ext cx="10216591" cy="566928"/>
          </a:xfrm>
          <a:prstGeom prst="rect">
            <a:avLst/>
          </a:prstGeom>
          <a:noFill/>
        </p:spPr>
        <p:txBody>
          <a:bodyPr wrap="square" lIns="0" tIns="0" rIns="0" bIns="0" anchor="t">
            <a:spAutoFit/>
          </a:bodyPr>
          <a:lstStyle/>
          <a:p>
            <a:pPr algn="l">
              <a:lnSpc>
                <a:spcPct val="124000"/>
              </a:lnSpc>
            </a:pPr>
            <a:r>
              <a:rPr sz="1400" b="0" i="0">
                <a:solidFill>
                  <a:srgbClr val="111111"/>
                </a:solidFill>
                <a:latin typeface="Segoe UI"/>
              </a:rPr>
              <a:t>AI KHÔNG thay thế thuật toán comfort. Nó cấp cho công thức đã có một đầu vào mà công thức chưa từng có: điều kiện SẮP TỚI, và đặc tính nhiệt của CHÍNH phòng này.</a:t>
            </a:r>
          </a:p>
        </p:txBody>
      </p:sp>
      <p:sp>
        <p:nvSpPr>
          <p:cNvPr id="31" name="Rectangle 30"/>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02 — bốn giới hạn đều nằm ở đầu vào, không nằm ở công thức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HIỆN TRẠNG</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03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Những gì đã chạy được</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Nền tảng đã có sẵn: đo, truyền, điều khiển, hiển thị. Phần còn thiếu là bộ não.</a:t>
            </a:r>
          </a:p>
        </p:txBody>
      </p:sp>
      <p:sp>
        <p:nvSpPr>
          <p:cNvPr id="7" name="Freeform 6"/>
          <p:cNvSpPr/>
          <p:nvPr/>
        </p:nvSpPr>
        <p:spPr>
          <a:xfrm>
            <a:off x="713232" y="2066543"/>
            <a:ext cx="10765231" cy="512064"/>
          </a:xfrm>
          <a:custGeom>
            <a:avLst/>
            <a:gdLst/>
            <a:ahLst/>
            <a:cxnLst/>
            <a:rect l="l" t="t" r="r" b="b"/>
            <a:pathLst>
              <a:path w="10765231" h="512064">
                <a:moveTo>
                  <a:pt x="118872" y="0"/>
                </a:moveTo>
                <a:lnTo>
                  <a:pt x="10765231" y="0"/>
                </a:lnTo>
                <a:lnTo>
                  <a:pt x="10765231" y="393192"/>
                </a:lnTo>
                <a:lnTo>
                  <a:pt x="10646359" y="512064"/>
                </a:lnTo>
                <a:lnTo>
                  <a:pt x="0" y="51206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393192"/>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87552" y="2267712"/>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8" y="2157984"/>
            <a:ext cx="2286000" cy="201168"/>
          </a:xfrm>
          <a:prstGeom prst="rect">
            <a:avLst/>
          </a:prstGeom>
          <a:noFill/>
        </p:spPr>
        <p:txBody>
          <a:bodyPr wrap="square" lIns="0" tIns="0" rIns="0" bIns="0" anchor="t">
            <a:spAutoFit/>
          </a:bodyPr>
          <a:lstStyle/>
          <a:p>
            <a:pPr algn="l">
              <a:lnSpc>
                <a:spcPct val="100000"/>
              </a:lnSpc>
            </a:pPr>
            <a:r>
              <a:rPr sz="1050" b="1" i="0" spc="80">
                <a:solidFill>
                  <a:srgbClr val="111111"/>
                </a:solidFill>
                <a:latin typeface="Segoe UI"/>
              </a:rPr>
              <a:t>NODE TRONG NHÀ</a:t>
            </a:r>
          </a:p>
        </p:txBody>
      </p:sp>
      <p:sp>
        <p:nvSpPr>
          <p:cNvPr id="11" name="TextBox 10"/>
          <p:cNvSpPr txBox="1"/>
          <p:nvPr/>
        </p:nvSpPr>
        <p:spPr>
          <a:xfrm>
            <a:off x="1207008" y="2359151"/>
            <a:ext cx="2468880" cy="164592"/>
          </a:xfrm>
          <a:prstGeom prst="rect">
            <a:avLst/>
          </a:prstGeom>
          <a:noFill/>
        </p:spPr>
        <p:txBody>
          <a:bodyPr wrap="square" lIns="0" tIns="0" rIns="0" bIns="0" anchor="t">
            <a:spAutoFit/>
          </a:bodyPr>
          <a:lstStyle/>
          <a:p>
            <a:pPr algn="l">
              <a:lnSpc>
                <a:spcPct val="100000"/>
              </a:lnSpc>
            </a:pPr>
            <a:r>
              <a:rPr sz="800" b="0" i="0">
                <a:solidFill>
                  <a:srgbClr val="6B7C90"/>
                </a:solidFill>
                <a:latin typeface="Consolas"/>
              </a:rPr>
              <a:t>ESP32-WROOM-32E · QR Box Advance</a:t>
            </a:r>
          </a:p>
        </p:txBody>
      </p:sp>
      <p:sp>
        <p:nvSpPr>
          <p:cNvPr id="12" name="TextBox 11"/>
          <p:cNvSpPr txBox="1"/>
          <p:nvPr/>
        </p:nvSpPr>
        <p:spPr>
          <a:xfrm>
            <a:off x="3776472" y="2194560"/>
            <a:ext cx="7336231" cy="310896"/>
          </a:xfrm>
          <a:prstGeom prst="rect">
            <a:avLst/>
          </a:prstGeom>
          <a:noFill/>
        </p:spPr>
        <p:txBody>
          <a:bodyPr wrap="square" lIns="0" tIns="0" rIns="0" bIns="0" anchor="t">
            <a:spAutoFit/>
          </a:bodyPr>
          <a:lstStyle/>
          <a:p>
            <a:pPr algn="l">
              <a:lnSpc>
                <a:spcPct val="114000"/>
              </a:lnSpc>
            </a:pPr>
            <a:r>
              <a:rPr sz="1000" b="0" i="0">
                <a:solidFill>
                  <a:srgbClr val="556575"/>
                </a:solidFill>
                <a:latin typeface="Segoe UI"/>
              </a:rPr>
              <a:t>Gộp BỐN vai trò trên một bo: đo SHT3x qua I²C · phát hồng ngoại GPIO17 · chủ ESP-NOW · màn cảm ứng 2.8" LVGL tiếng Việt.</a:t>
            </a:r>
          </a:p>
        </p:txBody>
      </p:sp>
      <p:sp>
        <p:nvSpPr>
          <p:cNvPr id="13" name="Freeform 12"/>
          <p:cNvSpPr/>
          <p:nvPr/>
        </p:nvSpPr>
        <p:spPr>
          <a:xfrm>
            <a:off x="713232" y="2660903"/>
            <a:ext cx="10765231" cy="512064"/>
          </a:xfrm>
          <a:custGeom>
            <a:avLst/>
            <a:gdLst/>
            <a:ahLst/>
            <a:cxnLst/>
            <a:rect l="l" t="t" r="r" b="b"/>
            <a:pathLst>
              <a:path w="10765231" h="512064">
                <a:moveTo>
                  <a:pt x="118872" y="0"/>
                </a:moveTo>
                <a:lnTo>
                  <a:pt x="10765231" y="0"/>
                </a:lnTo>
                <a:lnTo>
                  <a:pt x="10765231" y="393192"/>
                </a:lnTo>
                <a:lnTo>
                  <a:pt x="10646359" y="512064"/>
                </a:lnTo>
                <a:lnTo>
                  <a:pt x="0" y="51206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13232" y="2779775"/>
            <a:ext cx="32004" cy="393192"/>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87552" y="2862072"/>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07008" y="2752344"/>
            <a:ext cx="2286000" cy="201168"/>
          </a:xfrm>
          <a:prstGeom prst="rect">
            <a:avLst/>
          </a:prstGeom>
          <a:noFill/>
        </p:spPr>
        <p:txBody>
          <a:bodyPr wrap="square" lIns="0" tIns="0" rIns="0" bIns="0" anchor="t">
            <a:spAutoFit/>
          </a:bodyPr>
          <a:lstStyle/>
          <a:p>
            <a:pPr algn="l">
              <a:lnSpc>
                <a:spcPct val="100000"/>
              </a:lnSpc>
            </a:pPr>
            <a:r>
              <a:rPr sz="1050" b="1" i="0" spc="80">
                <a:solidFill>
                  <a:srgbClr val="111111"/>
                </a:solidFill>
                <a:latin typeface="Segoe UI"/>
              </a:rPr>
              <a:t>NODE NGOÀI TRỜI</a:t>
            </a:r>
          </a:p>
        </p:txBody>
      </p:sp>
      <p:sp>
        <p:nvSpPr>
          <p:cNvPr id="17" name="TextBox 16"/>
          <p:cNvSpPr txBox="1"/>
          <p:nvPr/>
        </p:nvSpPr>
        <p:spPr>
          <a:xfrm>
            <a:off x="1207008" y="2953511"/>
            <a:ext cx="2468880" cy="164592"/>
          </a:xfrm>
          <a:prstGeom prst="rect">
            <a:avLst/>
          </a:prstGeom>
          <a:noFill/>
        </p:spPr>
        <p:txBody>
          <a:bodyPr wrap="square" lIns="0" tIns="0" rIns="0" bIns="0" anchor="t">
            <a:spAutoFit/>
          </a:bodyPr>
          <a:lstStyle/>
          <a:p>
            <a:pPr algn="l">
              <a:lnSpc>
                <a:spcPct val="100000"/>
              </a:lnSpc>
            </a:pPr>
            <a:r>
              <a:rPr sz="800" b="0" i="0">
                <a:solidFill>
                  <a:srgbClr val="6B7C90"/>
                </a:solidFill>
                <a:latin typeface="Consolas"/>
              </a:rPr>
              <a:t>ESP32 DevKit V1 · DHT22 · ESP-NOW</a:t>
            </a:r>
          </a:p>
        </p:txBody>
      </p:sp>
      <p:sp>
        <p:nvSpPr>
          <p:cNvPr id="18" name="TextBox 17"/>
          <p:cNvSpPr txBox="1"/>
          <p:nvPr/>
        </p:nvSpPr>
        <p:spPr>
          <a:xfrm>
            <a:off x="3776472" y="2788920"/>
            <a:ext cx="7336231" cy="310896"/>
          </a:xfrm>
          <a:prstGeom prst="rect">
            <a:avLst/>
          </a:prstGeom>
          <a:noFill/>
        </p:spPr>
        <p:txBody>
          <a:bodyPr wrap="square" lIns="0" tIns="0" rIns="0" bIns="0" anchor="t">
            <a:spAutoFit/>
          </a:bodyPr>
          <a:lstStyle/>
          <a:p>
            <a:pPr algn="l">
              <a:lnSpc>
                <a:spcPct val="114000"/>
              </a:lnSpc>
            </a:pPr>
            <a:r>
              <a:rPr sz="1000" b="0" i="0">
                <a:solidFill>
                  <a:srgbClr val="556575"/>
                </a:solidFill>
                <a:latin typeface="Segoe UI"/>
              </a:rPr>
              <a:t>Đo nhiệt độ/độ ẩm ngoài trời. Chạy env ESP-NOW: không đăng nhập WiFi, chỉ quét để bám đúng kênh của router.</a:t>
            </a:r>
          </a:p>
        </p:txBody>
      </p:sp>
      <p:sp>
        <p:nvSpPr>
          <p:cNvPr id="19" name="Freeform 18"/>
          <p:cNvSpPr/>
          <p:nvPr/>
        </p:nvSpPr>
        <p:spPr>
          <a:xfrm>
            <a:off x="713232" y="3255263"/>
            <a:ext cx="10765231" cy="512064"/>
          </a:xfrm>
          <a:custGeom>
            <a:avLst/>
            <a:gdLst/>
            <a:ahLst/>
            <a:cxnLst/>
            <a:rect l="l" t="t" r="r" b="b"/>
            <a:pathLst>
              <a:path w="10765231" h="512064">
                <a:moveTo>
                  <a:pt x="118872" y="0"/>
                </a:moveTo>
                <a:lnTo>
                  <a:pt x="10765231" y="0"/>
                </a:lnTo>
                <a:lnTo>
                  <a:pt x="10765231" y="393192"/>
                </a:lnTo>
                <a:lnTo>
                  <a:pt x="10646359" y="512064"/>
                </a:lnTo>
                <a:lnTo>
                  <a:pt x="0" y="51206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13232" y="3374135"/>
            <a:ext cx="32004" cy="393192"/>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87552" y="3456432"/>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07008" y="3346703"/>
            <a:ext cx="2286000" cy="201168"/>
          </a:xfrm>
          <a:prstGeom prst="rect">
            <a:avLst/>
          </a:prstGeom>
          <a:noFill/>
        </p:spPr>
        <p:txBody>
          <a:bodyPr wrap="square" lIns="0" tIns="0" rIns="0" bIns="0" anchor="t">
            <a:spAutoFit/>
          </a:bodyPr>
          <a:lstStyle/>
          <a:p>
            <a:pPr algn="l">
              <a:lnSpc>
                <a:spcPct val="100000"/>
              </a:lnSpc>
            </a:pPr>
            <a:r>
              <a:rPr sz="1050" b="1" i="0" spc="80">
                <a:solidFill>
                  <a:srgbClr val="111111"/>
                </a:solidFill>
                <a:latin typeface="Segoe UI"/>
              </a:rPr>
              <a:t>TRUYỀN TIN</a:t>
            </a:r>
          </a:p>
        </p:txBody>
      </p:sp>
      <p:sp>
        <p:nvSpPr>
          <p:cNvPr id="23" name="TextBox 22"/>
          <p:cNvSpPr txBox="1"/>
          <p:nvPr/>
        </p:nvSpPr>
        <p:spPr>
          <a:xfrm>
            <a:off x="1207008" y="3547871"/>
            <a:ext cx="2468880" cy="164592"/>
          </a:xfrm>
          <a:prstGeom prst="rect">
            <a:avLst/>
          </a:prstGeom>
          <a:noFill/>
        </p:spPr>
        <p:txBody>
          <a:bodyPr wrap="square" lIns="0" tIns="0" rIns="0" bIns="0" anchor="t">
            <a:spAutoFit/>
          </a:bodyPr>
          <a:lstStyle/>
          <a:p>
            <a:pPr algn="l">
              <a:lnSpc>
                <a:spcPct val="100000"/>
              </a:lnSpc>
            </a:pPr>
            <a:r>
              <a:rPr sz="800" b="0" i="0">
                <a:solidFill>
                  <a:srgbClr val="6B7C90"/>
                </a:solidFill>
                <a:latin typeface="Consolas"/>
              </a:rPr>
              <a:t>EMQX · MQTT · bl/{org}/{device_uuid}/{kind}</a:t>
            </a:r>
          </a:p>
        </p:txBody>
      </p:sp>
      <p:sp>
        <p:nvSpPr>
          <p:cNvPr id="24" name="TextBox 23"/>
          <p:cNvSpPr txBox="1"/>
          <p:nvPr/>
        </p:nvSpPr>
        <p:spPr>
          <a:xfrm>
            <a:off x="3776472" y="3383279"/>
            <a:ext cx="7336231" cy="310896"/>
          </a:xfrm>
          <a:prstGeom prst="rect">
            <a:avLst/>
          </a:prstGeom>
          <a:noFill/>
        </p:spPr>
        <p:txBody>
          <a:bodyPr wrap="square" lIns="0" tIns="0" rIns="0" bIns="0" anchor="t">
            <a:spAutoFit/>
          </a:bodyPr>
          <a:lstStyle/>
          <a:p>
            <a:pPr algn="l">
              <a:lnSpc>
                <a:spcPct val="114000"/>
              </a:lnSpc>
            </a:pPr>
            <a:r>
              <a:rPr sz="1000" b="0" i="0">
                <a:solidFill>
                  <a:srgbClr val="556575"/>
                </a:solidFill>
                <a:latin typeface="Segoe UI"/>
              </a:rPr>
              <a:t>Chủ đề định danh THEO TỪNG THIẾT BỊ — đã đổi xong ở Phase 1, chính là thứ cho phép N node cùng tồn tại trong một nhà.</a:t>
            </a:r>
          </a:p>
        </p:txBody>
      </p:sp>
      <p:sp>
        <p:nvSpPr>
          <p:cNvPr id="25" name="Freeform 24"/>
          <p:cNvSpPr/>
          <p:nvPr/>
        </p:nvSpPr>
        <p:spPr>
          <a:xfrm>
            <a:off x="713232" y="3849624"/>
            <a:ext cx="10765231" cy="512064"/>
          </a:xfrm>
          <a:custGeom>
            <a:avLst/>
            <a:gdLst/>
            <a:ahLst/>
            <a:cxnLst/>
            <a:rect l="l" t="t" r="r" b="b"/>
            <a:pathLst>
              <a:path w="10765231" h="512064">
                <a:moveTo>
                  <a:pt x="118872" y="0"/>
                </a:moveTo>
                <a:lnTo>
                  <a:pt x="10765231" y="0"/>
                </a:lnTo>
                <a:lnTo>
                  <a:pt x="10765231" y="393192"/>
                </a:lnTo>
                <a:lnTo>
                  <a:pt x="10646359" y="512064"/>
                </a:lnTo>
                <a:lnTo>
                  <a:pt x="0" y="51206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13232" y="3968496"/>
            <a:ext cx="32004" cy="393192"/>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87552" y="4050791"/>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07008" y="3941063"/>
            <a:ext cx="2286000" cy="201168"/>
          </a:xfrm>
          <a:prstGeom prst="rect">
            <a:avLst/>
          </a:prstGeom>
          <a:noFill/>
        </p:spPr>
        <p:txBody>
          <a:bodyPr wrap="square" lIns="0" tIns="0" rIns="0" bIns="0" anchor="t">
            <a:spAutoFit/>
          </a:bodyPr>
          <a:lstStyle/>
          <a:p>
            <a:pPr algn="l">
              <a:lnSpc>
                <a:spcPct val="100000"/>
              </a:lnSpc>
            </a:pPr>
            <a:r>
              <a:rPr sz="1050" b="1" i="0" spc="80">
                <a:solidFill>
                  <a:srgbClr val="111111"/>
                </a:solidFill>
                <a:latin typeface="Segoe UI"/>
              </a:rPr>
              <a:t>API + WORKER</a:t>
            </a:r>
          </a:p>
        </p:txBody>
      </p:sp>
      <p:sp>
        <p:nvSpPr>
          <p:cNvPr id="29" name="TextBox 28"/>
          <p:cNvSpPr txBox="1"/>
          <p:nvPr/>
        </p:nvSpPr>
        <p:spPr>
          <a:xfrm>
            <a:off x="1207008" y="4142232"/>
            <a:ext cx="2468880" cy="164592"/>
          </a:xfrm>
          <a:prstGeom prst="rect">
            <a:avLst/>
          </a:prstGeom>
          <a:noFill/>
        </p:spPr>
        <p:txBody>
          <a:bodyPr wrap="square" lIns="0" tIns="0" rIns="0" bIns="0" anchor="t">
            <a:spAutoFit/>
          </a:bodyPr>
          <a:lstStyle/>
          <a:p>
            <a:pPr algn="l">
              <a:lnSpc>
                <a:spcPct val="100000"/>
              </a:lnSpc>
            </a:pPr>
            <a:r>
              <a:rPr sz="800" b="0" i="0">
                <a:solidFill>
                  <a:srgbClr val="6B7C90"/>
                </a:solidFill>
                <a:latin typeface="Consolas"/>
              </a:rPr>
              <a:t>FastAPI · PostgreSQL 15 · Redis 7</a:t>
            </a:r>
          </a:p>
        </p:txBody>
      </p:sp>
      <p:sp>
        <p:nvSpPr>
          <p:cNvPr id="30" name="TextBox 29"/>
          <p:cNvSpPr txBox="1"/>
          <p:nvPr/>
        </p:nvSpPr>
        <p:spPr>
          <a:xfrm>
            <a:off x="3776472" y="3977639"/>
            <a:ext cx="7336231" cy="310896"/>
          </a:xfrm>
          <a:prstGeom prst="rect">
            <a:avLst/>
          </a:prstGeom>
          <a:noFill/>
        </p:spPr>
        <p:txBody>
          <a:bodyPr wrap="square" lIns="0" tIns="0" rIns="0" bIns="0" anchor="t">
            <a:spAutoFit/>
          </a:bodyPr>
          <a:lstStyle/>
          <a:p>
            <a:pPr algn="l">
              <a:lnSpc>
                <a:spcPct val="114000"/>
              </a:lnSpc>
            </a:pPr>
            <a:r>
              <a:rPr sz="1000" b="0" i="0">
                <a:solidFill>
                  <a:srgbClr val="556575"/>
                </a:solidFill>
                <a:latin typeface="Segoe UI"/>
              </a:rPr>
              <a:t>Worker chạy thuật toán comfort ra nhiệt độ đặt. Một tầng nghiệp vụ duy nhất phục vụ cả web lẫn app nên số liệu không trôi lệch.</a:t>
            </a:r>
          </a:p>
        </p:txBody>
      </p:sp>
      <p:sp>
        <p:nvSpPr>
          <p:cNvPr id="31" name="Freeform 30"/>
          <p:cNvSpPr/>
          <p:nvPr/>
        </p:nvSpPr>
        <p:spPr>
          <a:xfrm>
            <a:off x="713232" y="4443983"/>
            <a:ext cx="10765231" cy="512064"/>
          </a:xfrm>
          <a:custGeom>
            <a:avLst/>
            <a:gdLst/>
            <a:ahLst/>
            <a:cxnLst/>
            <a:rect l="l" t="t" r="r" b="b"/>
            <a:pathLst>
              <a:path w="10765231" h="512064">
                <a:moveTo>
                  <a:pt x="118872" y="0"/>
                </a:moveTo>
                <a:lnTo>
                  <a:pt x="10765231" y="0"/>
                </a:lnTo>
                <a:lnTo>
                  <a:pt x="10765231" y="393192"/>
                </a:lnTo>
                <a:lnTo>
                  <a:pt x="10646359" y="512064"/>
                </a:lnTo>
                <a:lnTo>
                  <a:pt x="0" y="51206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13232" y="4562855"/>
            <a:ext cx="32004" cy="393192"/>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87552" y="4645151"/>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207008" y="4535423"/>
            <a:ext cx="2286000" cy="201168"/>
          </a:xfrm>
          <a:prstGeom prst="rect">
            <a:avLst/>
          </a:prstGeom>
          <a:noFill/>
        </p:spPr>
        <p:txBody>
          <a:bodyPr wrap="square" lIns="0" tIns="0" rIns="0" bIns="0" anchor="t">
            <a:spAutoFit/>
          </a:bodyPr>
          <a:lstStyle/>
          <a:p>
            <a:pPr algn="l">
              <a:lnSpc>
                <a:spcPct val="100000"/>
              </a:lnSpc>
            </a:pPr>
            <a:r>
              <a:rPr sz="1050" b="1" i="0" spc="80">
                <a:solidFill>
                  <a:srgbClr val="111111"/>
                </a:solidFill>
                <a:latin typeface="Segoe UI"/>
              </a:rPr>
              <a:t>HAI GIAO DIỆN</a:t>
            </a:r>
          </a:p>
        </p:txBody>
      </p:sp>
      <p:sp>
        <p:nvSpPr>
          <p:cNvPr id="35" name="TextBox 34"/>
          <p:cNvSpPr txBox="1"/>
          <p:nvPr/>
        </p:nvSpPr>
        <p:spPr>
          <a:xfrm>
            <a:off x="1207008" y="4736592"/>
            <a:ext cx="2468880" cy="164592"/>
          </a:xfrm>
          <a:prstGeom prst="rect">
            <a:avLst/>
          </a:prstGeom>
          <a:noFill/>
        </p:spPr>
        <p:txBody>
          <a:bodyPr wrap="square" lIns="0" tIns="0" rIns="0" bIns="0" anchor="t">
            <a:spAutoFit/>
          </a:bodyPr>
          <a:lstStyle/>
          <a:p>
            <a:pPr algn="l">
              <a:lnSpc>
                <a:spcPct val="100000"/>
              </a:lnSpc>
            </a:pPr>
            <a:r>
              <a:rPr sz="800" b="0" i="0">
                <a:solidFill>
                  <a:srgbClr val="6B7C90"/>
                </a:solidFill>
                <a:latin typeface="Consolas"/>
              </a:rPr>
              <a:t>Web quản trị (SSR) · App Flutter</a:t>
            </a:r>
          </a:p>
        </p:txBody>
      </p:sp>
      <p:sp>
        <p:nvSpPr>
          <p:cNvPr id="36" name="TextBox 35"/>
          <p:cNvSpPr txBox="1"/>
          <p:nvPr/>
        </p:nvSpPr>
        <p:spPr>
          <a:xfrm>
            <a:off x="3776472" y="4571999"/>
            <a:ext cx="7336231" cy="310896"/>
          </a:xfrm>
          <a:prstGeom prst="rect">
            <a:avLst/>
          </a:prstGeom>
          <a:noFill/>
        </p:spPr>
        <p:txBody>
          <a:bodyPr wrap="square" lIns="0" tIns="0" rIns="0" bIns="0" anchor="t">
            <a:spAutoFit/>
          </a:bodyPr>
          <a:lstStyle/>
          <a:p>
            <a:pPr algn="l">
              <a:lnSpc>
                <a:spcPct val="114000"/>
              </a:lnSpc>
            </a:pPr>
            <a:r>
              <a:rPr sz="1000" b="0" i="0">
                <a:solidFill>
                  <a:srgbClr val="556575"/>
                </a:solidFill>
                <a:latin typeface="Segoe UI"/>
              </a:rPr>
              <a:t>Nhà quản trị: fleet view, cấu hình thuật toán từng khách, phát hành OTA. Khách hàng: kích hoạt bằng mã, số đo trực tiếp, điều khiển, học mã IR.</a:t>
            </a:r>
          </a:p>
        </p:txBody>
      </p:sp>
      <p:sp>
        <p:nvSpPr>
          <p:cNvPr id="37" name="Freeform 36"/>
          <p:cNvSpPr/>
          <p:nvPr/>
        </p:nvSpPr>
        <p:spPr>
          <a:xfrm>
            <a:off x="713232" y="5148072"/>
            <a:ext cx="10765231" cy="749808"/>
          </a:xfrm>
          <a:custGeom>
            <a:avLst/>
            <a:gdLst/>
            <a:ahLst/>
            <a:cxnLst/>
            <a:rect l="l" t="t" r="r" b="b"/>
            <a:pathLst>
              <a:path w="10765231" h="749808">
                <a:moveTo>
                  <a:pt x="118872" y="0"/>
                </a:moveTo>
                <a:lnTo>
                  <a:pt x="10765231" y="0"/>
                </a:lnTo>
                <a:lnTo>
                  <a:pt x="10765231" y="630936"/>
                </a:lnTo>
                <a:lnTo>
                  <a:pt x="10646359" y="749808"/>
                </a:lnTo>
                <a:lnTo>
                  <a:pt x="0" y="749808"/>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13232" y="5266944"/>
            <a:ext cx="32004" cy="630936"/>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05840" y="5257800"/>
            <a:ext cx="68580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BẢN CHẠY THỬ TẠI NHÀ — SỐ ĐO THẬT, ĐỌC LÚC 29/07/2026 10:34</a:t>
            </a:r>
          </a:p>
        </p:txBody>
      </p:sp>
      <p:sp>
        <p:nvSpPr>
          <p:cNvPr id="40" name="TextBox 39"/>
          <p:cNvSpPr txBox="1"/>
          <p:nvPr/>
        </p:nvSpPr>
        <p:spPr>
          <a:xfrm>
            <a:off x="1005840" y="5449824"/>
            <a:ext cx="2103120" cy="237744"/>
          </a:xfrm>
          <a:prstGeom prst="rect">
            <a:avLst/>
          </a:prstGeom>
          <a:noFill/>
        </p:spPr>
        <p:txBody>
          <a:bodyPr wrap="square" lIns="0" tIns="0" rIns="0" bIns="0" anchor="t">
            <a:spAutoFit/>
          </a:bodyPr>
          <a:lstStyle/>
          <a:p>
            <a:pPr algn="l">
              <a:lnSpc>
                <a:spcPct val="100000"/>
              </a:lnSpc>
            </a:pPr>
            <a:r>
              <a:rPr sz="1400" b="1" i="0">
                <a:solidFill>
                  <a:srgbClr val="111111"/>
                </a:solidFill>
                <a:latin typeface="Segoe UI"/>
              </a:rPr>
              <a:t>15 s</a:t>
            </a:r>
          </a:p>
        </p:txBody>
      </p:sp>
      <p:sp>
        <p:nvSpPr>
          <p:cNvPr id="41" name="TextBox 40"/>
          <p:cNvSpPr txBox="1"/>
          <p:nvPr/>
        </p:nvSpPr>
        <p:spPr>
          <a:xfrm>
            <a:off x="1005840" y="5669280"/>
            <a:ext cx="2103120" cy="164592"/>
          </a:xfrm>
          <a:prstGeom prst="rect">
            <a:avLst/>
          </a:prstGeom>
          <a:noFill/>
        </p:spPr>
        <p:txBody>
          <a:bodyPr wrap="square" lIns="0" tIns="0" rIns="0" bIns="0" anchor="t">
            <a:spAutoFit/>
          </a:bodyPr>
          <a:lstStyle/>
          <a:p>
            <a:pPr algn="l">
              <a:lnSpc>
                <a:spcPct val="100000"/>
              </a:lnSpc>
            </a:pPr>
            <a:r>
              <a:rPr sz="800" b="0" i="0">
                <a:solidFill>
                  <a:srgbClr val="556575"/>
                </a:solidFill>
                <a:latin typeface="Segoe UI"/>
              </a:rPr>
              <a:t>một mẫu telemetry</a:t>
            </a:r>
          </a:p>
        </p:txBody>
      </p:sp>
      <p:sp>
        <p:nvSpPr>
          <p:cNvPr id="42" name="TextBox 41"/>
          <p:cNvSpPr txBox="1"/>
          <p:nvPr/>
        </p:nvSpPr>
        <p:spPr>
          <a:xfrm>
            <a:off x="3108960" y="5449824"/>
            <a:ext cx="2103120" cy="237744"/>
          </a:xfrm>
          <a:prstGeom prst="rect">
            <a:avLst/>
          </a:prstGeom>
          <a:noFill/>
        </p:spPr>
        <p:txBody>
          <a:bodyPr wrap="square" lIns="0" tIns="0" rIns="0" bIns="0" anchor="t">
            <a:spAutoFit/>
          </a:bodyPr>
          <a:lstStyle/>
          <a:p>
            <a:pPr algn="l">
              <a:lnSpc>
                <a:spcPct val="100000"/>
              </a:lnSpc>
            </a:pPr>
            <a:r>
              <a:rPr sz="1400" b="1" i="0">
                <a:solidFill>
                  <a:srgbClr val="111111"/>
                </a:solidFill>
                <a:latin typeface="Segoe UI"/>
              </a:rPr>
              <a:t>120</a:t>
            </a:r>
          </a:p>
        </p:txBody>
      </p:sp>
      <p:sp>
        <p:nvSpPr>
          <p:cNvPr id="43" name="TextBox 42"/>
          <p:cNvSpPr txBox="1"/>
          <p:nvPr/>
        </p:nvSpPr>
        <p:spPr>
          <a:xfrm>
            <a:off x="3108960" y="5669280"/>
            <a:ext cx="2103120" cy="164592"/>
          </a:xfrm>
          <a:prstGeom prst="rect">
            <a:avLst/>
          </a:prstGeom>
          <a:noFill/>
        </p:spPr>
        <p:txBody>
          <a:bodyPr wrap="square" lIns="0" tIns="0" rIns="0" bIns="0" anchor="t">
            <a:spAutoFit/>
          </a:bodyPr>
          <a:lstStyle/>
          <a:p>
            <a:pPr algn="l">
              <a:lnSpc>
                <a:spcPct val="100000"/>
              </a:lnSpc>
            </a:pPr>
            <a:r>
              <a:rPr sz="800" b="0" i="0">
                <a:solidFill>
                  <a:srgbClr val="556575"/>
                </a:solidFill>
                <a:latin typeface="Segoe UI"/>
              </a:rPr>
              <a:t>mẫu liên tục</a:t>
            </a:r>
          </a:p>
        </p:txBody>
      </p:sp>
      <p:sp>
        <p:nvSpPr>
          <p:cNvPr id="44" name="TextBox 43"/>
          <p:cNvSpPr txBox="1"/>
          <p:nvPr/>
        </p:nvSpPr>
        <p:spPr>
          <a:xfrm>
            <a:off x="5212079" y="5449824"/>
            <a:ext cx="2103120" cy="237744"/>
          </a:xfrm>
          <a:prstGeom prst="rect">
            <a:avLst/>
          </a:prstGeom>
          <a:noFill/>
        </p:spPr>
        <p:txBody>
          <a:bodyPr wrap="square" lIns="0" tIns="0" rIns="0" bIns="0" anchor="t">
            <a:spAutoFit/>
          </a:bodyPr>
          <a:lstStyle/>
          <a:p>
            <a:pPr algn="l">
              <a:lnSpc>
                <a:spcPct val="100000"/>
              </a:lnSpc>
            </a:pPr>
            <a:r>
              <a:rPr sz="1400" b="1" i="0">
                <a:solidFill>
                  <a:srgbClr val="111111"/>
                </a:solidFill>
                <a:latin typeface="Segoe UI"/>
              </a:rPr>
              <a:t>24,3–25,6 °C</a:t>
            </a:r>
          </a:p>
        </p:txBody>
      </p:sp>
      <p:sp>
        <p:nvSpPr>
          <p:cNvPr id="45" name="TextBox 44"/>
          <p:cNvSpPr txBox="1"/>
          <p:nvPr/>
        </p:nvSpPr>
        <p:spPr>
          <a:xfrm>
            <a:off x="5212079" y="5669280"/>
            <a:ext cx="2103120" cy="164592"/>
          </a:xfrm>
          <a:prstGeom prst="rect">
            <a:avLst/>
          </a:prstGeom>
          <a:noFill/>
        </p:spPr>
        <p:txBody>
          <a:bodyPr wrap="square" lIns="0" tIns="0" rIns="0" bIns="0" anchor="t">
            <a:spAutoFit/>
          </a:bodyPr>
          <a:lstStyle/>
          <a:p>
            <a:pPr algn="l">
              <a:lnSpc>
                <a:spcPct val="100000"/>
              </a:lnSpc>
            </a:pPr>
            <a:r>
              <a:rPr sz="800" b="0" i="0">
                <a:solidFill>
                  <a:srgbClr val="556575"/>
                </a:solidFill>
                <a:latin typeface="Segoe UI"/>
              </a:rPr>
              <a:t>biên độ đo được</a:t>
            </a:r>
          </a:p>
        </p:txBody>
      </p:sp>
      <p:sp>
        <p:nvSpPr>
          <p:cNvPr id="46" name="TextBox 45"/>
          <p:cNvSpPr txBox="1"/>
          <p:nvPr/>
        </p:nvSpPr>
        <p:spPr>
          <a:xfrm>
            <a:off x="7315199" y="5449824"/>
            <a:ext cx="2103120" cy="237744"/>
          </a:xfrm>
          <a:prstGeom prst="rect">
            <a:avLst/>
          </a:prstGeom>
          <a:noFill/>
        </p:spPr>
        <p:txBody>
          <a:bodyPr wrap="square" lIns="0" tIns="0" rIns="0" bIns="0" anchor="t">
            <a:spAutoFit/>
          </a:bodyPr>
          <a:lstStyle/>
          <a:p>
            <a:pPr algn="l">
              <a:lnSpc>
                <a:spcPct val="100000"/>
              </a:lnSpc>
            </a:pPr>
            <a:r>
              <a:rPr sz="1400" b="1" i="0">
                <a:solidFill>
                  <a:srgbClr val="111111"/>
                </a:solidFill>
                <a:latin typeface="Segoe UI"/>
              </a:rPr>
              <a:t>48,7–56,8 %</a:t>
            </a:r>
          </a:p>
        </p:txBody>
      </p:sp>
      <p:sp>
        <p:nvSpPr>
          <p:cNvPr id="47" name="TextBox 46"/>
          <p:cNvSpPr txBox="1"/>
          <p:nvPr/>
        </p:nvSpPr>
        <p:spPr>
          <a:xfrm>
            <a:off x="7315199" y="5669280"/>
            <a:ext cx="2103120" cy="164592"/>
          </a:xfrm>
          <a:prstGeom prst="rect">
            <a:avLst/>
          </a:prstGeom>
          <a:noFill/>
        </p:spPr>
        <p:txBody>
          <a:bodyPr wrap="square" lIns="0" tIns="0" rIns="0" bIns="0" anchor="t">
            <a:spAutoFit/>
          </a:bodyPr>
          <a:lstStyle/>
          <a:p>
            <a:pPr algn="l">
              <a:lnSpc>
                <a:spcPct val="100000"/>
              </a:lnSpc>
            </a:pPr>
            <a:r>
              <a:rPr sz="800" b="0" i="0">
                <a:solidFill>
                  <a:srgbClr val="556575"/>
                </a:solidFill>
                <a:latin typeface="Segoe UI"/>
              </a:rPr>
              <a:t>độ ẩm</a:t>
            </a:r>
          </a:p>
        </p:txBody>
      </p:sp>
      <p:sp>
        <p:nvSpPr>
          <p:cNvPr id="48" name="TextBox 47"/>
          <p:cNvSpPr txBox="1"/>
          <p:nvPr/>
        </p:nvSpPr>
        <p:spPr>
          <a:xfrm>
            <a:off x="9418319" y="5449824"/>
            <a:ext cx="2103120" cy="237744"/>
          </a:xfrm>
          <a:prstGeom prst="rect">
            <a:avLst/>
          </a:prstGeom>
          <a:noFill/>
        </p:spPr>
        <p:txBody>
          <a:bodyPr wrap="square" lIns="0" tIns="0" rIns="0" bIns="0" anchor="t">
            <a:spAutoFit/>
          </a:bodyPr>
          <a:lstStyle/>
          <a:p>
            <a:pPr algn="l">
              <a:lnSpc>
                <a:spcPct val="100000"/>
              </a:lnSpc>
            </a:pPr>
            <a:r>
              <a:rPr sz="1400" b="1" i="0">
                <a:solidFill>
                  <a:srgbClr val="111111"/>
                </a:solidFill>
                <a:latin typeface="Segoe UI"/>
              </a:rPr>
              <a:t>ESP-NOW</a:t>
            </a:r>
          </a:p>
        </p:txBody>
      </p:sp>
      <p:sp>
        <p:nvSpPr>
          <p:cNvPr id="49" name="TextBox 48"/>
          <p:cNvSpPr txBox="1"/>
          <p:nvPr/>
        </p:nvSpPr>
        <p:spPr>
          <a:xfrm>
            <a:off x="9418319" y="5669280"/>
            <a:ext cx="2103120" cy="164592"/>
          </a:xfrm>
          <a:prstGeom prst="rect">
            <a:avLst/>
          </a:prstGeom>
          <a:noFill/>
        </p:spPr>
        <p:txBody>
          <a:bodyPr wrap="square" lIns="0" tIns="0" rIns="0" bIns="0" anchor="t">
            <a:spAutoFit/>
          </a:bodyPr>
          <a:lstStyle/>
          <a:p>
            <a:pPr algn="l">
              <a:lnSpc>
                <a:spcPct val="100000"/>
              </a:lnSpc>
            </a:pPr>
            <a:r>
              <a:rPr sz="800" b="0" i="0">
                <a:solidFill>
                  <a:srgbClr val="556575"/>
                </a:solidFill>
                <a:latin typeface="Segoe UI"/>
              </a:rPr>
              <a:t>ngoài trời → trong nhà</a:t>
            </a:r>
          </a:p>
        </p:txBody>
      </p:sp>
      <p:sp>
        <p:nvSpPr>
          <p:cNvPr id="50" name="Rectangle 49"/>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03 — không phải ý tưởng trên giấy: bản chạy thử đã đo và điều khiển thật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THỊ TRƯỜNG</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04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Thị trường này đã có người</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Bốn bên đang bán. Nói thẳng từng bên làm gì — rồi mới nói mình khác ở đâu.</a:t>
            </a:r>
          </a:p>
        </p:txBody>
      </p:sp>
      <p:sp>
        <p:nvSpPr>
          <p:cNvPr id="7" name="TextBox 6"/>
          <p:cNvSpPr txBox="1"/>
          <p:nvPr/>
        </p:nvSpPr>
        <p:spPr>
          <a:xfrm>
            <a:off x="987552" y="2066543"/>
            <a:ext cx="2743200" cy="201168"/>
          </a:xfrm>
          <a:prstGeom prst="rect">
            <a:avLst/>
          </a:prstGeom>
          <a:noFill/>
        </p:spPr>
        <p:txBody>
          <a:bodyPr wrap="square" lIns="0" tIns="0" rIns="0" bIns="0" anchor="t">
            <a:spAutoFit/>
          </a:bodyPr>
          <a:lstStyle/>
          <a:p>
            <a:pPr algn="l">
              <a:lnSpc>
                <a:spcPct val="100000"/>
              </a:lnSpc>
            </a:pPr>
            <a:r>
              <a:rPr sz="800" b="1" i="0" spc="160">
                <a:solidFill>
                  <a:srgbClr val="6B7C90"/>
                </a:solidFill>
                <a:latin typeface="Segoe UI"/>
              </a:rPr>
              <a:t>ĐỐI THỦ</a:t>
            </a:r>
          </a:p>
        </p:txBody>
      </p:sp>
      <p:sp>
        <p:nvSpPr>
          <p:cNvPr id="8" name="TextBox 7"/>
          <p:cNvSpPr txBox="1"/>
          <p:nvPr/>
        </p:nvSpPr>
        <p:spPr>
          <a:xfrm>
            <a:off x="3547872" y="2066543"/>
            <a:ext cx="4023360" cy="201168"/>
          </a:xfrm>
          <a:prstGeom prst="rect">
            <a:avLst/>
          </a:prstGeom>
          <a:noFill/>
        </p:spPr>
        <p:txBody>
          <a:bodyPr wrap="square" lIns="0" tIns="0" rIns="0" bIns="0" anchor="t">
            <a:spAutoFit/>
          </a:bodyPr>
          <a:lstStyle/>
          <a:p>
            <a:pPr algn="l">
              <a:lnSpc>
                <a:spcPct val="100000"/>
              </a:lnSpc>
            </a:pPr>
            <a:r>
              <a:rPr sz="800" b="1" i="0" spc="160">
                <a:solidFill>
                  <a:srgbClr val="6B7C90"/>
                </a:solidFill>
                <a:latin typeface="Segoe UI"/>
              </a:rPr>
              <a:t>HỌ ĐANG BÁN GÌ</a:t>
            </a:r>
          </a:p>
        </p:txBody>
      </p:sp>
      <p:sp>
        <p:nvSpPr>
          <p:cNvPr id="9" name="TextBox 8"/>
          <p:cNvSpPr txBox="1"/>
          <p:nvPr/>
        </p:nvSpPr>
        <p:spPr>
          <a:xfrm>
            <a:off x="7936992" y="2066543"/>
            <a:ext cx="36576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CHỖ HỌ BỎ TRỐNG</a:t>
            </a:r>
          </a:p>
        </p:txBody>
      </p:sp>
      <p:sp>
        <p:nvSpPr>
          <p:cNvPr id="10" name="Rectangle 9"/>
          <p:cNvSpPr/>
          <p:nvPr/>
        </p:nvSpPr>
        <p:spPr>
          <a:xfrm>
            <a:off x="713232" y="2304287"/>
            <a:ext cx="10765231" cy="548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3232" y="2395727"/>
            <a:ext cx="10765231" cy="694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2487168"/>
            <a:ext cx="2377440" cy="219456"/>
          </a:xfrm>
          <a:prstGeom prst="rect">
            <a:avLst/>
          </a:prstGeom>
          <a:noFill/>
        </p:spPr>
        <p:txBody>
          <a:bodyPr wrap="square" lIns="0" tIns="0" rIns="0" bIns="0" anchor="t">
            <a:spAutoFit/>
          </a:bodyPr>
          <a:lstStyle/>
          <a:p>
            <a:pPr algn="l">
              <a:lnSpc>
                <a:spcPct val="100000"/>
              </a:lnSpc>
            </a:pPr>
            <a:r>
              <a:rPr sz="1150" b="1" i="0">
                <a:solidFill>
                  <a:srgbClr val="111111"/>
                </a:solidFill>
                <a:latin typeface="Segoe UI"/>
              </a:rPr>
              <a:t>BenKon</a:t>
            </a:r>
          </a:p>
        </p:txBody>
      </p:sp>
      <p:sp>
        <p:nvSpPr>
          <p:cNvPr id="13" name="TextBox 12"/>
          <p:cNvSpPr txBox="1"/>
          <p:nvPr/>
        </p:nvSpPr>
        <p:spPr>
          <a:xfrm>
            <a:off x="987552" y="2724911"/>
            <a:ext cx="2377440" cy="201168"/>
          </a:xfrm>
          <a:prstGeom prst="rect">
            <a:avLst/>
          </a:prstGeom>
          <a:noFill/>
        </p:spPr>
        <p:txBody>
          <a:bodyPr wrap="square" lIns="0" tIns="0" rIns="0" bIns="0" anchor="t">
            <a:spAutoFit/>
          </a:bodyPr>
          <a:lstStyle/>
          <a:p>
            <a:pPr algn="l">
              <a:lnSpc>
                <a:spcPct val="100000"/>
              </a:lnSpc>
            </a:pPr>
            <a:r>
              <a:rPr sz="750" b="1" i="0" spc="160">
                <a:solidFill>
                  <a:srgbClr val="6B7C90"/>
                </a:solidFill>
                <a:latin typeface="Segoe UI"/>
              </a:rPr>
              <a:t>VIỆT NAM · B2B</a:t>
            </a:r>
          </a:p>
        </p:txBody>
      </p:sp>
      <p:sp>
        <p:nvSpPr>
          <p:cNvPr id="14" name="TextBox 13"/>
          <p:cNvSpPr txBox="1"/>
          <p:nvPr/>
        </p:nvSpPr>
        <p:spPr>
          <a:xfrm>
            <a:off x="3547872" y="2487168"/>
            <a:ext cx="4114800" cy="566928"/>
          </a:xfrm>
          <a:prstGeom prst="rect">
            <a:avLst/>
          </a:prstGeom>
          <a:noFill/>
        </p:spPr>
        <p:txBody>
          <a:bodyPr wrap="square" lIns="0" tIns="0" rIns="0" bIns="0" anchor="t">
            <a:spAutoFit/>
          </a:bodyPr>
          <a:lstStyle/>
          <a:p>
            <a:pPr algn="l">
              <a:lnSpc>
                <a:spcPct val="118000"/>
              </a:lnSpc>
            </a:pPr>
            <a:r>
              <a:rPr sz="950" b="0" i="0">
                <a:solidFill>
                  <a:srgbClr val="556575"/>
                </a:solidFill>
                <a:latin typeface="Segoe UI"/>
              </a:rPr>
              <a:t>500+ cửa hàng · "AC Lock" khoá máy theo lịch + giám sát · từ 3 tr/máy · cam kết 10–20 % · có bằng sáng chế · gọi vốn 500 k USD</a:t>
            </a:r>
          </a:p>
        </p:txBody>
      </p:sp>
      <p:sp>
        <p:nvSpPr>
          <p:cNvPr id="15" name="Rectangle 14"/>
          <p:cNvSpPr/>
          <p:nvPr/>
        </p:nvSpPr>
        <p:spPr>
          <a:xfrm>
            <a:off x="7717536" y="2560320"/>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36992" y="2487168"/>
            <a:ext cx="3267151" cy="566928"/>
          </a:xfrm>
          <a:prstGeom prst="rect">
            <a:avLst/>
          </a:prstGeom>
          <a:noFill/>
        </p:spPr>
        <p:txBody>
          <a:bodyPr wrap="square" lIns="0" tIns="0" rIns="0" bIns="0" anchor="t">
            <a:spAutoFit/>
          </a:bodyPr>
          <a:lstStyle/>
          <a:p>
            <a:pPr algn="l">
              <a:lnSpc>
                <a:spcPct val="118000"/>
              </a:lnSpc>
            </a:pPr>
            <a:r>
              <a:rPr sz="950" b="0" i="0">
                <a:solidFill>
                  <a:srgbClr val="0044CC"/>
                </a:solidFill>
                <a:latin typeface="Segoe UI"/>
              </a:rPr>
              <a:t>CHỈ doanh nghiệp — không nhắm hộ gia đình. Cơ chế là khoá theo lịch, không tính nhiệt độ dễ chịu. Trang chủ không nêu AI.</a:t>
            </a:r>
          </a:p>
        </p:txBody>
      </p:sp>
      <p:sp>
        <p:nvSpPr>
          <p:cNvPr id="17" name="TextBox 16"/>
          <p:cNvSpPr txBox="1"/>
          <p:nvPr/>
        </p:nvSpPr>
        <p:spPr>
          <a:xfrm>
            <a:off x="987552" y="3236975"/>
            <a:ext cx="2377440" cy="219456"/>
          </a:xfrm>
          <a:prstGeom prst="rect">
            <a:avLst/>
          </a:prstGeom>
          <a:noFill/>
        </p:spPr>
        <p:txBody>
          <a:bodyPr wrap="square" lIns="0" tIns="0" rIns="0" bIns="0" anchor="t">
            <a:spAutoFit/>
          </a:bodyPr>
          <a:lstStyle/>
          <a:p>
            <a:pPr algn="l">
              <a:lnSpc>
                <a:spcPct val="100000"/>
              </a:lnSpc>
            </a:pPr>
            <a:r>
              <a:rPr sz="1150" b="1" i="0">
                <a:solidFill>
                  <a:srgbClr val="111111"/>
                </a:solidFill>
                <a:latin typeface="Segoe UI"/>
              </a:rPr>
              <a:t>Ambi Climate</a:t>
            </a:r>
          </a:p>
        </p:txBody>
      </p:sp>
      <p:sp>
        <p:nvSpPr>
          <p:cNvPr id="18" name="TextBox 17"/>
          <p:cNvSpPr txBox="1"/>
          <p:nvPr/>
        </p:nvSpPr>
        <p:spPr>
          <a:xfrm>
            <a:off x="987552" y="3474720"/>
            <a:ext cx="2377440" cy="201168"/>
          </a:xfrm>
          <a:prstGeom prst="rect">
            <a:avLst/>
          </a:prstGeom>
          <a:noFill/>
        </p:spPr>
        <p:txBody>
          <a:bodyPr wrap="square" lIns="0" tIns="0" rIns="0" bIns="0" anchor="t">
            <a:spAutoFit/>
          </a:bodyPr>
          <a:lstStyle/>
          <a:p>
            <a:pPr algn="l">
              <a:lnSpc>
                <a:spcPct val="100000"/>
              </a:lnSpc>
            </a:pPr>
            <a:r>
              <a:rPr sz="750" b="1" i="0" spc="160">
                <a:solidFill>
                  <a:srgbClr val="6B7C90"/>
                </a:solidFill>
                <a:latin typeface="Segoe UI"/>
              </a:rPr>
              <a:t>~129 USD</a:t>
            </a:r>
          </a:p>
        </p:txBody>
      </p:sp>
      <p:sp>
        <p:nvSpPr>
          <p:cNvPr id="19" name="TextBox 18"/>
          <p:cNvSpPr txBox="1"/>
          <p:nvPr/>
        </p:nvSpPr>
        <p:spPr>
          <a:xfrm>
            <a:off x="3547872" y="3236975"/>
            <a:ext cx="4114800" cy="566928"/>
          </a:xfrm>
          <a:prstGeom prst="rect">
            <a:avLst/>
          </a:prstGeom>
          <a:noFill/>
        </p:spPr>
        <p:txBody>
          <a:bodyPr wrap="square" lIns="0" tIns="0" rIns="0" bIns="0" anchor="t">
            <a:spAutoFit/>
          </a:bodyPr>
          <a:lstStyle/>
          <a:p>
            <a:pPr algn="l">
              <a:lnSpc>
                <a:spcPct val="118000"/>
              </a:lnSpc>
            </a:pPr>
            <a:r>
              <a:rPr sz="950" b="0" i="0">
                <a:solidFill>
                  <a:srgbClr val="556575"/>
                </a:solidFill>
                <a:latin typeface="Segoe UI"/>
              </a:rPr>
              <a:t>Bên DUY NHẤT thật sự làm AI tiện nghi — học sở thích qua phản hồi thích / không thích của người dùng</a:t>
            </a:r>
          </a:p>
        </p:txBody>
      </p:sp>
      <p:sp>
        <p:nvSpPr>
          <p:cNvPr id="20" name="Rectangle 19"/>
          <p:cNvSpPr/>
          <p:nvPr/>
        </p:nvSpPr>
        <p:spPr>
          <a:xfrm>
            <a:off x="7717536" y="3310127"/>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36992" y="3236975"/>
            <a:ext cx="3267151" cy="566928"/>
          </a:xfrm>
          <a:prstGeom prst="rect">
            <a:avLst/>
          </a:prstGeom>
          <a:noFill/>
        </p:spPr>
        <p:txBody>
          <a:bodyPr wrap="square" lIns="0" tIns="0" rIns="0" bIns="0" anchor="t">
            <a:spAutoFit/>
          </a:bodyPr>
          <a:lstStyle/>
          <a:p>
            <a:pPr algn="l">
              <a:lnSpc>
                <a:spcPct val="118000"/>
              </a:lnSpc>
            </a:pPr>
            <a:r>
              <a:rPr sz="950" b="0" i="0">
                <a:solidFill>
                  <a:srgbClr val="0044CC"/>
                </a:solidFill>
                <a:latin typeface="Segoe UI"/>
              </a:rPr>
              <a:t>KHÔNG có cảm biến ngoài trời — lấy số từ API thời tiết. Khách mới mua thì máy chưa biết gì, phải dạy.</a:t>
            </a:r>
          </a:p>
        </p:txBody>
      </p:sp>
      <p:sp>
        <p:nvSpPr>
          <p:cNvPr id="22" name="Rectangle 21"/>
          <p:cNvSpPr/>
          <p:nvPr/>
        </p:nvSpPr>
        <p:spPr>
          <a:xfrm>
            <a:off x="713232" y="3895344"/>
            <a:ext cx="10765231" cy="694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7552" y="3986783"/>
            <a:ext cx="2377440" cy="219456"/>
          </a:xfrm>
          <a:prstGeom prst="rect">
            <a:avLst/>
          </a:prstGeom>
          <a:noFill/>
        </p:spPr>
        <p:txBody>
          <a:bodyPr wrap="square" lIns="0" tIns="0" rIns="0" bIns="0" anchor="t">
            <a:spAutoFit/>
          </a:bodyPr>
          <a:lstStyle/>
          <a:p>
            <a:pPr algn="l">
              <a:lnSpc>
                <a:spcPct val="100000"/>
              </a:lnSpc>
            </a:pPr>
            <a:r>
              <a:rPr sz="1150" b="1" i="0">
                <a:solidFill>
                  <a:srgbClr val="111111"/>
                </a:solidFill>
                <a:latin typeface="Segoe UI"/>
              </a:rPr>
              <a:t>Sensibo</a:t>
            </a:r>
          </a:p>
        </p:txBody>
      </p:sp>
      <p:sp>
        <p:nvSpPr>
          <p:cNvPr id="24" name="TextBox 23"/>
          <p:cNvSpPr txBox="1"/>
          <p:nvPr/>
        </p:nvSpPr>
        <p:spPr>
          <a:xfrm>
            <a:off x="987552" y="4224527"/>
            <a:ext cx="2377440" cy="201168"/>
          </a:xfrm>
          <a:prstGeom prst="rect">
            <a:avLst/>
          </a:prstGeom>
          <a:noFill/>
        </p:spPr>
        <p:txBody>
          <a:bodyPr wrap="square" lIns="0" tIns="0" rIns="0" bIns="0" anchor="t">
            <a:spAutoFit/>
          </a:bodyPr>
          <a:lstStyle/>
          <a:p>
            <a:pPr algn="l">
              <a:lnSpc>
                <a:spcPct val="100000"/>
              </a:lnSpc>
            </a:pPr>
            <a:r>
              <a:rPr sz="750" b="1" i="0" spc="160">
                <a:solidFill>
                  <a:srgbClr val="6B7C90"/>
                </a:solidFill>
                <a:latin typeface="Segoe UI"/>
              </a:rPr>
              <a:t>SKY / AIR PRO</a:t>
            </a:r>
          </a:p>
        </p:txBody>
      </p:sp>
      <p:sp>
        <p:nvSpPr>
          <p:cNvPr id="25" name="TextBox 24"/>
          <p:cNvSpPr txBox="1"/>
          <p:nvPr/>
        </p:nvSpPr>
        <p:spPr>
          <a:xfrm>
            <a:off x="3547872" y="3986783"/>
            <a:ext cx="4114800" cy="566928"/>
          </a:xfrm>
          <a:prstGeom prst="rect">
            <a:avLst/>
          </a:prstGeom>
          <a:noFill/>
        </p:spPr>
        <p:txBody>
          <a:bodyPr wrap="square" lIns="0" tIns="0" rIns="0" bIns="0" anchor="t">
            <a:spAutoFit/>
          </a:bodyPr>
          <a:lstStyle/>
          <a:p>
            <a:pPr algn="l">
              <a:lnSpc>
                <a:spcPct val="118000"/>
              </a:lnSpc>
            </a:pPr>
            <a:r>
              <a:rPr sz="950" b="0" i="0">
                <a:solidFill>
                  <a:srgbClr val="556575"/>
                </a:solidFill>
                <a:latin typeface="Segoe UI"/>
              </a:rPr>
              <a:t>Climate React + đo chất lượng không khí (TVOC, CO₂) trên bản Air Pro</a:t>
            </a:r>
          </a:p>
        </p:txBody>
      </p:sp>
      <p:sp>
        <p:nvSpPr>
          <p:cNvPr id="26" name="Rectangle 25"/>
          <p:cNvSpPr/>
          <p:nvPr/>
        </p:nvSpPr>
        <p:spPr>
          <a:xfrm>
            <a:off x="7717536" y="4059935"/>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36992" y="3986783"/>
            <a:ext cx="3267151" cy="566928"/>
          </a:xfrm>
          <a:prstGeom prst="rect">
            <a:avLst/>
          </a:prstGeom>
          <a:noFill/>
        </p:spPr>
        <p:txBody>
          <a:bodyPr wrap="square" lIns="0" tIns="0" rIns="0" bIns="0" anchor="t">
            <a:spAutoFit/>
          </a:bodyPr>
          <a:lstStyle/>
          <a:p>
            <a:pPr algn="l">
              <a:lnSpc>
                <a:spcPct val="118000"/>
              </a:lnSpc>
            </a:pPr>
            <a:r>
              <a:rPr sz="950" b="0" i="0">
                <a:solidFill>
                  <a:srgbClr val="0044CC"/>
                </a:solidFill>
                <a:latin typeface="Segoe UI"/>
              </a:rPr>
              <a:t>Climate React chỉ là luật ngưỡng nếu–thì. Geofencing và lịch sử dữ liệu phải TRẢ THUÊ BAO.</a:t>
            </a:r>
          </a:p>
        </p:txBody>
      </p:sp>
      <p:sp>
        <p:nvSpPr>
          <p:cNvPr id="28" name="TextBox 27"/>
          <p:cNvSpPr txBox="1"/>
          <p:nvPr/>
        </p:nvSpPr>
        <p:spPr>
          <a:xfrm>
            <a:off x="987552" y="4736592"/>
            <a:ext cx="2377440" cy="219456"/>
          </a:xfrm>
          <a:prstGeom prst="rect">
            <a:avLst/>
          </a:prstGeom>
          <a:noFill/>
        </p:spPr>
        <p:txBody>
          <a:bodyPr wrap="square" lIns="0" tIns="0" rIns="0" bIns="0" anchor="t">
            <a:spAutoFit/>
          </a:bodyPr>
          <a:lstStyle/>
          <a:p>
            <a:pPr algn="l">
              <a:lnSpc>
                <a:spcPct val="100000"/>
              </a:lnSpc>
            </a:pPr>
            <a:r>
              <a:rPr sz="1150" b="1" i="0">
                <a:solidFill>
                  <a:srgbClr val="111111"/>
                </a:solidFill>
                <a:latin typeface="Segoe UI"/>
              </a:rPr>
              <a:t>Cielo Breez</a:t>
            </a:r>
          </a:p>
        </p:txBody>
      </p:sp>
      <p:sp>
        <p:nvSpPr>
          <p:cNvPr id="29" name="TextBox 28"/>
          <p:cNvSpPr txBox="1"/>
          <p:nvPr/>
        </p:nvSpPr>
        <p:spPr>
          <a:xfrm>
            <a:off x="987552" y="4974336"/>
            <a:ext cx="2377440" cy="201168"/>
          </a:xfrm>
          <a:prstGeom prst="rect">
            <a:avLst/>
          </a:prstGeom>
          <a:noFill/>
        </p:spPr>
        <p:txBody>
          <a:bodyPr wrap="square" lIns="0" tIns="0" rIns="0" bIns="0" anchor="t">
            <a:spAutoFit/>
          </a:bodyPr>
          <a:lstStyle/>
          <a:p>
            <a:pPr algn="l">
              <a:lnSpc>
                <a:spcPct val="100000"/>
              </a:lnSpc>
            </a:pPr>
            <a:r>
              <a:rPr sz="750" b="1" i="0" spc="160">
                <a:solidFill>
                  <a:srgbClr val="6B7C90"/>
                </a:solidFill>
                <a:latin typeface="Segoe UI"/>
              </a:rPr>
              <a:t>~130 USD</a:t>
            </a:r>
          </a:p>
        </p:txBody>
      </p:sp>
      <p:sp>
        <p:nvSpPr>
          <p:cNvPr id="30" name="TextBox 29"/>
          <p:cNvSpPr txBox="1"/>
          <p:nvPr/>
        </p:nvSpPr>
        <p:spPr>
          <a:xfrm>
            <a:off x="3547872" y="4736592"/>
            <a:ext cx="4114800" cy="566928"/>
          </a:xfrm>
          <a:prstGeom prst="rect">
            <a:avLst/>
          </a:prstGeom>
          <a:noFill/>
        </p:spPr>
        <p:txBody>
          <a:bodyPr wrap="square" lIns="0" tIns="0" rIns="0" bIns="0" anchor="t">
            <a:spAutoFit/>
          </a:bodyPr>
          <a:lstStyle/>
          <a:p>
            <a:pPr algn="l">
              <a:lnSpc>
                <a:spcPct val="118000"/>
              </a:lnSpc>
            </a:pPr>
            <a:r>
              <a:rPr sz="950" b="0" i="0">
                <a:solidFill>
                  <a:srgbClr val="556575"/>
                </a:solidFill>
                <a:latin typeface="Segoe UI"/>
              </a:rPr>
              <a:t>Có nút bấm trên thiết bị · không thu phí tháng · quản lý 20 khu vực</a:t>
            </a:r>
          </a:p>
        </p:txBody>
      </p:sp>
      <p:sp>
        <p:nvSpPr>
          <p:cNvPr id="31" name="Rectangle 30"/>
          <p:cNvSpPr/>
          <p:nvPr/>
        </p:nvSpPr>
        <p:spPr>
          <a:xfrm>
            <a:off x="7717536" y="4809744"/>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936992" y="4736592"/>
            <a:ext cx="3267151" cy="566928"/>
          </a:xfrm>
          <a:prstGeom prst="rect">
            <a:avLst/>
          </a:prstGeom>
          <a:noFill/>
        </p:spPr>
        <p:txBody>
          <a:bodyPr wrap="square" lIns="0" tIns="0" rIns="0" bIns="0" anchor="t">
            <a:spAutoFit/>
          </a:bodyPr>
          <a:lstStyle/>
          <a:p>
            <a:pPr algn="l">
              <a:lnSpc>
                <a:spcPct val="118000"/>
              </a:lnSpc>
            </a:pPr>
            <a:r>
              <a:rPr sz="950" b="0" i="0">
                <a:solidFill>
                  <a:srgbClr val="0044CC"/>
                </a:solidFill>
                <a:latin typeface="Segoe UI"/>
              </a:rPr>
              <a:t>Không có mô hình tiện nghi nào. Cũng không có cảm biến ngoài trời.</a:t>
            </a:r>
          </a:p>
        </p:txBody>
      </p:sp>
      <p:sp>
        <p:nvSpPr>
          <p:cNvPr id="33" name="Freeform 32"/>
          <p:cNvSpPr/>
          <p:nvPr/>
        </p:nvSpPr>
        <p:spPr>
          <a:xfrm>
            <a:off x="713232" y="5376672"/>
            <a:ext cx="10765231" cy="786384"/>
          </a:xfrm>
          <a:custGeom>
            <a:avLst/>
            <a:gdLst/>
            <a:ahLst/>
            <a:cxnLst/>
            <a:rect l="l" t="t" r="r" b="b"/>
            <a:pathLst>
              <a:path w="10765231" h="786384">
                <a:moveTo>
                  <a:pt x="118872" y="0"/>
                </a:moveTo>
                <a:lnTo>
                  <a:pt x="10765231" y="0"/>
                </a:lnTo>
                <a:lnTo>
                  <a:pt x="10765231" y="667512"/>
                </a:lnTo>
                <a:lnTo>
                  <a:pt x="10646359" y="786384"/>
                </a:lnTo>
                <a:lnTo>
                  <a:pt x="0" y="786384"/>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13232" y="5495544"/>
            <a:ext cx="32004" cy="667512"/>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05840" y="5596127"/>
            <a:ext cx="10180015" cy="402336"/>
          </a:xfrm>
          <a:prstGeom prst="rect">
            <a:avLst/>
          </a:prstGeom>
          <a:noFill/>
        </p:spPr>
        <p:txBody>
          <a:bodyPr wrap="square" lIns="0" tIns="0" rIns="0" bIns="0" anchor="t">
            <a:spAutoFit/>
          </a:bodyPr>
          <a:lstStyle/>
          <a:p>
            <a:pPr algn="l">
              <a:lnSpc>
                <a:spcPct val="120000"/>
              </a:lnSpc>
            </a:pPr>
            <a:r>
              <a:rPr sz="1250" b="1" i="0">
                <a:solidFill>
                  <a:srgbClr val="0044CC"/>
                </a:solidFill>
                <a:latin typeface="Segoe UI"/>
              </a:rPr>
              <a:t>Cả ba bên quốc tế đều TRA API THỜI TIẾT cho nhiệt độ ngoài trời — không bên nào đặt một cảm biến thật tại công trình.</a:t>
            </a:r>
          </a:p>
        </p:txBody>
      </p:sp>
      <p:sp>
        <p:nvSpPr>
          <p:cNvPr id="36" name="Rectangle 35"/>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04 — nguồn: trang chủ và báo chí công khai của từng bên · docs/dinh-vi-canh-tranh.md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ĐỊNH VỊ</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05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Ba thứ mình có mà thị trường không có</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Điểm thứ nhất là điểm đối thủ KHÔNG vá được bằng phần mềm — vì họ thiếu phần cứng.</a:t>
            </a:r>
          </a:p>
        </p:txBody>
      </p:sp>
      <p:sp>
        <p:nvSpPr>
          <p:cNvPr id="7" name="Freeform 6"/>
          <p:cNvSpPr/>
          <p:nvPr/>
        </p:nvSpPr>
        <p:spPr>
          <a:xfrm>
            <a:off x="713232" y="2066543"/>
            <a:ext cx="3405530" cy="2249424"/>
          </a:xfrm>
          <a:custGeom>
            <a:avLst/>
            <a:gdLst/>
            <a:ahLst/>
            <a:cxnLst/>
            <a:rect l="l" t="t" r="r" b="b"/>
            <a:pathLst>
              <a:path w="3405530" h="2249424">
                <a:moveTo>
                  <a:pt x="118872" y="0"/>
                </a:moveTo>
                <a:lnTo>
                  <a:pt x="3405530" y="0"/>
                </a:lnTo>
                <a:lnTo>
                  <a:pt x="3405530" y="2130552"/>
                </a:lnTo>
                <a:lnTo>
                  <a:pt x="3286658" y="2249424"/>
                </a:lnTo>
                <a:lnTo>
                  <a:pt x="0" y="224942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2130552"/>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007A45"/>
                </a:solidFill>
                <a:latin typeface="Segoe UI"/>
              </a:rPr>
              <a:t>ĐỐI THỦ KHÔNG VÁ ĐƯỢC</a:t>
            </a:r>
          </a:p>
        </p:txBody>
      </p:sp>
      <p:sp>
        <p:nvSpPr>
          <p:cNvPr id="10" name="TextBox 9"/>
          <p:cNvSpPr txBox="1"/>
          <p:nvPr/>
        </p:nvSpPr>
        <p:spPr>
          <a:xfrm>
            <a:off x="98755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Đo ngoài trời bằng phần cứng thật</a:t>
            </a:r>
          </a:p>
        </p:txBody>
      </p:sp>
      <p:sp>
        <p:nvSpPr>
          <p:cNvPr id="11" name="TextBox 10"/>
          <p:cNvSpPr txBox="1"/>
          <p:nvPr/>
        </p:nvSpPr>
        <p:spPr>
          <a:xfrm>
            <a:off x="987552" y="2907791"/>
            <a:ext cx="2875178" cy="1207008"/>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T_rm trong công thức ASHRAE CHÍNH LÀ nhiệt độ ngoài trời trung bình trượt. Ambi/Sensibo/Cielo bơm số của cả thành phố từ API vào chỗ đó. Mình đo ở đúng bức tường căn nhà. Nhà hướng tây lúc 3 giờ chiều lệch vài độ — và lệch đó đi thẳng vào công thức.</a:t>
            </a:r>
          </a:p>
        </p:txBody>
      </p:sp>
      <p:sp>
        <p:nvSpPr>
          <p:cNvPr id="12" name="Freeform 11"/>
          <p:cNvSpPr/>
          <p:nvPr/>
        </p:nvSpPr>
        <p:spPr>
          <a:xfrm>
            <a:off x="4393082" y="2066543"/>
            <a:ext cx="3405530" cy="2249424"/>
          </a:xfrm>
          <a:custGeom>
            <a:avLst/>
            <a:gdLst/>
            <a:ahLst/>
            <a:cxnLst/>
            <a:rect l="l" t="t" r="r" b="b"/>
            <a:pathLst>
              <a:path w="3405530" h="2249424">
                <a:moveTo>
                  <a:pt x="118872" y="0"/>
                </a:moveTo>
                <a:lnTo>
                  <a:pt x="3405530" y="0"/>
                </a:lnTo>
                <a:lnTo>
                  <a:pt x="3405530" y="2130552"/>
                </a:lnTo>
                <a:lnTo>
                  <a:pt x="3286658" y="2249424"/>
                </a:lnTo>
                <a:lnTo>
                  <a:pt x="0" y="224942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93082" y="2185415"/>
            <a:ext cx="32004" cy="2130552"/>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740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KHÔNG CẦN KHÁCH DẠY MÁY</a:t>
            </a:r>
          </a:p>
        </p:txBody>
      </p:sp>
      <p:sp>
        <p:nvSpPr>
          <p:cNvPr id="15" name="TextBox 14"/>
          <p:cNvSpPr txBox="1"/>
          <p:nvPr/>
        </p:nvSpPr>
        <p:spPr>
          <a:xfrm>
            <a:off x="466740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Đúng ngay từ ngày đầu</a:t>
            </a:r>
          </a:p>
        </p:txBody>
      </p:sp>
      <p:sp>
        <p:nvSpPr>
          <p:cNvPr id="16" name="TextBox 15"/>
          <p:cNvSpPr txBox="1"/>
          <p:nvPr/>
        </p:nvSpPr>
        <p:spPr>
          <a:xfrm>
            <a:off x="4667402" y="2907791"/>
            <a:ext cx="2875178" cy="1207008"/>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Sensibo là luật nếu–thì. Ambi phải học sở thích nên máy mới mua chưa biết gì. Aircon chạy công thức đã bình duyệt trên 20 000 mẫu khảo sát — chạy đúng từ lần bật đầu tiên, rồi mới học thêm.</a:t>
            </a:r>
          </a:p>
        </p:txBody>
      </p:sp>
      <p:sp>
        <p:nvSpPr>
          <p:cNvPr id="17" name="Freeform 16"/>
          <p:cNvSpPr/>
          <p:nvPr/>
        </p:nvSpPr>
        <p:spPr>
          <a:xfrm>
            <a:off x="8072932" y="2066543"/>
            <a:ext cx="3405530" cy="2249424"/>
          </a:xfrm>
          <a:custGeom>
            <a:avLst/>
            <a:gdLst/>
            <a:ahLst/>
            <a:cxnLst/>
            <a:rect l="l" t="t" r="r" b="b"/>
            <a:pathLst>
              <a:path w="3405530" h="2249424">
                <a:moveTo>
                  <a:pt x="118872" y="0"/>
                </a:moveTo>
                <a:lnTo>
                  <a:pt x="3405530" y="0"/>
                </a:lnTo>
                <a:lnTo>
                  <a:pt x="3405530" y="2130552"/>
                </a:lnTo>
                <a:lnTo>
                  <a:pt x="3286658" y="2249424"/>
                </a:lnTo>
                <a:lnTo>
                  <a:pt x="0" y="224942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72932" y="2185415"/>
            <a:ext cx="32004" cy="2130552"/>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725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9A6200"/>
                </a:solidFill>
                <a:latin typeface="Segoe UI"/>
              </a:rPr>
              <a:t>KHÔNG ĐỐI THỦ TIÊU DÙNG NÀO MỞ</a:t>
            </a:r>
          </a:p>
        </p:txBody>
      </p:sp>
      <p:sp>
        <p:nvSpPr>
          <p:cNvPr id="20" name="TextBox 19"/>
          <p:cNvSpPr txBox="1"/>
          <p:nvPr/>
        </p:nvSpPr>
        <p:spPr>
          <a:xfrm>
            <a:off x="834725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Giải thích được bằng số</a:t>
            </a:r>
          </a:p>
        </p:txBody>
      </p:sp>
      <p:sp>
        <p:nvSpPr>
          <p:cNvPr id="21" name="TextBox 20"/>
          <p:cNvSpPr txBox="1"/>
          <p:nvPr/>
        </p:nvSpPr>
        <p:spPr>
          <a:xfrm>
            <a:off x="8347252" y="2907791"/>
            <a:ext cx="2875178" cy="1207008"/>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comfort_log ghi một dòng mỗi chu kỳ quyết định, kèm đủ biến trung gian. Khách hỏi "sao máy tự đổi sang 27 °C" thì có câu trả lời. Đây cũng là nền cho dịch vụ bảo trì dự đoán.</a:t>
            </a:r>
          </a:p>
        </p:txBody>
      </p:sp>
      <p:sp>
        <p:nvSpPr>
          <p:cNvPr id="22" name="Freeform 21"/>
          <p:cNvSpPr/>
          <p:nvPr/>
        </p:nvSpPr>
        <p:spPr>
          <a:xfrm>
            <a:off x="713232" y="4517136"/>
            <a:ext cx="10765231" cy="1188720"/>
          </a:xfrm>
          <a:custGeom>
            <a:avLst/>
            <a:gdLst/>
            <a:ahLst/>
            <a:cxnLst/>
            <a:rect l="l" t="t" r="r" b="b"/>
            <a:pathLst>
              <a:path w="10765231" h="1188720">
                <a:moveTo>
                  <a:pt x="118872" y="0"/>
                </a:moveTo>
                <a:lnTo>
                  <a:pt x="10765231" y="0"/>
                </a:lnTo>
                <a:lnTo>
                  <a:pt x="10765231" y="1069848"/>
                </a:lnTo>
                <a:lnTo>
                  <a:pt x="10646359" y="1188720"/>
                </a:lnTo>
                <a:lnTo>
                  <a:pt x="0" y="1188720"/>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13232" y="4636007"/>
            <a:ext cx="32004" cy="1069848"/>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718304"/>
            <a:ext cx="82296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KHOẢNG TRỐNG THỊ TRƯỜNG</a:t>
            </a:r>
          </a:p>
        </p:txBody>
      </p:sp>
      <p:sp>
        <p:nvSpPr>
          <p:cNvPr id="25" name="TextBox 24"/>
          <p:cNvSpPr txBox="1"/>
          <p:nvPr/>
        </p:nvSpPr>
        <p:spPr>
          <a:xfrm>
            <a:off x="1005840" y="4956048"/>
            <a:ext cx="10180015" cy="658368"/>
          </a:xfrm>
          <a:prstGeom prst="rect">
            <a:avLst/>
          </a:prstGeom>
          <a:noFill/>
        </p:spPr>
        <p:txBody>
          <a:bodyPr wrap="square" lIns="0" tIns="0" rIns="0" bIns="0" anchor="t">
            <a:spAutoFit/>
          </a:bodyPr>
          <a:lstStyle/>
          <a:p>
            <a:pPr algn="l">
              <a:lnSpc>
                <a:spcPct val="124000"/>
              </a:lnSpc>
            </a:pPr>
            <a:r>
              <a:rPr sz="1150" b="0" i="0">
                <a:solidFill>
                  <a:srgbClr val="111111"/>
                </a:solidFill>
                <a:latin typeface="Segoe UI"/>
              </a:rPr>
              <a:t>Các bên đang bán đều nhắm doanh nghiệp (BenKon) hoặc bán lẻ thiết bị đơn (Ambi · Sensibo · Cielo). Khoảng trống là HỘ GIA ĐÌNH — nơi câu hỏi không phải "khoá máy lúc nào" mà "bao nhiêu độ thì người trong phòng thấy dễ chịu". Đó đúng là câu hỏi mà mô hình tiện nghi thích ứng sinh ra để trả lời, và là chỗ Edge AI trên UNO Q phát huy trọn vẹn nhất.</a:t>
            </a:r>
          </a:p>
        </p:txBody>
      </p:sp>
      <p:sp>
        <p:nvSpPr>
          <p:cNvPr id="26" name="Rectangle 25"/>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05 — điểm mạnh nêu ở đây đều kiểm chứng được từ mã nguồn hoặc trang chủ đối thủ</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LẬP LUẬN</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06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Vì sao suy luận phải nằm tại chỗ</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Bốn lý do, và không lý do nào trong đó là vì công nghệ mới.</a:t>
            </a:r>
          </a:p>
        </p:txBody>
      </p:sp>
      <p:sp>
        <p:nvSpPr>
          <p:cNvPr id="7" name="Freeform 6"/>
          <p:cNvSpPr/>
          <p:nvPr/>
        </p:nvSpPr>
        <p:spPr>
          <a:xfrm>
            <a:off x="713232" y="2066543"/>
            <a:ext cx="5236311" cy="1700784"/>
          </a:xfrm>
          <a:custGeom>
            <a:avLst/>
            <a:gdLst/>
            <a:ahLst/>
            <a:cxnLst/>
            <a:rect l="l" t="t" r="r" b="b"/>
            <a:pathLst>
              <a:path w="5236311" h="1700784">
                <a:moveTo>
                  <a:pt x="118872" y="0"/>
                </a:moveTo>
                <a:lnTo>
                  <a:pt x="5236311" y="0"/>
                </a:lnTo>
                <a:lnTo>
                  <a:pt x="5236311" y="1581912"/>
                </a:lnTo>
                <a:lnTo>
                  <a:pt x="5117439"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1581912"/>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2304287"/>
            <a:ext cx="4705959"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ĐỘ TRỄ</a:t>
            </a:r>
          </a:p>
        </p:txBody>
      </p:sp>
      <p:sp>
        <p:nvSpPr>
          <p:cNvPr id="10" name="TextBox 9"/>
          <p:cNvSpPr txBox="1"/>
          <p:nvPr/>
        </p:nvSpPr>
        <p:spPr>
          <a:xfrm>
            <a:off x="987552" y="2560320"/>
            <a:ext cx="4705959"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Quyết định trong mili-giây</a:t>
            </a:r>
          </a:p>
        </p:txBody>
      </p:sp>
      <p:sp>
        <p:nvSpPr>
          <p:cNvPr id="11" name="TextBox 10"/>
          <p:cNvSpPr txBox="1"/>
          <p:nvPr/>
        </p:nvSpPr>
        <p:spPr>
          <a:xfrm>
            <a:off x="987552" y="2907791"/>
            <a:ext cx="4705959" cy="658368"/>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Đường đi hiện tại là node → EMQX → Worker → node. Mỗi vòng phụ thuộc đường truyền Internet. Điều khiển nhiệt cần vòng lặp ổn định, không cần vòng lặp đi vòng quanh thế giới.</a:t>
            </a:r>
          </a:p>
        </p:txBody>
      </p:sp>
      <p:sp>
        <p:nvSpPr>
          <p:cNvPr id="12" name="Freeform 11"/>
          <p:cNvSpPr/>
          <p:nvPr/>
        </p:nvSpPr>
        <p:spPr>
          <a:xfrm>
            <a:off x="6242151" y="2066543"/>
            <a:ext cx="5236311" cy="1700784"/>
          </a:xfrm>
          <a:custGeom>
            <a:avLst/>
            <a:gdLst/>
            <a:ahLst/>
            <a:cxnLst/>
            <a:rect l="l" t="t" r="r" b="b"/>
            <a:pathLst>
              <a:path w="5236311" h="1700784">
                <a:moveTo>
                  <a:pt x="118872" y="0"/>
                </a:moveTo>
                <a:lnTo>
                  <a:pt x="5236311" y="0"/>
                </a:lnTo>
                <a:lnTo>
                  <a:pt x="5236311" y="1581912"/>
                </a:lnTo>
                <a:lnTo>
                  <a:pt x="5117439"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42151" y="2185415"/>
            <a:ext cx="32004" cy="1581912"/>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6471" y="2304287"/>
            <a:ext cx="4705959" cy="201168"/>
          </a:xfrm>
          <a:prstGeom prst="rect">
            <a:avLst/>
          </a:prstGeom>
          <a:noFill/>
        </p:spPr>
        <p:txBody>
          <a:bodyPr wrap="square" lIns="0" tIns="0" rIns="0" bIns="0" anchor="t">
            <a:spAutoFit/>
          </a:bodyPr>
          <a:lstStyle/>
          <a:p>
            <a:pPr algn="l">
              <a:lnSpc>
                <a:spcPct val="100000"/>
              </a:lnSpc>
            </a:pPr>
            <a:r>
              <a:rPr sz="800" b="1" i="0" spc="160">
                <a:solidFill>
                  <a:srgbClr val="9A6200"/>
                </a:solidFill>
                <a:latin typeface="Segoe UI"/>
              </a:rPr>
              <a:t>MẤT MẠNG</a:t>
            </a:r>
          </a:p>
        </p:txBody>
      </p:sp>
      <p:sp>
        <p:nvSpPr>
          <p:cNvPr id="15" name="TextBox 14"/>
          <p:cNvSpPr txBox="1"/>
          <p:nvPr/>
        </p:nvSpPr>
        <p:spPr>
          <a:xfrm>
            <a:off x="6516471" y="2560320"/>
            <a:ext cx="4705959"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Mất mạng vẫn phải mát</a:t>
            </a:r>
          </a:p>
        </p:txBody>
      </p:sp>
      <p:sp>
        <p:nvSpPr>
          <p:cNvPr id="16" name="TextBox 15"/>
          <p:cNvSpPr txBox="1"/>
          <p:nvPr/>
        </p:nvSpPr>
        <p:spPr>
          <a:xfrm>
            <a:off x="6516471" y="2907791"/>
            <a:ext cx="4705959" cy="658368"/>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Rớt Internet là chuyện thường ở nhà dân và quán ăn. Bộ não đặt tại phòng thì điều hoà vẫn chạy đúng; đám mây chỉ mất phần thống kê.</a:t>
            </a:r>
          </a:p>
        </p:txBody>
      </p:sp>
      <p:sp>
        <p:nvSpPr>
          <p:cNvPr id="17" name="Freeform 16"/>
          <p:cNvSpPr/>
          <p:nvPr/>
        </p:nvSpPr>
        <p:spPr>
          <a:xfrm>
            <a:off x="713232" y="3950208"/>
            <a:ext cx="5236311" cy="1700784"/>
          </a:xfrm>
          <a:custGeom>
            <a:avLst/>
            <a:gdLst/>
            <a:ahLst/>
            <a:cxnLst/>
            <a:rect l="l" t="t" r="r" b="b"/>
            <a:pathLst>
              <a:path w="5236311" h="1700784">
                <a:moveTo>
                  <a:pt x="118872" y="0"/>
                </a:moveTo>
                <a:lnTo>
                  <a:pt x="5236311" y="0"/>
                </a:lnTo>
                <a:lnTo>
                  <a:pt x="5236311" y="1581912"/>
                </a:lnTo>
                <a:lnTo>
                  <a:pt x="5117439"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13232" y="4069080"/>
            <a:ext cx="32004" cy="1581912"/>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7552" y="4187952"/>
            <a:ext cx="4705959" cy="201168"/>
          </a:xfrm>
          <a:prstGeom prst="rect">
            <a:avLst/>
          </a:prstGeom>
          <a:noFill/>
        </p:spPr>
        <p:txBody>
          <a:bodyPr wrap="square" lIns="0" tIns="0" rIns="0" bIns="0" anchor="t">
            <a:spAutoFit/>
          </a:bodyPr>
          <a:lstStyle/>
          <a:p>
            <a:pPr algn="l">
              <a:lnSpc>
                <a:spcPct val="100000"/>
              </a:lnSpc>
            </a:pPr>
            <a:r>
              <a:rPr sz="800" b="1" i="0" spc="160">
                <a:solidFill>
                  <a:srgbClr val="007A45"/>
                </a:solidFill>
                <a:latin typeface="Segoe UI"/>
              </a:rPr>
              <a:t>RIÊNG TƯ</a:t>
            </a:r>
          </a:p>
        </p:txBody>
      </p:sp>
      <p:sp>
        <p:nvSpPr>
          <p:cNvPr id="20" name="TextBox 19"/>
          <p:cNvSpPr txBox="1"/>
          <p:nvPr/>
        </p:nvSpPr>
        <p:spPr>
          <a:xfrm>
            <a:off x="987552" y="4443984"/>
            <a:ext cx="4705959"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Dữ liệu ở lại trong nhà</a:t>
            </a:r>
          </a:p>
        </p:txBody>
      </p:sp>
      <p:sp>
        <p:nvSpPr>
          <p:cNvPr id="21" name="TextBox 20"/>
          <p:cNvSpPr txBox="1"/>
          <p:nvPr/>
        </p:nvSpPr>
        <p:spPr>
          <a:xfrm>
            <a:off x="987552" y="4791456"/>
            <a:ext cx="4705959" cy="658368"/>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Nhiệt độ, độ ẩm và giờ giấc sinh hoạt vẽ ra chân dung một gia đình. Suy luận tại biên nghĩa là chỉ tóm tắt rời khỏi nhà, không phải từng phép đo.</a:t>
            </a:r>
          </a:p>
        </p:txBody>
      </p:sp>
      <p:sp>
        <p:nvSpPr>
          <p:cNvPr id="22" name="Freeform 21"/>
          <p:cNvSpPr/>
          <p:nvPr/>
        </p:nvSpPr>
        <p:spPr>
          <a:xfrm>
            <a:off x="6242151" y="3950208"/>
            <a:ext cx="5236311" cy="1700784"/>
          </a:xfrm>
          <a:custGeom>
            <a:avLst/>
            <a:gdLst/>
            <a:ahLst/>
            <a:cxnLst/>
            <a:rect l="l" t="t" r="r" b="b"/>
            <a:pathLst>
              <a:path w="5236311" h="1700784">
                <a:moveTo>
                  <a:pt x="118872" y="0"/>
                </a:moveTo>
                <a:lnTo>
                  <a:pt x="5236311" y="0"/>
                </a:lnTo>
                <a:lnTo>
                  <a:pt x="5236311" y="1581912"/>
                </a:lnTo>
                <a:lnTo>
                  <a:pt x="5117439"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42151" y="4069080"/>
            <a:ext cx="32004" cy="1581912"/>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6471" y="4187952"/>
            <a:ext cx="4705959"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CHI PHÍ</a:t>
            </a:r>
          </a:p>
        </p:txBody>
      </p:sp>
      <p:sp>
        <p:nvSpPr>
          <p:cNvPr id="25" name="TextBox 24"/>
          <p:cNvSpPr txBox="1"/>
          <p:nvPr/>
        </p:nvSpPr>
        <p:spPr>
          <a:xfrm>
            <a:off x="6516471" y="4443984"/>
            <a:ext cx="4705959"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Không trả tiền cho mỗi phép đo</a:t>
            </a:r>
          </a:p>
        </p:txBody>
      </p:sp>
      <p:sp>
        <p:nvSpPr>
          <p:cNvPr id="26" name="TextBox 25"/>
          <p:cNvSpPr txBox="1"/>
          <p:nvPr/>
        </p:nvSpPr>
        <p:spPr>
          <a:xfrm>
            <a:off x="6516471" y="4791456"/>
            <a:ext cx="4705959" cy="658368"/>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15 giây một mẫu, nhân số node, nhân số khách hàng. Lọc tại biên rồi mới đẩy lên là cách duy nhất để chi phí không tăng theo cấp số nhân.</a:t>
            </a:r>
          </a:p>
        </p:txBody>
      </p:sp>
      <p:sp>
        <p:nvSpPr>
          <p:cNvPr id="27" name="Rectangle 26"/>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06 — vì sao đặt suy luận tại biên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PHẦN CỨNG MỚI</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07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Arduino UNO Q · Qualcomm Dragonwing</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Một bo hai bộ não: Linux để suy nghĩ, vi điều khiển để phản xạ.</a:t>
            </a:r>
          </a:p>
        </p:txBody>
      </p:sp>
      <p:sp>
        <p:nvSpPr>
          <p:cNvPr id="7" name="Freeform 6"/>
          <p:cNvSpPr/>
          <p:nvPr/>
        </p:nvSpPr>
        <p:spPr>
          <a:xfrm>
            <a:off x="713232" y="2066543"/>
            <a:ext cx="4590288" cy="3218688"/>
          </a:xfrm>
          <a:custGeom>
            <a:avLst/>
            <a:gdLst/>
            <a:ahLst/>
            <a:cxnLst/>
            <a:rect l="l" t="t" r="r" b="b"/>
            <a:pathLst>
              <a:path w="4590288" h="3218688">
                <a:moveTo>
                  <a:pt x="118872" y="0"/>
                </a:moveTo>
                <a:lnTo>
                  <a:pt x="4590288" y="0"/>
                </a:lnTo>
                <a:lnTo>
                  <a:pt x="4590288" y="3099816"/>
                </a:lnTo>
                <a:lnTo>
                  <a:pt x="4471416" y="3218688"/>
                </a:lnTo>
                <a:lnTo>
                  <a:pt x="0" y="3218688"/>
                </a:lnTo>
                <a:lnTo>
                  <a:pt x="0" y="118872"/>
                </a:lnTo>
                <a:close/>
              </a:path>
            </a:pathLst>
          </a:cu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2340863"/>
            <a:ext cx="384048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THÔNG SỐ</a:t>
            </a:r>
          </a:p>
        </p:txBody>
      </p:sp>
      <p:sp>
        <p:nvSpPr>
          <p:cNvPr id="9" name="TextBox 8"/>
          <p:cNvSpPr txBox="1"/>
          <p:nvPr/>
        </p:nvSpPr>
        <p:spPr>
          <a:xfrm>
            <a:off x="1024128" y="2670048"/>
            <a:ext cx="1737360" cy="219456"/>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Vi xử lý</a:t>
            </a:r>
          </a:p>
        </p:txBody>
      </p:sp>
      <p:sp>
        <p:nvSpPr>
          <p:cNvPr id="10" name="TextBox 9"/>
          <p:cNvSpPr txBox="1"/>
          <p:nvPr/>
        </p:nvSpPr>
        <p:spPr>
          <a:xfrm>
            <a:off x="2816352" y="2670048"/>
            <a:ext cx="2286000" cy="219456"/>
          </a:xfrm>
          <a:prstGeom prst="rect">
            <a:avLst/>
          </a:prstGeom>
          <a:noFill/>
        </p:spPr>
        <p:txBody>
          <a:bodyPr wrap="square" lIns="0" tIns="0" rIns="0" bIns="0" anchor="t">
            <a:spAutoFit/>
          </a:bodyPr>
          <a:lstStyle/>
          <a:p>
            <a:pPr algn="l">
              <a:lnSpc>
                <a:spcPct val="100000"/>
              </a:lnSpc>
            </a:pPr>
            <a:r>
              <a:rPr sz="1000" b="1" i="0">
                <a:solidFill>
                  <a:srgbClr val="111111"/>
                </a:solidFill>
                <a:latin typeface="Consolas"/>
              </a:rPr>
              <a:t>Qualcomm Dragonwing</a:t>
            </a:r>
          </a:p>
        </p:txBody>
      </p:sp>
      <p:sp>
        <p:nvSpPr>
          <p:cNvPr id="11" name="Rectangle 10"/>
          <p:cNvSpPr/>
          <p:nvPr/>
        </p:nvSpPr>
        <p:spPr>
          <a:xfrm>
            <a:off x="1024128" y="2962656"/>
            <a:ext cx="3986784" cy="4572"/>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3072384"/>
            <a:ext cx="1737360" cy="219456"/>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Bộ nhớ</a:t>
            </a:r>
          </a:p>
        </p:txBody>
      </p:sp>
      <p:sp>
        <p:nvSpPr>
          <p:cNvPr id="13" name="TextBox 12"/>
          <p:cNvSpPr txBox="1"/>
          <p:nvPr/>
        </p:nvSpPr>
        <p:spPr>
          <a:xfrm>
            <a:off x="2816352" y="3072384"/>
            <a:ext cx="2286000" cy="219456"/>
          </a:xfrm>
          <a:prstGeom prst="rect">
            <a:avLst/>
          </a:prstGeom>
          <a:noFill/>
        </p:spPr>
        <p:txBody>
          <a:bodyPr wrap="square" lIns="0" tIns="0" rIns="0" bIns="0" anchor="t">
            <a:spAutoFit/>
          </a:bodyPr>
          <a:lstStyle/>
          <a:p>
            <a:pPr algn="l">
              <a:lnSpc>
                <a:spcPct val="100000"/>
              </a:lnSpc>
            </a:pPr>
            <a:r>
              <a:rPr sz="1000" b="1" i="0">
                <a:solidFill>
                  <a:srgbClr val="111111"/>
                </a:solidFill>
                <a:latin typeface="Consolas"/>
              </a:rPr>
              <a:t>2 GB RAM</a:t>
            </a:r>
          </a:p>
        </p:txBody>
      </p:sp>
      <p:sp>
        <p:nvSpPr>
          <p:cNvPr id="14" name="Rectangle 13"/>
          <p:cNvSpPr/>
          <p:nvPr/>
        </p:nvSpPr>
        <p:spPr>
          <a:xfrm>
            <a:off x="1024128" y="3364991"/>
            <a:ext cx="3986784" cy="4572"/>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4128" y="3474720"/>
            <a:ext cx="1737360" cy="219456"/>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Lưu trữ</a:t>
            </a:r>
          </a:p>
        </p:txBody>
      </p:sp>
      <p:sp>
        <p:nvSpPr>
          <p:cNvPr id="16" name="TextBox 15"/>
          <p:cNvSpPr txBox="1"/>
          <p:nvPr/>
        </p:nvSpPr>
        <p:spPr>
          <a:xfrm>
            <a:off x="2816352" y="3474720"/>
            <a:ext cx="2286000" cy="219456"/>
          </a:xfrm>
          <a:prstGeom prst="rect">
            <a:avLst/>
          </a:prstGeom>
          <a:noFill/>
        </p:spPr>
        <p:txBody>
          <a:bodyPr wrap="square" lIns="0" tIns="0" rIns="0" bIns="0" anchor="t">
            <a:spAutoFit/>
          </a:bodyPr>
          <a:lstStyle/>
          <a:p>
            <a:pPr algn="l">
              <a:lnSpc>
                <a:spcPct val="100000"/>
              </a:lnSpc>
            </a:pPr>
            <a:r>
              <a:rPr sz="1000" b="1" i="0">
                <a:solidFill>
                  <a:srgbClr val="111111"/>
                </a:solidFill>
                <a:latin typeface="Consolas"/>
              </a:rPr>
              <a:t>16 GB eMMC</a:t>
            </a:r>
          </a:p>
        </p:txBody>
      </p:sp>
      <p:sp>
        <p:nvSpPr>
          <p:cNvPr id="17" name="Rectangle 16"/>
          <p:cNvSpPr/>
          <p:nvPr/>
        </p:nvSpPr>
        <p:spPr>
          <a:xfrm>
            <a:off x="1024128" y="3767328"/>
            <a:ext cx="3986784" cy="4572"/>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3877056"/>
            <a:ext cx="1737360" cy="219456"/>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Hệ điều hành</a:t>
            </a:r>
          </a:p>
        </p:txBody>
      </p:sp>
      <p:sp>
        <p:nvSpPr>
          <p:cNvPr id="19" name="TextBox 18"/>
          <p:cNvSpPr txBox="1"/>
          <p:nvPr/>
        </p:nvSpPr>
        <p:spPr>
          <a:xfrm>
            <a:off x="2816352" y="3877056"/>
            <a:ext cx="2286000" cy="219456"/>
          </a:xfrm>
          <a:prstGeom prst="rect">
            <a:avLst/>
          </a:prstGeom>
          <a:noFill/>
        </p:spPr>
        <p:txBody>
          <a:bodyPr wrap="square" lIns="0" tIns="0" rIns="0" bIns="0" anchor="t">
            <a:spAutoFit/>
          </a:bodyPr>
          <a:lstStyle/>
          <a:p>
            <a:pPr algn="l">
              <a:lnSpc>
                <a:spcPct val="100000"/>
              </a:lnSpc>
            </a:pPr>
            <a:r>
              <a:rPr sz="1000" b="1" i="0">
                <a:solidFill>
                  <a:srgbClr val="111111"/>
                </a:solidFill>
                <a:latin typeface="Consolas"/>
              </a:rPr>
              <a:t>Linux  (*)</a:t>
            </a:r>
          </a:p>
        </p:txBody>
      </p:sp>
      <p:sp>
        <p:nvSpPr>
          <p:cNvPr id="20" name="Rectangle 19"/>
          <p:cNvSpPr/>
          <p:nvPr/>
        </p:nvSpPr>
        <p:spPr>
          <a:xfrm>
            <a:off x="1024128" y="4169664"/>
            <a:ext cx="3986784" cy="4572"/>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4128" y="4279392"/>
            <a:ext cx="1737360" cy="219456"/>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Thời gian thực</a:t>
            </a:r>
          </a:p>
        </p:txBody>
      </p:sp>
      <p:sp>
        <p:nvSpPr>
          <p:cNvPr id="22" name="TextBox 21"/>
          <p:cNvSpPr txBox="1"/>
          <p:nvPr/>
        </p:nvSpPr>
        <p:spPr>
          <a:xfrm>
            <a:off x="2816352" y="4279392"/>
            <a:ext cx="2286000" cy="219456"/>
          </a:xfrm>
          <a:prstGeom prst="rect">
            <a:avLst/>
          </a:prstGeom>
          <a:noFill/>
        </p:spPr>
        <p:txBody>
          <a:bodyPr wrap="square" lIns="0" tIns="0" rIns="0" bIns="0" anchor="t">
            <a:spAutoFit/>
          </a:bodyPr>
          <a:lstStyle/>
          <a:p>
            <a:pPr algn="l">
              <a:lnSpc>
                <a:spcPct val="100000"/>
              </a:lnSpc>
            </a:pPr>
            <a:r>
              <a:rPr sz="1000" b="1" i="0">
                <a:solidFill>
                  <a:srgbClr val="111111"/>
                </a:solidFill>
                <a:latin typeface="Consolas"/>
              </a:rPr>
              <a:t>Vi điều khiển tích hợp  (*)</a:t>
            </a:r>
          </a:p>
        </p:txBody>
      </p:sp>
      <p:sp>
        <p:nvSpPr>
          <p:cNvPr id="23" name="Rectangle 22"/>
          <p:cNvSpPr/>
          <p:nvPr/>
        </p:nvSpPr>
        <p:spPr>
          <a:xfrm>
            <a:off x="1024128" y="4572000"/>
            <a:ext cx="3986784" cy="4572"/>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4128" y="4681728"/>
            <a:ext cx="1737360" cy="219456"/>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Chân cắm</a:t>
            </a:r>
          </a:p>
        </p:txBody>
      </p:sp>
      <p:sp>
        <p:nvSpPr>
          <p:cNvPr id="25" name="TextBox 24"/>
          <p:cNvSpPr txBox="1"/>
          <p:nvPr/>
        </p:nvSpPr>
        <p:spPr>
          <a:xfrm>
            <a:off x="2816352" y="4681728"/>
            <a:ext cx="2286000" cy="219456"/>
          </a:xfrm>
          <a:prstGeom prst="rect">
            <a:avLst/>
          </a:prstGeom>
          <a:noFill/>
        </p:spPr>
        <p:txBody>
          <a:bodyPr wrap="square" lIns="0" tIns="0" rIns="0" bIns="0" anchor="t">
            <a:spAutoFit/>
          </a:bodyPr>
          <a:lstStyle/>
          <a:p>
            <a:pPr algn="l">
              <a:lnSpc>
                <a:spcPct val="100000"/>
              </a:lnSpc>
            </a:pPr>
            <a:r>
              <a:rPr sz="1000" b="1" i="0">
                <a:solidFill>
                  <a:srgbClr val="111111"/>
                </a:solidFill>
                <a:latin typeface="Consolas"/>
              </a:rPr>
              <a:t>Tương thích Arduino UNO  (*)</a:t>
            </a:r>
          </a:p>
        </p:txBody>
      </p:sp>
      <p:sp>
        <p:nvSpPr>
          <p:cNvPr id="26" name="Freeform 25"/>
          <p:cNvSpPr/>
          <p:nvPr/>
        </p:nvSpPr>
        <p:spPr>
          <a:xfrm>
            <a:off x="5596128" y="2066543"/>
            <a:ext cx="5882335" cy="1536192"/>
          </a:xfrm>
          <a:custGeom>
            <a:avLst/>
            <a:gdLst/>
            <a:ahLst/>
            <a:cxnLst/>
            <a:rect l="l" t="t" r="r" b="b"/>
            <a:pathLst>
              <a:path w="5882335" h="1536192">
                <a:moveTo>
                  <a:pt x="118872" y="0"/>
                </a:moveTo>
                <a:lnTo>
                  <a:pt x="5882335" y="0"/>
                </a:lnTo>
                <a:lnTo>
                  <a:pt x="5882335" y="1417320"/>
                </a:lnTo>
                <a:lnTo>
                  <a:pt x="5763463" y="1536192"/>
                </a:lnTo>
                <a:lnTo>
                  <a:pt x="0" y="15361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596128" y="2185415"/>
            <a:ext cx="32004" cy="1417319"/>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70448" y="2304287"/>
            <a:ext cx="5351983"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BỘ NÃO LỚN · LINUX</a:t>
            </a:r>
          </a:p>
        </p:txBody>
      </p:sp>
      <p:sp>
        <p:nvSpPr>
          <p:cNvPr id="29" name="TextBox 28"/>
          <p:cNvSpPr txBox="1"/>
          <p:nvPr/>
        </p:nvSpPr>
        <p:spPr>
          <a:xfrm>
            <a:off x="5870448" y="2560320"/>
            <a:ext cx="5351983"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Nơi mô hình sống</a:t>
            </a:r>
          </a:p>
        </p:txBody>
      </p:sp>
      <p:sp>
        <p:nvSpPr>
          <p:cNvPr id="30" name="TextBox 29"/>
          <p:cNvSpPr txBox="1"/>
          <p:nvPr/>
        </p:nvSpPr>
        <p:spPr>
          <a:xfrm>
            <a:off x="5870448" y="2907791"/>
            <a:ext cx="5351983" cy="493776"/>
          </a:xfrm>
          <a:prstGeom prst="rect">
            <a:avLst/>
          </a:prstGeom>
          <a:noFill/>
        </p:spPr>
        <p:txBody>
          <a:bodyPr wrap="square" lIns="0" tIns="0" rIns="0" bIns="0" anchor="t">
            <a:spAutoFit/>
          </a:bodyPr>
          <a:lstStyle/>
          <a:p>
            <a:pPr algn="l">
              <a:lnSpc>
                <a:spcPct val="122000"/>
              </a:lnSpc>
            </a:pPr>
            <a:r>
              <a:rPr sz="1019" b="0" i="0">
                <a:solidFill>
                  <a:srgbClr val="556575"/>
                </a:solidFill>
                <a:latin typeface="Segoe UI"/>
              </a:rPr>
              <a:t>Chạy Python, TensorFlow Lite, ONNX. Đủ RAM để giữ lịch sử vài ngày trong bộ nhớ và suy luận mà không cần gọi ra ngoài. 16 GB eMMC đủ chứa cả dữ liệu huấn luyện tại chỗ — không phải mọi thứ đều cần lên đám mây.</a:t>
            </a:r>
          </a:p>
        </p:txBody>
      </p:sp>
      <p:sp>
        <p:nvSpPr>
          <p:cNvPr id="31" name="Freeform 30"/>
          <p:cNvSpPr/>
          <p:nvPr/>
        </p:nvSpPr>
        <p:spPr>
          <a:xfrm>
            <a:off x="5596128" y="3749039"/>
            <a:ext cx="5882335" cy="1536192"/>
          </a:xfrm>
          <a:custGeom>
            <a:avLst/>
            <a:gdLst/>
            <a:ahLst/>
            <a:cxnLst/>
            <a:rect l="l" t="t" r="r" b="b"/>
            <a:pathLst>
              <a:path w="5882335" h="1536192">
                <a:moveTo>
                  <a:pt x="118872" y="0"/>
                </a:moveTo>
                <a:lnTo>
                  <a:pt x="5882335" y="0"/>
                </a:lnTo>
                <a:lnTo>
                  <a:pt x="5882335" y="1417320"/>
                </a:lnTo>
                <a:lnTo>
                  <a:pt x="5763463" y="1536192"/>
                </a:lnTo>
                <a:lnTo>
                  <a:pt x="0" y="15361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596128" y="3867911"/>
            <a:ext cx="32004" cy="1417319"/>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70448" y="3986783"/>
            <a:ext cx="5351983" cy="201168"/>
          </a:xfrm>
          <a:prstGeom prst="rect">
            <a:avLst/>
          </a:prstGeom>
          <a:noFill/>
        </p:spPr>
        <p:txBody>
          <a:bodyPr wrap="square" lIns="0" tIns="0" rIns="0" bIns="0" anchor="t">
            <a:spAutoFit/>
          </a:bodyPr>
          <a:lstStyle/>
          <a:p>
            <a:pPr algn="l">
              <a:lnSpc>
                <a:spcPct val="100000"/>
              </a:lnSpc>
            </a:pPr>
            <a:r>
              <a:rPr sz="800" b="1" i="0" spc="160">
                <a:solidFill>
                  <a:srgbClr val="007A45"/>
                </a:solidFill>
                <a:latin typeface="Segoe UI"/>
              </a:rPr>
              <a:t>BỘ NÃO NHỎ · VI ĐIỀU KHIỂN</a:t>
            </a:r>
          </a:p>
        </p:txBody>
      </p:sp>
      <p:sp>
        <p:nvSpPr>
          <p:cNvPr id="34" name="TextBox 33"/>
          <p:cNvSpPr txBox="1"/>
          <p:nvPr/>
        </p:nvSpPr>
        <p:spPr>
          <a:xfrm>
            <a:off x="5870448" y="4242816"/>
            <a:ext cx="5351983"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Nơi thời gian là thật</a:t>
            </a:r>
          </a:p>
        </p:txBody>
      </p:sp>
      <p:sp>
        <p:nvSpPr>
          <p:cNvPr id="35" name="TextBox 34"/>
          <p:cNvSpPr txBox="1"/>
          <p:nvPr/>
        </p:nvSpPr>
        <p:spPr>
          <a:xfrm>
            <a:off x="5870448" y="4590288"/>
            <a:ext cx="5351983" cy="493776"/>
          </a:xfrm>
          <a:prstGeom prst="rect">
            <a:avLst/>
          </a:prstGeom>
          <a:noFill/>
        </p:spPr>
        <p:txBody>
          <a:bodyPr wrap="square" lIns="0" tIns="0" rIns="0" bIns="0" anchor="t">
            <a:spAutoFit/>
          </a:bodyPr>
          <a:lstStyle/>
          <a:p>
            <a:pPr algn="l">
              <a:lnSpc>
                <a:spcPct val="122000"/>
              </a:lnSpc>
            </a:pPr>
            <a:r>
              <a:rPr sz="1019" b="0" i="0">
                <a:solidFill>
                  <a:srgbClr val="556575"/>
                </a:solidFill>
                <a:latin typeface="Segoe UI"/>
              </a:rPr>
              <a:t>Đọc cảm biến đúng nhịp, xuất tín hiệu không bị hệ điều hành xen ngang. Linux có thể bận; phản xạ thì không được phép bận. Trước đây phải ghép Raspberry Pi với một vi điều khiển rời — nay bớt một điểm hỏng, một sợi dây.</a:t>
            </a:r>
          </a:p>
        </p:txBody>
      </p:sp>
      <p:sp>
        <p:nvSpPr>
          <p:cNvPr id="36" name="Rectangle 35"/>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07 — (*) chưa đối chiếu tài liệu chính thức · kiểm chứng lại trước khi đặt mua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KIẾN TRÚC ĐỀ XUẤT</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08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Ba tầng, ba nhịp thời gian</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Mỗi tầng chỉ làm đúng việc mà nhịp của nó cho phép.</a:t>
            </a:r>
          </a:p>
        </p:txBody>
      </p:sp>
      <p:sp>
        <p:nvSpPr>
          <p:cNvPr id="7" name="Freeform 6"/>
          <p:cNvSpPr/>
          <p:nvPr/>
        </p:nvSpPr>
        <p:spPr>
          <a:xfrm>
            <a:off x="713232" y="2066543"/>
            <a:ext cx="10765231" cy="1216152"/>
          </a:xfrm>
          <a:custGeom>
            <a:avLst/>
            <a:gdLst/>
            <a:ahLst/>
            <a:cxnLst/>
            <a:rect l="l" t="t" r="r" b="b"/>
            <a:pathLst>
              <a:path w="10765231" h="1216152">
                <a:moveTo>
                  <a:pt x="118872" y="0"/>
                </a:moveTo>
                <a:lnTo>
                  <a:pt x="10765231" y="0"/>
                </a:lnTo>
                <a:lnTo>
                  <a:pt x="10765231" y="1097280"/>
                </a:lnTo>
                <a:lnTo>
                  <a:pt x="10646359" y="1216152"/>
                </a:lnTo>
                <a:lnTo>
                  <a:pt x="0" y="121615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109728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286000"/>
            <a:ext cx="4206240" cy="237744"/>
          </a:xfrm>
          <a:prstGeom prst="rect">
            <a:avLst/>
          </a:prstGeom>
          <a:noFill/>
        </p:spPr>
        <p:txBody>
          <a:bodyPr wrap="square" lIns="0" tIns="0" rIns="0" bIns="0" anchor="t">
            <a:spAutoFit/>
          </a:bodyPr>
          <a:lstStyle/>
          <a:p>
            <a:pPr algn="l">
              <a:lnSpc>
                <a:spcPct val="100000"/>
              </a:lnSpc>
            </a:pPr>
            <a:r>
              <a:rPr sz="1200" b="1" i="0" spc="90">
                <a:solidFill>
                  <a:srgbClr val="111111"/>
                </a:solidFill>
                <a:latin typeface="Segoe UI"/>
              </a:rPr>
              <a:t>TẦNG CẢM BIẾN &amp; CHẤP HÀNH</a:t>
            </a:r>
          </a:p>
        </p:txBody>
      </p:sp>
      <p:sp>
        <p:nvSpPr>
          <p:cNvPr id="10" name="TextBox 9"/>
          <p:cNvSpPr txBox="1"/>
          <p:nvPr/>
        </p:nvSpPr>
        <p:spPr>
          <a:xfrm>
            <a:off x="1005840" y="2560320"/>
            <a:ext cx="4206240" cy="201168"/>
          </a:xfrm>
          <a:prstGeom prst="rect">
            <a:avLst/>
          </a:prstGeom>
          <a:noFill/>
        </p:spPr>
        <p:txBody>
          <a:bodyPr wrap="square" lIns="0" tIns="0" rIns="0" bIns="0" anchor="t">
            <a:spAutoFit/>
          </a:bodyPr>
          <a:lstStyle/>
          <a:p>
            <a:pPr algn="l">
              <a:lnSpc>
                <a:spcPct val="100000"/>
              </a:lnSpc>
            </a:pPr>
            <a:r>
              <a:rPr sz="900" b="0" i="0">
                <a:solidFill>
                  <a:srgbClr val="6B7C90"/>
                </a:solidFill>
                <a:latin typeface="Consolas"/>
              </a:rPr>
              <a:t>ESP32 · ESP8266</a:t>
            </a:r>
          </a:p>
        </p:txBody>
      </p:sp>
      <p:sp>
        <p:nvSpPr>
          <p:cNvPr id="11" name="TextBox 10"/>
          <p:cNvSpPr txBox="1"/>
          <p:nvPr/>
        </p:nvSpPr>
        <p:spPr>
          <a:xfrm>
            <a:off x="1005840" y="2852927"/>
            <a:ext cx="4206240" cy="274320"/>
          </a:xfrm>
          <a:prstGeom prst="rect">
            <a:avLst/>
          </a:prstGeom>
          <a:noFill/>
        </p:spPr>
        <p:txBody>
          <a:bodyPr wrap="square" lIns="0" tIns="0" rIns="0" bIns="0" anchor="t">
            <a:spAutoFit/>
          </a:bodyPr>
          <a:lstStyle/>
          <a:p>
            <a:pPr algn="l">
              <a:lnSpc>
                <a:spcPct val="100000"/>
              </a:lnSpc>
            </a:pPr>
            <a:r>
              <a:rPr sz="1050" b="1" i="0">
                <a:solidFill>
                  <a:srgbClr val="007A45"/>
                </a:solidFill>
                <a:latin typeface="Consolas"/>
              </a:rPr>
              <a:t>mili-giây → giây</a:t>
            </a:r>
          </a:p>
        </p:txBody>
      </p:sp>
      <p:sp>
        <p:nvSpPr>
          <p:cNvPr id="12" name="Rectangle 11"/>
          <p:cNvSpPr/>
          <p:nvPr/>
        </p:nvSpPr>
        <p:spPr>
          <a:xfrm>
            <a:off x="5468112" y="2304287"/>
            <a:ext cx="5486" cy="740664"/>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24144" y="2377439"/>
            <a:ext cx="5406847" cy="731520"/>
          </a:xfrm>
          <a:prstGeom prst="rect">
            <a:avLst/>
          </a:prstGeom>
          <a:noFill/>
        </p:spPr>
        <p:txBody>
          <a:bodyPr wrap="square" lIns="0" tIns="0" rIns="0" bIns="0" anchor="t">
            <a:spAutoFit/>
          </a:bodyPr>
          <a:lstStyle/>
          <a:p>
            <a:pPr algn="l">
              <a:lnSpc>
                <a:spcPct val="124000"/>
              </a:lnSpc>
            </a:pPr>
            <a:r>
              <a:rPr sz="1100" b="0" i="0">
                <a:solidFill>
                  <a:srgbClr val="556575"/>
                </a:solidFill>
                <a:latin typeface="Segoe UI"/>
              </a:rPr>
              <a:t>Đo nhiệt độ/độ ẩm · phát mã hồng ngoại · màn cảm ứng · nhịp tim ESP-NOW. Không suy luận, không phán đoán — chỉ đo đúng và phản xạ đúng.</a:t>
            </a:r>
          </a:p>
        </p:txBody>
      </p:sp>
      <p:sp>
        <p:nvSpPr>
          <p:cNvPr id="14" name="Freeform 13"/>
          <p:cNvSpPr/>
          <p:nvPr/>
        </p:nvSpPr>
        <p:spPr>
          <a:xfrm>
            <a:off x="713232" y="3465576"/>
            <a:ext cx="10765231" cy="1216152"/>
          </a:xfrm>
          <a:custGeom>
            <a:avLst/>
            <a:gdLst/>
            <a:ahLst/>
            <a:cxnLst/>
            <a:rect l="l" t="t" r="r" b="b"/>
            <a:pathLst>
              <a:path w="10765231" h="1216152">
                <a:moveTo>
                  <a:pt x="118872" y="0"/>
                </a:moveTo>
                <a:lnTo>
                  <a:pt x="10765231" y="0"/>
                </a:lnTo>
                <a:lnTo>
                  <a:pt x="10765231" y="1097280"/>
                </a:lnTo>
                <a:lnTo>
                  <a:pt x="10646359" y="1216152"/>
                </a:lnTo>
                <a:lnTo>
                  <a:pt x="0" y="1216152"/>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13232" y="3584448"/>
            <a:ext cx="32004" cy="1097280"/>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3685032"/>
            <a:ext cx="4206240" cy="237744"/>
          </a:xfrm>
          <a:prstGeom prst="rect">
            <a:avLst/>
          </a:prstGeom>
          <a:noFill/>
        </p:spPr>
        <p:txBody>
          <a:bodyPr wrap="square" lIns="0" tIns="0" rIns="0" bIns="0" anchor="t">
            <a:spAutoFit/>
          </a:bodyPr>
          <a:lstStyle/>
          <a:p>
            <a:pPr algn="l">
              <a:lnSpc>
                <a:spcPct val="100000"/>
              </a:lnSpc>
            </a:pPr>
            <a:r>
              <a:rPr sz="1200" b="1" i="0" spc="90">
                <a:solidFill>
                  <a:srgbClr val="111111"/>
                </a:solidFill>
                <a:latin typeface="Segoe UI"/>
              </a:rPr>
              <a:t>TẦNG BIÊN — ARDUINO UNO Q</a:t>
            </a:r>
          </a:p>
        </p:txBody>
      </p:sp>
      <p:sp>
        <p:nvSpPr>
          <p:cNvPr id="17" name="TextBox 16"/>
          <p:cNvSpPr txBox="1"/>
          <p:nvPr/>
        </p:nvSpPr>
        <p:spPr>
          <a:xfrm>
            <a:off x="1005840" y="3959352"/>
            <a:ext cx="4206240" cy="201168"/>
          </a:xfrm>
          <a:prstGeom prst="rect">
            <a:avLst/>
          </a:prstGeom>
          <a:noFill/>
        </p:spPr>
        <p:txBody>
          <a:bodyPr wrap="square" lIns="0" tIns="0" rIns="0" bIns="0" anchor="t">
            <a:spAutoFit/>
          </a:bodyPr>
          <a:lstStyle/>
          <a:p>
            <a:pPr algn="l">
              <a:lnSpc>
                <a:spcPct val="100000"/>
              </a:lnSpc>
            </a:pPr>
            <a:r>
              <a:rPr sz="900" b="0" i="0">
                <a:solidFill>
                  <a:srgbClr val="6B7C90"/>
                </a:solidFill>
                <a:latin typeface="Consolas"/>
              </a:rPr>
              <a:t>Dragonwing · 2 GB · 16 GB</a:t>
            </a:r>
          </a:p>
        </p:txBody>
      </p:sp>
      <p:sp>
        <p:nvSpPr>
          <p:cNvPr id="18" name="TextBox 17"/>
          <p:cNvSpPr txBox="1"/>
          <p:nvPr/>
        </p:nvSpPr>
        <p:spPr>
          <a:xfrm>
            <a:off x="1005840" y="4251960"/>
            <a:ext cx="4206240" cy="274320"/>
          </a:xfrm>
          <a:prstGeom prst="rect">
            <a:avLst/>
          </a:prstGeom>
          <a:noFill/>
        </p:spPr>
        <p:txBody>
          <a:bodyPr wrap="square" lIns="0" tIns="0" rIns="0" bIns="0" anchor="t">
            <a:spAutoFit/>
          </a:bodyPr>
          <a:lstStyle/>
          <a:p>
            <a:pPr algn="l">
              <a:lnSpc>
                <a:spcPct val="100000"/>
              </a:lnSpc>
            </a:pPr>
            <a:r>
              <a:rPr sz="1050" b="1" i="0">
                <a:solidFill>
                  <a:srgbClr val="0044CC"/>
                </a:solidFill>
                <a:latin typeface="Consolas"/>
              </a:rPr>
              <a:t>giây → phút</a:t>
            </a:r>
          </a:p>
        </p:txBody>
      </p:sp>
      <p:sp>
        <p:nvSpPr>
          <p:cNvPr id="19" name="Rectangle 18"/>
          <p:cNvSpPr/>
          <p:nvPr/>
        </p:nvSpPr>
        <p:spPr>
          <a:xfrm>
            <a:off x="5468112" y="3703320"/>
            <a:ext cx="5486" cy="740664"/>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24144" y="3776472"/>
            <a:ext cx="4218127" cy="731520"/>
          </a:xfrm>
          <a:prstGeom prst="rect">
            <a:avLst/>
          </a:prstGeom>
          <a:noFill/>
        </p:spPr>
        <p:txBody>
          <a:bodyPr wrap="square" lIns="0" tIns="0" rIns="0" bIns="0" anchor="t">
            <a:spAutoFit/>
          </a:bodyPr>
          <a:lstStyle/>
          <a:p>
            <a:pPr algn="l">
              <a:lnSpc>
                <a:spcPct val="124000"/>
              </a:lnSpc>
            </a:pPr>
            <a:r>
              <a:rPr sz="1100" b="0" i="0">
                <a:solidFill>
                  <a:srgbClr val="556575"/>
                </a:solidFill>
                <a:latin typeface="Segoe UI"/>
              </a:rPr>
              <a:t>Dự báo điều kiện sắp tới · học đặc tính nhiệt của chính phòng này · chạy thuật toán comfort với đầu vào đã dự báo · vẫn ra nhiệt độ đặt khi mất mạng.</a:t>
            </a:r>
          </a:p>
        </p:txBody>
      </p:sp>
      <p:sp>
        <p:nvSpPr>
          <p:cNvPr id="21" name="TextBox 20"/>
          <p:cNvSpPr txBox="1"/>
          <p:nvPr/>
        </p:nvSpPr>
        <p:spPr>
          <a:xfrm>
            <a:off x="10381183" y="3739896"/>
            <a:ext cx="1097280" cy="201168"/>
          </a:xfrm>
          <a:prstGeom prst="rect">
            <a:avLst/>
          </a:prstGeom>
          <a:noFill/>
        </p:spPr>
        <p:txBody>
          <a:bodyPr wrap="square" lIns="0" tIns="0" rIns="0" bIns="0" anchor="t">
            <a:spAutoFit/>
          </a:bodyPr>
          <a:lstStyle/>
          <a:p>
            <a:pPr algn="r">
              <a:lnSpc>
                <a:spcPct val="100000"/>
              </a:lnSpc>
            </a:pPr>
            <a:r>
              <a:rPr sz="800" b="1" i="0" spc="160">
                <a:solidFill>
                  <a:srgbClr val="0044CC"/>
                </a:solidFill>
                <a:latin typeface="Segoe UI"/>
              </a:rPr>
              <a:t>MỚI</a:t>
            </a:r>
          </a:p>
        </p:txBody>
      </p:sp>
      <p:sp>
        <p:nvSpPr>
          <p:cNvPr id="22" name="Freeform 21"/>
          <p:cNvSpPr/>
          <p:nvPr/>
        </p:nvSpPr>
        <p:spPr>
          <a:xfrm>
            <a:off x="713232" y="4864608"/>
            <a:ext cx="10765231" cy="1216152"/>
          </a:xfrm>
          <a:custGeom>
            <a:avLst/>
            <a:gdLst/>
            <a:ahLst/>
            <a:cxnLst/>
            <a:rect l="l" t="t" r="r" b="b"/>
            <a:pathLst>
              <a:path w="10765231" h="1216152">
                <a:moveTo>
                  <a:pt x="118872" y="0"/>
                </a:moveTo>
                <a:lnTo>
                  <a:pt x="10765231" y="0"/>
                </a:lnTo>
                <a:lnTo>
                  <a:pt x="10765231" y="1097280"/>
                </a:lnTo>
                <a:lnTo>
                  <a:pt x="10646359" y="1216152"/>
                </a:lnTo>
                <a:lnTo>
                  <a:pt x="0" y="121615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13232" y="4983480"/>
            <a:ext cx="32004" cy="1097280"/>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084064"/>
            <a:ext cx="4206240" cy="237744"/>
          </a:xfrm>
          <a:prstGeom prst="rect">
            <a:avLst/>
          </a:prstGeom>
          <a:noFill/>
        </p:spPr>
        <p:txBody>
          <a:bodyPr wrap="square" lIns="0" tIns="0" rIns="0" bIns="0" anchor="t">
            <a:spAutoFit/>
          </a:bodyPr>
          <a:lstStyle/>
          <a:p>
            <a:pPr algn="l">
              <a:lnSpc>
                <a:spcPct val="100000"/>
              </a:lnSpc>
            </a:pPr>
            <a:r>
              <a:rPr sz="1200" b="1" i="0" spc="90">
                <a:solidFill>
                  <a:srgbClr val="111111"/>
                </a:solidFill>
                <a:latin typeface="Segoe UI"/>
              </a:rPr>
              <a:t>TẦNG ĐÁM MÂY</a:t>
            </a:r>
          </a:p>
        </p:txBody>
      </p:sp>
      <p:sp>
        <p:nvSpPr>
          <p:cNvPr id="25" name="TextBox 24"/>
          <p:cNvSpPr txBox="1"/>
          <p:nvPr/>
        </p:nvSpPr>
        <p:spPr>
          <a:xfrm>
            <a:off x="1005840" y="5358384"/>
            <a:ext cx="4206240" cy="201168"/>
          </a:xfrm>
          <a:prstGeom prst="rect">
            <a:avLst/>
          </a:prstGeom>
          <a:noFill/>
        </p:spPr>
        <p:txBody>
          <a:bodyPr wrap="square" lIns="0" tIns="0" rIns="0" bIns="0" anchor="t">
            <a:spAutoFit/>
          </a:bodyPr>
          <a:lstStyle/>
          <a:p>
            <a:pPr algn="l">
              <a:lnSpc>
                <a:spcPct val="100000"/>
              </a:lnSpc>
            </a:pPr>
            <a:r>
              <a:rPr sz="900" b="0" i="0">
                <a:solidFill>
                  <a:srgbClr val="6B7C90"/>
                </a:solidFill>
                <a:latin typeface="Consolas"/>
              </a:rPr>
              <a:t>FastAPI · PostgreSQL · Redis</a:t>
            </a:r>
          </a:p>
        </p:txBody>
      </p:sp>
      <p:sp>
        <p:nvSpPr>
          <p:cNvPr id="26" name="TextBox 25"/>
          <p:cNvSpPr txBox="1"/>
          <p:nvPr/>
        </p:nvSpPr>
        <p:spPr>
          <a:xfrm>
            <a:off x="1005840" y="5650992"/>
            <a:ext cx="4206240" cy="274320"/>
          </a:xfrm>
          <a:prstGeom prst="rect">
            <a:avLst/>
          </a:prstGeom>
          <a:noFill/>
        </p:spPr>
        <p:txBody>
          <a:bodyPr wrap="square" lIns="0" tIns="0" rIns="0" bIns="0" anchor="t">
            <a:spAutoFit/>
          </a:bodyPr>
          <a:lstStyle/>
          <a:p>
            <a:pPr algn="l">
              <a:lnSpc>
                <a:spcPct val="100000"/>
              </a:lnSpc>
            </a:pPr>
            <a:r>
              <a:rPr sz="1050" b="1" i="0">
                <a:solidFill>
                  <a:srgbClr val="0044CC"/>
                </a:solidFill>
                <a:latin typeface="Consolas"/>
              </a:rPr>
              <a:t>giờ → ngày</a:t>
            </a:r>
          </a:p>
        </p:txBody>
      </p:sp>
      <p:sp>
        <p:nvSpPr>
          <p:cNvPr id="27" name="Rectangle 26"/>
          <p:cNvSpPr/>
          <p:nvPr/>
        </p:nvSpPr>
        <p:spPr>
          <a:xfrm>
            <a:off x="5468112" y="5102352"/>
            <a:ext cx="5486" cy="740664"/>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24144" y="5175504"/>
            <a:ext cx="5406847" cy="731520"/>
          </a:xfrm>
          <a:prstGeom prst="rect">
            <a:avLst/>
          </a:prstGeom>
          <a:noFill/>
        </p:spPr>
        <p:txBody>
          <a:bodyPr wrap="square" lIns="0" tIns="0" rIns="0" bIns="0" anchor="t">
            <a:spAutoFit/>
          </a:bodyPr>
          <a:lstStyle/>
          <a:p>
            <a:pPr algn="l">
              <a:lnSpc>
                <a:spcPct val="124000"/>
              </a:lnSpc>
            </a:pPr>
            <a:r>
              <a:rPr sz="1100" b="0" i="0">
                <a:solidFill>
                  <a:srgbClr val="556575"/>
                </a:solidFill>
                <a:latin typeface="Segoe UI"/>
              </a:rPr>
              <a:t>Huấn luyện lại mô hình từ dữ liệu nhiều khách · lịch sử telemetry · cấu hình thuật toán từng khách · web quản trị + app · phát hành OTA.</a:t>
            </a:r>
          </a:p>
        </p:txBody>
      </p:sp>
      <p:sp>
        <p:nvSpPr>
          <p:cNvPr id="29" name="Rectangle 28"/>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08 — mỗi tầng chỉ làm việc mà nhịp của nó cho phép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ÁNH XẠ</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09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UNO Q vào từng phần của dự án</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Không thay thế thứ gì đang chạy tốt — chỉ nhận phần việc mà tầng khác làm sai chỗ.</a:t>
            </a:r>
          </a:p>
        </p:txBody>
      </p:sp>
      <p:sp>
        <p:nvSpPr>
          <p:cNvPr id="7" name="TextBox 6"/>
          <p:cNvSpPr txBox="1"/>
          <p:nvPr/>
        </p:nvSpPr>
        <p:spPr>
          <a:xfrm>
            <a:off x="987552" y="2066543"/>
            <a:ext cx="2743200" cy="201168"/>
          </a:xfrm>
          <a:prstGeom prst="rect">
            <a:avLst/>
          </a:prstGeom>
          <a:noFill/>
        </p:spPr>
        <p:txBody>
          <a:bodyPr wrap="square" lIns="0" tIns="0" rIns="0" bIns="0" anchor="t">
            <a:spAutoFit/>
          </a:bodyPr>
          <a:lstStyle/>
          <a:p>
            <a:pPr algn="l">
              <a:lnSpc>
                <a:spcPct val="100000"/>
              </a:lnSpc>
            </a:pPr>
            <a:r>
              <a:rPr sz="800" b="1" i="0" spc="160">
                <a:solidFill>
                  <a:srgbClr val="6B7C90"/>
                </a:solidFill>
                <a:latin typeface="Segoe UI"/>
              </a:rPr>
              <a:t>PHÂN HỆ</a:t>
            </a:r>
          </a:p>
        </p:txBody>
      </p:sp>
      <p:sp>
        <p:nvSpPr>
          <p:cNvPr id="8" name="TextBox 7"/>
          <p:cNvSpPr txBox="1"/>
          <p:nvPr/>
        </p:nvSpPr>
        <p:spPr>
          <a:xfrm>
            <a:off x="4096512" y="2066543"/>
            <a:ext cx="2743200" cy="201168"/>
          </a:xfrm>
          <a:prstGeom prst="rect">
            <a:avLst/>
          </a:prstGeom>
          <a:noFill/>
        </p:spPr>
        <p:txBody>
          <a:bodyPr wrap="square" lIns="0" tIns="0" rIns="0" bIns="0" anchor="t">
            <a:spAutoFit/>
          </a:bodyPr>
          <a:lstStyle/>
          <a:p>
            <a:pPr algn="l">
              <a:lnSpc>
                <a:spcPct val="100000"/>
              </a:lnSpc>
            </a:pPr>
            <a:r>
              <a:rPr sz="800" b="1" i="0" spc="160">
                <a:solidFill>
                  <a:srgbClr val="6B7C90"/>
                </a:solidFill>
                <a:latin typeface="Segoe UI"/>
              </a:rPr>
              <a:t>HÔM NAY</a:t>
            </a:r>
          </a:p>
        </p:txBody>
      </p:sp>
      <p:sp>
        <p:nvSpPr>
          <p:cNvPr id="9" name="TextBox 8"/>
          <p:cNvSpPr txBox="1"/>
          <p:nvPr/>
        </p:nvSpPr>
        <p:spPr>
          <a:xfrm>
            <a:off x="7662671" y="2066543"/>
            <a:ext cx="36576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KHI CÓ UNO Q</a:t>
            </a:r>
          </a:p>
        </p:txBody>
      </p:sp>
      <p:sp>
        <p:nvSpPr>
          <p:cNvPr id="10" name="Rectangle 9"/>
          <p:cNvSpPr/>
          <p:nvPr/>
        </p:nvSpPr>
        <p:spPr>
          <a:xfrm>
            <a:off x="713232" y="2304287"/>
            <a:ext cx="10765231" cy="548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3232" y="2395727"/>
            <a:ext cx="10765231"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2468879"/>
            <a:ext cx="2926080" cy="237744"/>
          </a:xfrm>
          <a:prstGeom prst="rect">
            <a:avLst/>
          </a:prstGeom>
          <a:noFill/>
        </p:spPr>
        <p:txBody>
          <a:bodyPr wrap="square" lIns="0" tIns="0" rIns="0" bIns="0" anchor="t">
            <a:spAutoFit/>
          </a:bodyPr>
          <a:lstStyle/>
          <a:p>
            <a:pPr algn="l">
              <a:lnSpc>
                <a:spcPct val="100000"/>
              </a:lnSpc>
            </a:pPr>
            <a:r>
              <a:rPr sz="1050" b="1" i="0">
                <a:solidFill>
                  <a:srgbClr val="111111"/>
                </a:solidFill>
                <a:latin typeface="Segoe UI"/>
              </a:rPr>
              <a:t>Node trong nhà</a:t>
            </a:r>
          </a:p>
        </p:txBody>
      </p:sp>
      <p:sp>
        <p:nvSpPr>
          <p:cNvPr id="13" name="TextBox 12"/>
          <p:cNvSpPr txBox="1"/>
          <p:nvPr/>
        </p:nvSpPr>
        <p:spPr>
          <a:xfrm>
            <a:off x="4096512" y="2468879"/>
            <a:ext cx="3383280"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Đo + phát IR + màn hình</a:t>
            </a:r>
          </a:p>
        </p:txBody>
      </p:sp>
      <p:sp>
        <p:nvSpPr>
          <p:cNvPr id="14" name="Rectangle 13"/>
          <p:cNvSpPr/>
          <p:nvPr/>
        </p:nvSpPr>
        <p:spPr>
          <a:xfrm>
            <a:off x="7370064" y="2523744"/>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62671" y="2468879"/>
            <a:ext cx="3541471" cy="237744"/>
          </a:xfrm>
          <a:prstGeom prst="rect">
            <a:avLst/>
          </a:prstGeom>
          <a:noFill/>
        </p:spPr>
        <p:txBody>
          <a:bodyPr wrap="square" lIns="0" tIns="0" rIns="0" bIns="0" anchor="t">
            <a:spAutoFit/>
          </a:bodyPr>
          <a:lstStyle/>
          <a:p>
            <a:pPr algn="l">
              <a:lnSpc>
                <a:spcPct val="100000"/>
              </a:lnSpc>
            </a:pPr>
            <a:r>
              <a:rPr sz="1000" b="0" i="0">
                <a:solidFill>
                  <a:srgbClr val="0044CC"/>
                </a:solidFill>
                <a:latin typeface="Segoe UI"/>
              </a:rPr>
              <a:t>Giữ nguyên. Nhận nhiệt độ đặt từ biên thay vì từ Worker trên đám mây.</a:t>
            </a:r>
          </a:p>
        </p:txBody>
      </p:sp>
      <p:sp>
        <p:nvSpPr>
          <p:cNvPr id="16" name="TextBox 15"/>
          <p:cNvSpPr txBox="1"/>
          <p:nvPr/>
        </p:nvSpPr>
        <p:spPr>
          <a:xfrm>
            <a:off x="987552" y="2971800"/>
            <a:ext cx="2926080" cy="237744"/>
          </a:xfrm>
          <a:prstGeom prst="rect">
            <a:avLst/>
          </a:prstGeom>
          <a:noFill/>
        </p:spPr>
        <p:txBody>
          <a:bodyPr wrap="square" lIns="0" tIns="0" rIns="0" bIns="0" anchor="t">
            <a:spAutoFit/>
          </a:bodyPr>
          <a:lstStyle/>
          <a:p>
            <a:pPr algn="l">
              <a:lnSpc>
                <a:spcPct val="100000"/>
              </a:lnSpc>
            </a:pPr>
            <a:r>
              <a:rPr sz="1050" b="1" i="0">
                <a:solidFill>
                  <a:srgbClr val="111111"/>
                </a:solidFill>
                <a:latin typeface="Segoe UI"/>
              </a:rPr>
              <a:t>Node ngoài trời</a:t>
            </a:r>
          </a:p>
        </p:txBody>
      </p:sp>
      <p:sp>
        <p:nvSpPr>
          <p:cNvPr id="17" name="TextBox 16"/>
          <p:cNvSpPr txBox="1"/>
          <p:nvPr/>
        </p:nvSpPr>
        <p:spPr>
          <a:xfrm>
            <a:off x="4096512" y="2971800"/>
            <a:ext cx="3383280"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Gửi nhiệt độ/độ ẩm qua ESP-NOW</a:t>
            </a:r>
          </a:p>
        </p:txBody>
      </p:sp>
      <p:sp>
        <p:nvSpPr>
          <p:cNvPr id="18" name="Rectangle 17"/>
          <p:cNvSpPr/>
          <p:nvPr/>
        </p:nvSpPr>
        <p:spPr>
          <a:xfrm>
            <a:off x="7370064" y="3026664"/>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62671" y="2971800"/>
            <a:ext cx="3541471" cy="237744"/>
          </a:xfrm>
          <a:prstGeom prst="rect">
            <a:avLst/>
          </a:prstGeom>
          <a:noFill/>
        </p:spPr>
        <p:txBody>
          <a:bodyPr wrap="square" lIns="0" tIns="0" rIns="0" bIns="0" anchor="t">
            <a:spAutoFit/>
          </a:bodyPr>
          <a:lstStyle/>
          <a:p>
            <a:pPr algn="l">
              <a:lnSpc>
                <a:spcPct val="100000"/>
              </a:lnSpc>
            </a:pPr>
            <a:r>
              <a:rPr sz="1000" b="0" i="0">
                <a:solidFill>
                  <a:srgbClr val="0044CC"/>
                </a:solidFill>
                <a:latin typeface="Segoe UI"/>
              </a:rPr>
              <a:t>Giữ nguyên. Số đo thành đầu vào cho mô hình dự báo.</a:t>
            </a:r>
          </a:p>
        </p:txBody>
      </p:sp>
      <p:sp>
        <p:nvSpPr>
          <p:cNvPr id="20" name="Rectangle 19"/>
          <p:cNvSpPr/>
          <p:nvPr/>
        </p:nvSpPr>
        <p:spPr>
          <a:xfrm>
            <a:off x="713232" y="3401568"/>
            <a:ext cx="10765231"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 y="3474720"/>
            <a:ext cx="2926080" cy="237744"/>
          </a:xfrm>
          <a:prstGeom prst="rect">
            <a:avLst/>
          </a:prstGeom>
          <a:noFill/>
        </p:spPr>
        <p:txBody>
          <a:bodyPr wrap="square" lIns="0" tIns="0" rIns="0" bIns="0" anchor="t">
            <a:spAutoFit/>
          </a:bodyPr>
          <a:lstStyle/>
          <a:p>
            <a:pPr algn="l">
              <a:lnSpc>
                <a:spcPct val="100000"/>
              </a:lnSpc>
            </a:pPr>
            <a:r>
              <a:rPr sz="1050" b="1" i="0">
                <a:solidFill>
                  <a:srgbClr val="111111"/>
                </a:solidFill>
                <a:latin typeface="Segoe UI"/>
              </a:rPr>
              <a:t>Thuật toán comfort</a:t>
            </a:r>
          </a:p>
        </p:txBody>
      </p:sp>
      <p:sp>
        <p:nvSpPr>
          <p:cNvPr id="22" name="TextBox 21"/>
          <p:cNvSpPr txBox="1"/>
          <p:nvPr/>
        </p:nvSpPr>
        <p:spPr>
          <a:xfrm>
            <a:off x="4096512" y="3474720"/>
            <a:ext cx="3383280"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ASHRAE RP-884 · chạy ở Worker</a:t>
            </a:r>
          </a:p>
        </p:txBody>
      </p:sp>
      <p:sp>
        <p:nvSpPr>
          <p:cNvPr id="23" name="Rectangle 22"/>
          <p:cNvSpPr/>
          <p:nvPr/>
        </p:nvSpPr>
        <p:spPr>
          <a:xfrm>
            <a:off x="7370064" y="3529584"/>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62671" y="3474720"/>
            <a:ext cx="3541471" cy="237744"/>
          </a:xfrm>
          <a:prstGeom prst="rect">
            <a:avLst/>
          </a:prstGeom>
          <a:noFill/>
        </p:spPr>
        <p:txBody>
          <a:bodyPr wrap="square" lIns="0" tIns="0" rIns="0" bIns="0" anchor="t">
            <a:spAutoFit/>
          </a:bodyPr>
          <a:lstStyle/>
          <a:p>
            <a:pPr algn="l">
              <a:lnSpc>
                <a:spcPct val="100000"/>
              </a:lnSpc>
            </a:pPr>
            <a:r>
              <a:rPr sz="1000" b="0" i="0">
                <a:solidFill>
                  <a:srgbClr val="0044CC"/>
                </a:solidFill>
                <a:latin typeface="Segoe UI"/>
              </a:rPr>
              <a:t>GIỮ NGUYÊN CÔNG THỨC. Chuyển xuống biên, thay T_rm quá khứ bằng dự báo.</a:t>
            </a:r>
          </a:p>
        </p:txBody>
      </p:sp>
      <p:sp>
        <p:nvSpPr>
          <p:cNvPr id="25" name="TextBox 24"/>
          <p:cNvSpPr txBox="1"/>
          <p:nvPr/>
        </p:nvSpPr>
        <p:spPr>
          <a:xfrm>
            <a:off x="987552" y="3977639"/>
            <a:ext cx="2926080" cy="237744"/>
          </a:xfrm>
          <a:prstGeom prst="rect">
            <a:avLst/>
          </a:prstGeom>
          <a:noFill/>
        </p:spPr>
        <p:txBody>
          <a:bodyPr wrap="square" lIns="0" tIns="0" rIns="0" bIns="0" anchor="t">
            <a:spAutoFit/>
          </a:bodyPr>
          <a:lstStyle/>
          <a:p>
            <a:pPr algn="l">
              <a:lnSpc>
                <a:spcPct val="100000"/>
              </a:lnSpc>
            </a:pPr>
            <a:r>
              <a:rPr sz="1050" b="1" i="0">
                <a:solidFill>
                  <a:srgbClr val="111111"/>
                </a:solidFill>
                <a:latin typeface="Segoe UI"/>
              </a:rPr>
              <a:t>Hằng số 0.31 / 17.8</a:t>
            </a:r>
          </a:p>
        </p:txBody>
      </p:sp>
      <p:sp>
        <p:nvSpPr>
          <p:cNvPr id="26" name="TextBox 25"/>
          <p:cNvSpPr txBox="1"/>
          <p:nvPr/>
        </p:nvSpPr>
        <p:spPr>
          <a:xfrm>
            <a:off x="4096512" y="3977639"/>
            <a:ext cx="3383280"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Khoa học cố định, không chỉnh</a:t>
            </a:r>
          </a:p>
        </p:txBody>
      </p:sp>
      <p:sp>
        <p:nvSpPr>
          <p:cNvPr id="27" name="Rectangle 26"/>
          <p:cNvSpPr/>
          <p:nvPr/>
        </p:nvSpPr>
        <p:spPr>
          <a:xfrm>
            <a:off x="7370064" y="4032503"/>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62671" y="3977639"/>
            <a:ext cx="3541471" cy="237744"/>
          </a:xfrm>
          <a:prstGeom prst="rect">
            <a:avLst/>
          </a:prstGeom>
          <a:noFill/>
        </p:spPr>
        <p:txBody>
          <a:bodyPr wrap="square" lIns="0" tIns="0" rIns="0" bIns="0" anchor="t">
            <a:spAutoFit/>
          </a:bodyPr>
          <a:lstStyle/>
          <a:p>
            <a:pPr algn="l">
              <a:lnSpc>
                <a:spcPct val="100000"/>
              </a:lnSpc>
            </a:pPr>
            <a:r>
              <a:rPr sz="1000" b="0" i="0">
                <a:solidFill>
                  <a:srgbClr val="0044CC"/>
                </a:solidFill>
                <a:latin typeface="Segoe UI"/>
              </a:rPr>
              <a:t>Vẫn không chỉnh. Mô hình học phần BÙ cho từng phòng, không sửa hằng số.</a:t>
            </a:r>
          </a:p>
        </p:txBody>
      </p:sp>
      <p:sp>
        <p:nvSpPr>
          <p:cNvPr id="29" name="Rectangle 28"/>
          <p:cNvSpPr/>
          <p:nvPr/>
        </p:nvSpPr>
        <p:spPr>
          <a:xfrm>
            <a:off x="713232" y="4407408"/>
            <a:ext cx="10765231"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 y="4480560"/>
            <a:ext cx="2926080" cy="237744"/>
          </a:xfrm>
          <a:prstGeom prst="rect">
            <a:avLst/>
          </a:prstGeom>
          <a:noFill/>
        </p:spPr>
        <p:txBody>
          <a:bodyPr wrap="square" lIns="0" tIns="0" rIns="0" bIns="0" anchor="t">
            <a:spAutoFit/>
          </a:bodyPr>
          <a:lstStyle/>
          <a:p>
            <a:pPr algn="l">
              <a:lnSpc>
                <a:spcPct val="100000"/>
              </a:lnSpc>
            </a:pPr>
            <a:r>
              <a:rPr sz="1050" b="1" i="0">
                <a:solidFill>
                  <a:srgbClr val="111111"/>
                </a:solidFill>
                <a:latin typeface="Segoe UI"/>
              </a:rPr>
              <a:t>Cấu hình từng khách</a:t>
            </a:r>
          </a:p>
        </p:txBody>
      </p:sp>
      <p:sp>
        <p:nvSpPr>
          <p:cNvPr id="31" name="TextBox 30"/>
          <p:cNvSpPr txBox="1"/>
          <p:nvPr/>
        </p:nvSpPr>
        <p:spPr>
          <a:xfrm>
            <a:off x="4096512" y="4480560"/>
            <a:ext cx="3383280"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Nhà quản trị chỉnh tay trên web</a:t>
            </a:r>
          </a:p>
        </p:txBody>
      </p:sp>
      <p:sp>
        <p:nvSpPr>
          <p:cNvPr id="32" name="Rectangle 31"/>
          <p:cNvSpPr/>
          <p:nvPr/>
        </p:nvSpPr>
        <p:spPr>
          <a:xfrm>
            <a:off x="7370064" y="4535424"/>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662671" y="4480560"/>
            <a:ext cx="3541471" cy="237744"/>
          </a:xfrm>
          <a:prstGeom prst="rect">
            <a:avLst/>
          </a:prstGeom>
          <a:noFill/>
        </p:spPr>
        <p:txBody>
          <a:bodyPr wrap="square" lIns="0" tIns="0" rIns="0" bIns="0" anchor="t">
            <a:spAutoFit/>
          </a:bodyPr>
          <a:lstStyle/>
          <a:p>
            <a:pPr algn="l">
              <a:lnSpc>
                <a:spcPct val="100000"/>
              </a:lnSpc>
            </a:pPr>
            <a:r>
              <a:rPr sz="1000" b="0" i="0">
                <a:solidFill>
                  <a:srgbClr val="0044CC"/>
                </a:solidFill>
                <a:latin typeface="Segoe UI"/>
              </a:rPr>
              <a:t>Vẫn chỉnh tay được. Mô hình đề xuất, người vẫn có quyền quyết định.</a:t>
            </a:r>
          </a:p>
        </p:txBody>
      </p:sp>
      <p:sp>
        <p:nvSpPr>
          <p:cNvPr id="34" name="TextBox 33"/>
          <p:cNvSpPr txBox="1"/>
          <p:nvPr/>
        </p:nvSpPr>
        <p:spPr>
          <a:xfrm>
            <a:off x="987552" y="4983479"/>
            <a:ext cx="2926080" cy="237744"/>
          </a:xfrm>
          <a:prstGeom prst="rect">
            <a:avLst/>
          </a:prstGeom>
          <a:noFill/>
        </p:spPr>
        <p:txBody>
          <a:bodyPr wrap="square" lIns="0" tIns="0" rIns="0" bIns="0" anchor="t">
            <a:spAutoFit/>
          </a:bodyPr>
          <a:lstStyle/>
          <a:p>
            <a:pPr algn="l">
              <a:lnSpc>
                <a:spcPct val="100000"/>
              </a:lnSpc>
            </a:pPr>
            <a:r>
              <a:rPr sz="1050" b="1" i="0">
                <a:solidFill>
                  <a:srgbClr val="111111"/>
                </a:solidFill>
                <a:latin typeface="Segoe UI"/>
              </a:rPr>
              <a:t>Lịch sử telemetry</a:t>
            </a:r>
          </a:p>
        </p:txBody>
      </p:sp>
      <p:sp>
        <p:nvSpPr>
          <p:cNvPr id="35" name="TextBox 34"/>
          <p:cNvSpPr txBox="1"/>
          <p:nvPr/>
        </p:nvSpPr>
        <p:spPr>
          <a:xfrm>
            <a:off x="4096512" y="4983479"/>
            <a:ext cx="3383280"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Đẩy hết lên PostgreSQL</a:t>
            </a:r>
          </a:p>
        </p:txBody>
      </p:sp>
      <p:sp>
        <p:nvSpPr>
          <p:cNvPr id="36" name="Rectangle 35"/>
          <p:cNvSpPr/>
          <p:nvPr/>
        </p:nvSpPr>
        <p:spPr>
          <a:xfrm>
            <a:off x="7370064" y="5038343"/>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62671" y="4983479"/>
            <a:ext cx="3541471" cy="237744"/>
          </a:xfrm>
          <a:prstGeom prst="rect">
            <a:avLst/>
          </a:prstGeom>
          <a:noFill/>
        </p:spPr>
        <p:txBody>
          <a:bodyPr wrap="square" lIns="0" tIns="0" rIns="0" bIns="0" anchor="t">
            <a:spAutoFit/>
          </a:bodyPr>
          <a:lstStyle/>
          <a:p>
            <a:pPr algn="l">
              <a:lnSpc>
                <a:spcPct val="100000"/>
              </a:lnSpc>
            </a:pPr>
            <a:r>
              <a:rPr sz="1000" b="0" i="0">
                <a:solidFill>
                  <a:srgbClr val="0044CC"/>
                </a:solidFill>
                <a:latin typeface="Segoe UI"/>
              </a:rPr>
              <a:t>Đệm và tóm tắt tại biên, chỉ đẩy điểm cần cho huấn luyện.</a:t>
            </a:r>
          </a:p>
        </p:txBody>
      </p:sp>
      <p:sp>
        <p:nvSpPr>
          <p:cNvPr id="38" name="Rectangle 37"/>
          <p:cNvSpPr/>
          <p:nvPr/>
        </p:nvSpPr>
        <p:spPr>
          <a:xfrm>
            <a:off x="713232" y="5413248"/>
            <a:ext cx="10765231"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87552" y="5486400"/>
            <a:ext cx="2926080" cy="237744"/>
          </a:xfrm>
          <a:prstGeom prst="rect">
            <a:avLst/>
          </a:prstGeom>
          <a:noFill/>
        </p:spPr>
        <p:txBody>
          <a:bodyPr wrap="square" lIns="0" tIns="0" rIns="0" bIns="0" anchor="t">
            <a:spAutoFit/>
          </a:bodyPr>
          <a:lstStyle/>
          <a:p>
            <a:pPr algn="l">
              <a:lnSpc>
                <a:spcPct val="100000"/>
              </a:lnSpc>
            </a:pPr>
            <a:r>
              <a:rPr sz="1050" b="1" i="0">
                <a:solidFill>
                  <a:srgbClr val="111111"/>
                </a:solidFill>
                <a:latin typeface="Segoe UI"/>
              </a:rPr>
              <a:t>Mất kết nối</a:t>
            </a:r>
          </a:p>
        </p:txBody>
      </p:sp>
      <p:sp>
        <p:nvSpPr>
          <p:cNvPr id="40" name="TextBox 39"/>
          <p:cNvSpPr txBox="1"/>
          <p:nvPr/>
        </p:nvSpPr>
        <p:spPr>
          <a:xfrm>
            <a:off x="4096512" y="5486400"/>
            <a:ext cx="3383280"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Node chạy theo lệnh cuối cùng</a:t>
            </a:r>
          </a:p>
        </p:txBody>
      </p:sp>
      <p:sp>
        <p:nvSpPr>
          <p:cNvPr id="41" name="Rectangle 40"/>
          <p:cNvSpPr/>
          <p:nvPr/>
        </p:nvSpPr>
        <p:spPr>
          <a:xfrm>
            <a:off x="7370064" y="5541264"/>
            <a:ext cx="128016" cy="12801"/>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62671" y="5486400"/>
            <a:ext cx="3541471" cy="237744"/>
          </a:xfrm>
          <a:prstGeom prst="rect">
            <a:avLst/>
          </a:prstGeom>
          <a:noFill/>
        </p:spPr>
        <p:txBody>
          <a:bodyPr wrap="square" lIns="0" tIns="0" rIns="0" bIns="0" anchor="t">
            <a:spAutoFit/>
          </a:bodyPr>
          <a:lstStyle/>
          <a:p>
            <a:pPr algn="l">
              <a:lnSpc>
                <a:spcPct val="100000"/>
              </a:lnSpc>
            </a:pPr>
            <a:r>
              <a:rPr sz="1000" b="0" i="0">
                <a:solidFill>
                  <a:srgbClr val="0044CC"/>
                </a:solidFill>
                <a:latin typeface="Segoe UI"/>
              </a:rPr>
              <a:t>Biên vẫn tính ra nhiệt độ đặt mới, đầy đủ.</a:t>
            </a:r>
          </a:p>
        </p:txBody>
      </p:sp>
      <p:sp>
        <p:nvSpPr>
          <p:cNvPr id="43" name="Rectangle 42"/>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09 — chuyển quyết định xuống biên, giữ nguyên phần đã chạy tốt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TÍCH HỢP</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10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Concept và payload khi ghép UNO Q</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Ràng buộc số một: KHÔNG phá hợp đồng dây hiện tại. UNO Q vào theo hướng mở rộng — thêm loại bản tin, giữ nguyên bốn loại cũ.</a:t>
            </a:r>
          </a:p>
        </p:txBody>
      </p:sp>
      <p:sp>
        <p:nvSpPr>
          <p:cNvPr id="7" name="Freeform 6"/>
          <p:cNvSpPr/>
          <p:nvPr/>
        </p:nvSpPr>
        <p:spPr>
          <a:xfrm>
            <a:off x="713232" y="2066543"/>
            <a:ext cx="4846320" cy="3675887"/>
          </a:xfrm>
          <a:custGeom>
            <a:avLst/>
            <a:gdLst/>
            <a:ahLst/>
            <a:cxnLst/>
            <a:rect l="l" t="t" r="r" b="b"/>
            <a:pathLst>
              <a:path w="4846320" h="3675887">
                <a:moveTo>
                  <a:pt x="118872" y="0"/>
                </a:moveTo>
                <a:lnTo>
                  <a:pt x="4846320" y="0"/>
                </a:lnTo>
                <a:lnTo>
                  <a:pt x="4846320" y="3557015"/>
                </a:lnTo>
                <a:lnTo>
                  <a:pt x="4727448" y="3675887"/>
                </a:lnTo>
                <a:lnTo>
                  <a:pt x="0" y="3675887"/>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3557015"/>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2304287"/>
            <a:ext cx="420624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CONCEPT — BA THAY ĐỔI, CHỈ BA</a:t>
            </a:r>
          </a:p>
        </p:txBody>
      </p:sp>
      <p:sp>
        <p:nvSpPr>
          <p:cNvPr id="10" name="TextBox 9"/>
          <p:cNvSpPr txBox="1"/>
          <p:nvPr/>
        </p:nvSpPr>
        <p:spPr>
          <a:xfrm>
            <a:off x="987552" y="2596896"/>
            <a:ext cx="4315968" cy="2926080"/>
          </a:xfrm>
          <a:prstGeom prst="rect">
            <a:avLst/>
          </a:prstGeom>
          <a:noFill/>
        </p:spPr>
        <p:txBody>
          <a:bodyPr wrap="square" lIns="0" tIns="0" rIns="0" bIns="0" anchor="t">
            <a:spAutoFit/>
          </a:bodyPr>
          <a:lstStyle/>
          <a:p>
            <a:pPr algn="l">
              <a:lnSpc>
                <a:spcPct val="126000"/>
              </a:lnSpc>
            </a:pPr>
            <a:r>
              <a:rPr sz="1200" b="1" i="0">
                <a:solidFill>
                  <a:srgbClr val="111111"/>
                </a:solidFill>
                <a:latin typeface="Segoe UI"/>
              </a:rPr>
              <a:t>1 · Vòng quyết định đóng lại trong nhà</a:t>
            </a:r>
          </a:p>
          <a:p>
            <a:pPr algn="l">
              <a:lnSpc>
                <a:spcPct val="126000"/>
              </a:lnSpc>
            </a:pPr>
            <a:r>
              <a:rPr sz="1000" b="0" i="0">
                <a:solidFill>
                  <a:srgbClr val="556575"/>
                </a:solidFill>
                <a:latin typeface="Segoe UI"/>
              </a:rPr>
              <a:t>Comfort chạy trên Linux của UNO Q. Mất Internet thì máy lạnh vẫn điều khiển đúng; chỉ việc học và đồng bộ dừng.</a:t>
            </a:r>
          </a:p>
          <a:p>
            <a:pPr algn="l">
              <a:lnSpc>
                <a:spcPct val="126000"/>
              </a:lnSpc>
            </a:pPr>
            <a:r>
              <a:rPr sz="1200" b="1" i="0">
                <a:solidFill>
                  <a:srgbClr val="111111"/>
                </a:solidFill>
                <a:latin typeface="Segoe UI"/>
              </a:rPr>
              <a:t>2 · T_rm chuyển từ quá khứ sang dự báo</a:t>
            </a:r>
          </a:p>
          <a:p>
            <a:pPr algn="l">
              <a:lnSpc>
                <a:spcPct val="126000"/>
              </a:lnSpc>
            </a:pPr>
            <a:r>
              <a:rPr sz="1000" b="0" i="0">
                <a:solidFill>
                  <a:srgbClr val="556575"/>
                </a:solidFill>
                <a:latin typeface="Segoe UI"/>
              </a:rPr>
              <a:t>Đầu ra mô hình cắm vào ĐÚNG CHỖ T_rm đang đứng. Hằng số hồi quy không đụng tới.</a:t>
            </a:r>
          </a:p>
          <a:p>
            <a:pPr algn="l">
              <a:lnSpc>
                <a:spcPct val="126000"/>
              </a:lnSpc>
            </a:pPr>
            <a:r>
              <a:rPr sz="1200" b="1" i="0">
                <a:solidFill>
                  <a:srgbClr val="111111"/>
                </a:solidFill>
                <a:latin typeface="Segoe UI"/>
              </a:rPr>
              <a:t>3 · ESP32 trong nhà nhẹ đi</a:t>
            </a:r>
          </a:p>
          <a:p>
            <a:pPr algn="l">
              <a:lnSpc>
                <a:spcPct val="126000"/>
              </a:lnSpc>
            </a:pPr>
            <a:r>
              <a:rPr sz="1000" b="0" i="0">
                <a:solidFill>
                  <a:srgbClr val="556575"/>
                </a:solidFill>
                <a:latin typeface="Segoe UI"/>
              </a:rPr>
              <a:t>Chỉ còn màn hình và cảm ứng — hết cảnh một chip gánh bốn việc.</a:t>
            </a:r>
          </a:p>
        </p:txBody>
      </p:sp>
      <p:sp>
        <p:nvSpPr>
          <p:cNvPr id="11" name="TextBox 10"/>
          <p:cNvSpPr txBox="1"/>
          <p:nvPr/>
        </p:nvSpPr>
        <p:spPr>
          <a:xfrm>
            <a:off x="987552" y="4389120"/>
            <a:ext cx="4206240" cy="201168"/>
          </a:xfrm>
          <a:prstGeom prst="rect">
            <a:avLst/>
          </a:prstGeom>
          <a:noFill/>
        </p:spPr>
        <p:txBody>
          <a:bodyPr wrap="square" lIns="0" tIns="0" rIns="0" bIns="0" anchor="t">
            <a:spAutoFit/>
          </a:bodyPr>
          <a:lstStyle/>
          <a:p>
            <a:pPr algn="l">
              <a:lnSpc>
                <a:spcPct val="100000"/>
              </a:lnSpc>
            </a:pPr>
            <a:r>
              <a:rPr sz="800" b="1" i="0" spc="160">
                <a:solidFill>
                  <a:srgbClr val="6B7C90"/>
                </a:solidFill>
                <a:latin typeface="Segoe UI"/>
              </a:rPr>
              <a:t>ĐƯỜNG ĐI CỦA MỘT QUYẾT ĐỊNH</a:t>
            </a:r>
          </a:p>
        </p:txBody>
      </p:sp>
      <p:sp>
        <p:nvSpPr>
          <p:cNvPr id="12" name="TextBox 11"/>
          <p:cNvSpPr txBox="1"/>
          <p:nvPr/>
        </p:nvSpPr>
        <p:spPr>
          <a:xfrm>
            <a:off x="987552" y="4645152"/>
            <a:ext cx="4315968" cy="475488"/>
          </a:xfrm>
          <a:prstGeom prst="rect">
            <a:avLst/>
          </a:prstGeom>
          <a:noFill/>
        </p:spPr>
        <p:txBody>
          <a:bodyPr wrap="square" lIns="0" tIns="0" rIns="0" bIns="0" anchor="t">
            <a:spAutoFit/>
          </a:bodyPr>
          <a:lstStyle/>
          <a:p>
            <a:pPr algn="l">
              <a:lnSpc>
                <a:spcPct val="118000"/>
              </a:lnSpc>
            </a:pPr>
            <a:r>
              <a:rPr sz="850" b="1" i="0">
                <a:solidFill>
                  <a:srgbClr val="C12727"/>
                </a:solidFill>
                <a:latin typeface="Consolas"/>
              </a:rPr>
              <a:t>HÔM NAY</a:t>
            </a:r>
          </a:p>
          <a:p>
            <a:pPr algn="l">
              <a:lnSpc>
                <a:spcPct val="118000"/>
              </a:lnSpc>
            </a:pPr>
            <a:r>
              <a:rPr sz="1000" b="0" i="0">
                <a:solidFill>
                  <a:srgbClr val="556575"/>
                </a:solidFill>
                <a:latin typeface="Consolas"/>
              </a:rPr>
              <a:t>node → broker → worker → node</a:t>
            </a:r>
          </a:p>
          <a:p>
            <a:pPr algn="l">
              <a:lnSpc>
                <a:spcPct val="118000"/>
              </a:lnSpc>
            </a:pPr>
            <a:r>
              <a:rPr sz="850" b="0" i="0">
                <a:solidFill>
                  <a:srgbClr val="556575"/>
                </a:solidFill>
                <a:latin typeface="Consolas"/>
              </a:rPr>
              <a:t>mọi quyết định đi vòng qua Internet</a:t>
            </a:r>
          </a:p>
        </p:txBody>
      </p:sp>
      <p:sp>
        <p:nvSpPr>
          <p:cNvPr id="13" name="TextBox 12"/>
          <p:cNvSpPr txBox="1"/>
          <p:nvPr/>
        </p:nvSpPr>
        <p:spPr>
          <a:xfrm>
            <a:off x="987552" y="5193792"/>
            <a:ext cx="4315968" cy="475488"/>
          </a:xfrm>
          <a:prstGeom prst="rect">
            <a:avLst/>
          </a:prstGeom>
          <a:noFill/>
        </p:spPr>
        <p:txBody>
          <a:bodyPr wrap="square" lIns="0" tIns="0" rIns="0" bIns="0" anchor="t">
            <a:spAutoFit/>
          </a:bodyPr>
          <a:lstStyle/>
          <a:p>
            <a:pPr algn="l">
              <a:lnSpc>
                <a:spcPct val="118000"/>
              </a:lnSpc>
            </a:pPr>
            <a:r>
              <a:rPr sz="850" b="1" i="0">
                <a:solidFill>
                  <a:srgbClr val="007A45"/>
                </a:solidFill>
                <a:latin typeface="Consolas"/>
              </a:rPr>
              <a:t>KHI CÓ UNO Q</a:t>
            </a:r>
          </a:p>
          <a:p>
            <a:pPr algn="l">
              <a:lnSpc>
                <a:spcPct val="118000"/>
              </a:lnSpc>
            </a:pPr>
            <a:r>
              <a:rPr sz="1000" b="0" i="0">
                <a:solidFill>
                  <a:srgbClr val="0044CC"/>
                </a:solidFill>
                <a:latin typeface="Consolas"/>
              </a:rPr>
              <a:t>node → UNO Q → máy lạnh</a:t>
            </a:r>
          </a:p>
          <a:p>
            <a:pPr algn="l">
              <a:lnSpc>
                <a:spcPct val="118000"/>
              </a:lnSpc>
            </a:pPr>
            <a:r>
              <a:rPr sz="850" b="0" i="0">
                <a:solidFill>
                  <a:srgbClr val="556575"/>
                </a:solidFill>
                <a:latin typeface="Consolas"/>
              </a:rPr>
              <a:t>     └→ cloud, chỉ để học lại</a:t>
            </a:r>
          </a:p>
        </p:txBody>
      </p:sp>
      <p:sp>
        <p:nvSpPr>
          <p:cNvPr id="14" name="Freeform 13"/>
          <p:cNvSpPr/>
          <p:nvPr/>
        </p:nvSpPr>
        <p:spPr>
          <a:xfrm>
            <a:off x="5888736" y="2066543"/>
            <a:ext cx="5589727" cy="3675887"/>
          </a:xfrm>
          <a:custGeom>
            <a:avLst/>
            <a:gdLst/>
            <a:ahLst/>
            <a:cxnLst/>
            <a:rect l="l" t="t" r="r" b="b"/>
            <a:pathLst>
              <a:path w="5589727" h="3675887">
                <a:moveTo>
                  <a:pt x="118872" y="0"/>
                </a:moveTo>
                <a:lnTo>
                  <a:pt x="5589727" y="0"/>
                </a:lnTo>
                <a:lnTo>
                  <a:pt x="5589727" y="3557015"/>
                </a:lnTo>
                <a:lnTo>
                  <a:pt x="5470855" y="3675887"/>
                </a:lnTo>
                <a:lnTo>
                  <a:pt x="0" y="3675887"/>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88736" y="2185415"/>
            <a:ext cx="32004" cy="3557015"/>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63056" y="2304287"/>
            <a:ext cx="4937760" cy="201168"/>
          </a:xfrm>
          <a:prstGeom prst="rect">
            <a:avLst/>
          </a:prstGeom>
          <a:noFill/>
        </p:spPr>
        <p:txBody>
          <a:bodyPr wrap="square" lIns="0" tIns="0" rIns="0" bIns="0" anchor="t">
            <a:spAutoFit/>
          </a:bodyPr>
          <a:lstStyle/>
          <a:p>
            <a:pPr algn="l">
              <a:lnSpc>
                <a:spcPct val="100000"/>
              </a:lnSpc>
            </a:pPr>
            <a:r>
              <a:rPr sz="800" b="1" i="0" spc="160">
                <a:solidFill>
                  <a:srgbClr val="007A45"/>
                </a:solidFill>
                <a:latin typeface="Segoe UI"/>
              </a:rPr>
              <a:t>PAYLOAD — 3 GÓI TIN MỚI, MỖI GÓI MỘT CÂU HỎI</a:t>
            </a:r>
          </a:p>
        </p:txBody>
      </p:sp>
      <p:sp>
        <p:nvSpPr>
          <p:cNvPr id="17" name="TextBox 16"/>
          <p:cNvSpPr txBox="1"/>
          <p:nvPr/>
        </p:nvSpPr>
        <p:spPr>
          <a:xfrm>
            <a:off x="6163056" y="2596896"/>
            <a:ext cx="5059375" cy="201168"/>
          </a:xfrm>
          <a:prstGeom prst="rect">
            <a:avLst/>
          </a:prstGeom>
          <a:noFill/>
        </p:spPr>
        <p:txBody>
          <a:bodyPr wrap="square" lIns="0" tIns="0" rIns="0" bIns="0" anchor="t">
            <a:spAutoFit/>
          </a:bodyPr>
          <a:lstStyle/>
          <a:p>
            <a:pPr algn="l">
              <a:lnSpc>
                <a:spcPct val="100000"/>
              </a:lnSpc>
            </a:pPr>
            <a:r>
              <a:rPr sz="950" b="1" i="0">
                <a:solidFill>
                  <a:srgbClr val="007A45"/>
                </a:solidFill>
                <a:latin typeface="Consolas"/>
              </a:rPr>
              <a:t>forecast</a:t>
            </a:r>
          </a:p>
        </p:txBody>
      </p:sp>
      <p:sp>
        <p:nvSpPr>
          <p:cNvPr id="18" name="TextBox 17"/>
          <p:cNvSpPr txBox="1"/>
          <p:nvPr/>
        </p:nvSpPr>
        <p:spPr>
          <a:xfrm>
            <a:off x="6163056" y="2816352"/>
            <a:ext cx="5059375" cy="219456"/>
          </a:xfrm>
          <a:prstGeom prst="rect">
            <a:avLst/>
          </a:prstGeom>
          <a:noFill/>
        </p:spPr>
        <p:txBody>
          <a:bodyPr wrap="square" lIns="0" tIns="0" rIns="0" bIns="0" anchor="t">
            <a:spAutoFit/>
          </a:bodyPr>
          <a:lstStyle/>
          <a:p>
            <a:pPr algn="l">
              <a:lnSpc>
                <a:spcPct val="100000"/>
              </a:lnSpc>
            </a:pPr>
            <a:r>
              <a:rPr sz="1200" b="1" i="0">
                <a:solidFill>
                  <a:srgbClr val="111111"/>
                </a:solidFill>
                <a:latin typeface="Segoe UI"/>
              </a:rPr>
              <a:t>“Sắp tới trời nóng cỡ nào?”</a:t>
            </a:r>
          </a:p>
        </p:txBody>
      </p:sp>
      <p:sp>
        <p:nvSpPr>
          <p:cNvPr id="19" name="TextBox 18"/>
          <p:cNvSpPr txBox="1"/>
          <p:nvPr/>
        </p:nvSpPr>
        <p:spPr>
          <a:xfrm>
            <a:off x="6163056" y="3054096"/>
            <a:ext cx="5059375" cy="566928"/>
          </a:xfrm>
          <a:prstGeom prst="rect">
            <a:avLst/>
          </a:prstGeom>
          <a:noFill/>
        </p:spPr>
        <p:txBody>
          <a:bodyPr wrap="square" lIns="0" tIns="0" rIns="0" bIns="0" anchor="t">
            <a:spAutoFit/>
          </a:bodyPr>
          <a:lstStyle/>
          <a:p>
            <a:pPr algn="l">
              <a:lnSpc>
                <a:spcPct val="116000"/>
              </a:lnSpc>
            </a:pPr>
            <a:r>
              <a:rPr sz="950" b="0" i="0">
                <a:solidFill>
                  <a:srgbClr val="556575"/>
                </a:solidFill>
                <a:latin typeface="Segoe UI"/>
              </a:rPr>
              <a:t>Biên gửi lên: 30 phút nữa ngoài trời 31,4 °C, sai số 0,5. Con số sai số quan trọng ngang con số dự báo — sai số lớn quá thì hệ TỰ BỎ dự báo, quay về cách tính cũ. Mô hình biết lúc nào nó đang đoán mò.</a:t>
            </a:r>
          </a:p>
        </p:txBody>
      </p:sp>
      <p:sp>
        <p:nvSpPr>
          <p:cNvPr id="20" name="TextBox 19"/>
          <p:cNvSpPr txBox="1"/>
          <p:nvPr/>
        </p:nvSpPr>
        <p:spPr>
          <a:xfrm>
            <a:off x="6163056" y="3657600"/>
            <a:ext cx="5059375" cy="201168"/>
          </a:xfrm>
          <a:prstGeom prst="rect">
            <a:avLst/>
          </a:prstGeom>
          <a:noFill/>
        </p:spPr>
        <p:txBody>
          <a:bodyPr wrap="square" lIns="0" tIns="0" rIns="0" bIns="0" anchor="t">
            <a:spAutoFit/>
          </a:bodyPr>
          <a:lstStyle/>
          <a:p>
            <a:pPr algn="l">
              <a:lnSpc>
                <a:spcPct val="100000"/>
              </a:lnSpc>
            </a:pPr>
            <a:r>
              <a:rPr sz="950" b="1" i="0">
                <a:solidFill>
                  <a:srgbClr val="007A45"/>
                </a:solidFill>
                <a:latin typeface="Consolas"/>
              </a:rPr>
              <a:t>presence</a:t>
            </a:r>
          </a:p>
        </p:txBody>
      </p:sp>
      <p:sp>
        <p:nvSpPr>
          <p:cNvPr id="21" name="TextBox 20"/>
          <p:cNvSpPr txBox="1"/>
          <p:nvPr/>
        </p:nvSpPr>
        <p:spPr>
          <a:xfrm>
            <a:off x="6163056" y="3877056"/>
            <a:ext cx="5059375" cy="219456"/>
          </a:xfrm>
          <a:prstGeom prst="rect">
            <a:avLst/>
          </a:prstGeom>
          <a:noFill/>
        </p:spPr>
        <p:txBody>
          <a:bodyPr wrap="square" lIns="0" tIns="0" rIns="0" bIns="0" anchor="t">
            <a:spAutoFit/>
          </a:bodyPr>
          <a:lstStyle/>
          <a:p>
            <a:pPr algn="l">
              <a:lnSpc>
                <a:spcPct val="100000"/>
              </a:lnSpc>
            </a:pPr>
            <a:r>
              <a:rPr sz="1200" b="1" i="0">
                <a:solidFill>
                  <a:srgbClr val="111111"/>
                </a:solidFill>
                <a:latin typeface="Segoe UI"/>
              </a:rPr>
              <a:t>“Trong phòng có người không?”</a:t>
            </a:r>
          </a:p>
        </p:txBody>
      </p:sp>
      <p:sp>
        <p:nvSpPr>
          <p:cNvPr id="22" name="TextBox 21"/>
          <p:cNvSpPr txBox="1"/>
          <p:nvPr/>
        </p:nvSpPr>
        <p:spPr>
          <a:xfrm>
            <a:off x="6163056" y="4114800"/>
            <a:ext cx="5059375" cy="566928"/>
          </a:xfrm>
          <a:prstGeom prst="rect">
            <a:avLst/>
          </a:prstGeom>
          <a:noFill/>
        </p:spPr>
        <p:txBody>
          <a:bodyPr wrap="square" lIns="0" tIns="0" rIns="0" bIns="0" anchor="t">
            <a:spAutoFit/>
          </a:bodyPr>
          <a:lstStyle/>
          <a:p>
            <a:pPr algn="l">
              <a:lnSpc>
                <a:spcPct val="116000"/>
              </a:lnSpc>
            </a:pPr>
            <a:r>
              <a:rPr sz="950" b="0" i="0">
                <a:solidFill>
                  <a:srgbClr val="556575"/>
                </a:solidFill>
                <a:latin typeface="Segoe UI"/>
              </a:rPr>
              <a:t>Cảm biến chuyển động HC-SR501 báo có người hay phòng trống, kèm mức tin cậy. Gói này được GIỮ LẠI trên broker, nên hệ vừa khởi động lại là biết ngay tình trạng phòng, không phải chờ ai đó cử động.</a:t>
            </a:r>
          </a:p>
        </p:txBody>
      </p:sp>
      <p:sp>
        <p:nvSpPr>
          <p:cNvPr id="23" name="TextBox 22"/>
          <p:cNvSpPr txBox="1"/>
          <p:nvPr/>
        </p:nvSpPr>
        <p:spPr>
          <a:xfrm>
            <a:off x="6163056" y="4718304"/>
            <a:ext cx="5059375" cy="201168"/>
          </a:xfrm>
          <a:prstGeom prst="rect">
            <a:avLst/>
          </a:prstGeom>
          <a:noFill/>
        </p:spPr>
        <p:txBody>
          <a:bodyPr wrap="square" lIns="0" tIns="0" rIns="0" bIns="0" anchor="t">
            <a:spAutoFit/>
          </a:bodyPr>
          <a:lstStyle/>
          <a:p>
            <a:pPr algn="l">
              <a:lnSpc>
                <a:spcPct val="100000"/>
              </a:lnSpc>
            </a:pPr>
            <a:r>
              <a:rPr sz="950" b="1" i="0">
                <a:solidFill>
                  <a:srgbClr val="007A45"/>
                </a:solidFill>
                <a:latin typeface="Consolas"/>
              </a:rPr>
              <a:t>model</a:t>
            </a:r>
          </a:p>
        </p:txBody>
      </p:sp>
      <p:sp>
        <p:nvSpPr>
          <p:cNvPr id="24" name="TextBox 23"/>
          <p:cNvSpPr txBox="1"/>
          <p:nvPr/>
        </p:nvSpPr>
        <p:spPr>
          <a:xfrm>
            <a:off x="6163056" y="4937760"/>
            <a:ext cx="5059375" cy="219456"/>
          </a:xfrm>
          <a:prstGeom prst="rect">
            <a:avLst/>
          </a:prstGeom>
          <a:noFill/>
        </p:spPr>
        <p:txBody>
          <a:bodyPr wrap="square" lIns="0" tIns="0" rIns="0" bIns="0" anchor="t">
            <a:spAutoFit/>
          </a:bodyPr>
          <a:lstStyle/>
          <a:p>
            <a:pPr algn="l">
              <a:lnSpc>
                <a:spcPct val="100000"/>
              </a:lnSpc>
            </a:pPr>
            <a:r>
              <a:rPr sz="1200" b="1" i="0">
                <a:solidFill>
                  <a:srgbClr val="111111"/>
                </a:solidFill>
                <a:latin typeface="Segoe UI"/>
              </a:rPr>
              <a:t>“Có bản mô hình mới chưa?”</a:t>
            </a:r>
          </a:p>
        </p:txBody>
      </p:sp>
      <p:sp>
        <p:nvSpPr>
          <p:cNvPr id="25" name="TextBox 24"/>
          <p:cNvSpPr txBox="1"/>
          <p:nvPr/>
        </p:nvSpPr>
        <p:spPr>
          <a:xfrm>
            <a:off x="6163056" y="5175504"/>
            <a:ext cx="5059375" cy="566928"/>
          </a:xfrm>
          <a:prstGeom prst="rect">
            <a:avLst/>
          </a:prstGeom>
          <a:noFill/>
        </p:spPr>
        <p:txBody>
          <a:bodyPr wrap="square" lIns="0" tIns="0" rIns="0" bIns="0" anchor="t">
            <a:spAutoFit/>
          </a:bodyPr>
          <a:lstStyle/>
          <a:p>
            <a:pPr algn="l">
              <a:lnSpc>
                <a:spcPct val="116000"/>
              </a:lnSpc>
            </a:pPr>
            <a:r>
              <a:rPr sz="950" b="0" i="0">
                <a:solidFill>
                  <a:srgbClr val="556575"/>
                </a:solidFill>
                <a:latin typeface="Segoe UI"/>
              </a:rPr>
              <a:t>Đám mây đẩy mô hình mới xuống, kèm mã kiểm tra tính toàn vẹn và số hiệu bản cũ để quay lui. Nạp lỗi thì thiết bị tự về bản trước — không có chuyện một bản hỏng làm chết cả đàn thiết bị.</a:t>
            </a:r>
          </a:p>
        </p:txBody>
      </p:sp>
      <p:sp>
        <p:nvSpPr>
          <p:cNvPr id="26" name="Rectangle 25"/>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10 — cộng thêm khối "why" vào state: ai quyết (edge/cloud/manual) · docs/uno-q-edge-ai-concept-va-payload.md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MÔ HÌNH 01</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11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Dự báo T_rm — thay quá khứ bằng tương lai</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Đầu ra cắm thẳng vào chỗ T_rm đang đứng trong công thức. Không sửa gì khác trong pipeline.</a:t>
            </a:r>
          </a:p>
        </p:txBody>
      </p:sp>
      <p:sp>
        <p:nvSpPr>
          <p:cNvPr id="7" name="Freeform 6"/>
          <p:cNvSpPr/>
          <p:nvPr/>
        </p:nvSpPr>
        <p:spPr>
          <a:xfrm>
            <a:off x="713232" y="2066543"/>
            <a:ext cx="4206240" cy="3218688"/>
          </a:xfrm>
          <a:custGeom>
            <a:avLst/>
            <a:gdLst/>
            <a:ahLst/>
            <a:cxnLst/>
            <a:rect l="l" t="t" r="r" b="b"/>
            <a:pathLst>
              <a:path w="4206240" h="3218688">
                <a:moveTo>
                  <a:pt x="118872" y="0"/>
                </a:moveTo>
                <a:lnTo>
                  <a:pt x="4206240" y="0"/>
                </a:lnTo>
                <a:lnTo>
                  <a:pt x="4206240" y="3099816"/>
                </a:lnTo>
                <a:lnTo>
                  <a:pt x="4087368" y="3218688"/>
                </a:lnTo>
                <a:lnTo>
                  <a:pt x="0" y="321868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322576"/>
            <a:ext cx="36576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ĐẦU VÀO — ĐÃ CÓ SẴN TRONG COMFORT_LOG</a:t>
            </a:r>
          </a:p>
        </p:txBody>
      </p:sp>
      <p:sp>
        <p:nvSpPr>
          <p:cNvPr id="9" name="Rectangle 8"/>
          <p:cNvSpPr/>
          <p:nvPr/>
        </p:nvSpPr>
        <p:spPr>
          <a:xfrm>
            <a:off x="987552" y="2734056"/>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2670048"/>
            <a:ext cx="3566160" cy="219456"/>
          </a:xfrm>
          <a:prstGeom prst="rect">
            <a:avLst/>
          </a:prstGeom>
          <a:noFill/>
        </p:spPr>
        <p:txBody>
          <a:bodyPr wrap="square" lIns="0" tIns="0" rIns="0" bIns="0" anchor="t">
            <a:spAutoFit/>
          </a:bodyPr>
          <a:lstStyle/>
          <a:p>
            <a:pPr algn="l">
              <a:lnSpc>
                <a:spcPct val="100000"/>
              </a:lnSpc>
            </a:pPr>
            <a:r>
              <a:rPr sz="1050" b="0" i="0">
                <a:solidFill>
                  <a:srgbClr val="111111"/>
                </a:solidFill>
                <a:latin typeface="Segoe UI"/>
              </a:rPr>
              <a:t>t_out · h_out</a:t>
            </a:r>
          </a:p>
        </p:txBody>
      </p:sp>
      <p:sp>
        <p:nvSpPr>
          <p:cNvPr id="11" name="TextBox 10"/>
          <p:cNvSpPr txBox="1"/>
          <p:nvPr/>
        </p:nvSpPr>
        <p:spPr>
          <a:xfrm>
            <a:off x="1188720" y="2880360"/>
            <a:ext cx="3566160"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ghi mỗi chu kỳ quyết định</a:t>
            </a:r>
          </a:p>
        </p:txBody>
      </p:sp>
      <p:sp>
        <p:nvSpPr>
          <p:cNvPr id="12" name="Rectangle 11"/>
          <p:cNvSpPr/>
          <p:nvPr/>
        </p:nvSpPr>
        <p:spPr>
          <a:xfrm>
            <a:off x="987552" y="3246120"/>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182112"/>
            <a:ext cx="3566160" cy="219456"/>
          </a:xfrm>
          <a:prstGeom prst="rect">
            <a:avLst/>
          </a:prstGeom>
          <a:noFill/>
        </p:spPr>
        <p:txBody>
          <a:bodyPr wrap="square" lIns="0" tIns="0" rIns="0" bIns="0" anchor="t">
            <a:spAutoFit/>
          </a:bodyPr>
          <a:lstStyle/>
          <a:p>
            <a:pPr algn="l">
              <a:lnSpc>
                <a:spcPct val="100000"/>
              </a:lnSpc>
            </a:pPr>
            <a:r>
              <a:rPr sz="1050" b="0" i="0">
                <a:solidFill>
                  <a:srgbClr val="111111"/>
                </a:solidFill>
                <a:latin typeface="Segoe UI"/>
              </a:rPr>
              <a:t>t_in · h_in</a:t>
            </a:r>
          </a:p>
        </p:txBody>
      </p:sp>
      <p:sp>
        <p:nvSpPr>
          <p:cNvPr id="14" name="TextBox 13"/>
          <p:cNvSpPr txBox="1"/>
          <p:nvPr/>
        </p:nvSpPr>
        <p:spPr>
          <a:xfrm>
            <a:off x="1188720" y="3392424"/>
            <a:ext cx="3566160"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ghi mỗi chu kỳ quyết định</a:t>
            </a:r>
          </a:p>
        </p:txBody>
      </p:sp>
      <p:sp>
        <p:nvSpPr>
          <p:cNvPr id="15" name="Rectangle 14"/>
          <p:cNvSpPr/>
          <p:nvPr/>
        </p:nvSpPr>
        <p:spPr>
          <a:xfrm>
            <a:off x="987552" y="3758184"/>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3694176"/>
            <a:ext cx="3566160" cy="219456"/>
          </a:xfrm>
          <a:prstGeom prst="rect">
            <a:avLst/>
          </a:prstGeom>
          <a:noFill/>
        </p:spPr>
        <p:txBody>
          <a:bodyPr wrap="square" lIns="0" tIns="0" rIns="0" bIns="0" anchor="t">
            <a:spAutoFit/>
          </a:bodyPr>
          <a:lstStyle/>
          <a:p>
            <a:pPr algn="l">
              <a:lnSpc>
                <a:spcPct val="100000"/>
              </a:lnSpc>
            </a:pPr>
            <a:r>
              <a:rPr sz="1050" b="0" i="0">
                <a:solidFill>
                  <a:srgbClr val="111111"/>
                </a:solidFill>
                <a:latin typeface="Segoe UI"/>
              </a:rPr>
              <a:t>t_rm · t_neutral</a:t>
            </a:r>
          </a:p>
        </p:txBody>
      </p:sp>
      <p:sp>
        <p:nvSpPr>
          <p:cNvPr id="17" name="TextBox 16"/>
          <p:cNvSpPr txBox="1"/>
          <p:nvPr/>
        </p:nvSpPr>
        <p:spPr>
          <a:xfrm>
            <a:off x="1188720" y="3904488"/>
            <a:ext cx="3566160"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biến trung gian đã lưu</a:t>
            </a:r>
          </a:p>
        </p:txBody>
      </p:sp>
      <p:sp>
        <p:nvSpPr>
          <p:cNvPr id="18" name="Rectangle 17"/>
          <p:cNvSpPr/>
          <p:nvPr/>
        </p:nvSpPr>
        <p:spPr>
          <a:xfrm>
            <a:off x="987552" y="4270248"/>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4206240"/>
            <a:ext cx="3566160" cy="219456"/>
          </a:xfrm>
          <a:prstGeom prst="rect">
            <a:avLst/>
          </a:prstGeom>
          <a:noFill/>
        </p:spPr>
        <p:txBody>
          <a:bodyPr wrap="square" lIns="0" tIns="0" rIns="0" bIns="0" anchor="t">
            <a:spAutoFit/>
          </a:bodyPr>
          <a:lstStyle/>
          <a:p>
            <a:pPr algn="l">
              <a:lnSpc>
                <a:spcPct val="100000"/>
              </a:lnSpc>
            </a:pPr>
            <a:r>
              <a:rPr sz="1050" b="0" i="0">
                <a:solidFill>
                  <a:srgbClr val="111111"/>
                </a:solidFill>
                <a:latin typeface="Segoe UI"/>
              </a:rPr>
              <a:t>humid_penalty · t_target</a:t>
            </a:r>
          </a:p>
        </p:txBody>
      </p:sp>
      <p:sp>
        <p:nvSpPr>
          <p:cNvPr id="20" name="TextBox 19"/>
          <p:cNvSpPr txBox="1"/>
          <p:nvPr/>
        </p:nvSpPr>
        <p:spPr>
          <a:xfrm>
            <a:off x="1188720" y="4416552"/>
            <a:ext cx="3566160"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biến trung gian đã lưu</a:t>
            </a:r>
          </a:p>
        </p:txBody>
      </p:sp>
      <p:sp>
        <p:nvSpPr>
          <p:cNvPr id="21" name="Rectangle 20"/>
          <p:cNvSpPr/>
          <p:nvPr/>
        </p:nvSpPr>
        <p:spPr>
          <a:xfrm>
            <a:off x="987552" y="4782312"/>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88720" y="4718304"/>
            <a:ext cx="3566160" cy="219456"/>
          </a:xfrm>
          <a:prstGeom prst="rect">
            <a:avLst/>
          </a:prstGeom>
          <a:noFill/>
        </p:spPr>
        <p:txBody>
          <a:bodyPr wrap="square" lIns="0" tIns="0" rIns="0" bIns="0" anchor="t">
            <a:spAutoFit/>
          </a:bodyPr>
          <a:lstStyle/>
          <a:p>
            <a:pPr algn="l">
              <a:lnSpc>
                <a:spcPct val="100000"/>
              </a:lnSpc>
            </a:pPr>
            <a:r>
              <a:rPr sz="1050" b="0" i="0">
                <a:solidFill>
                  <a:srgbClr val="111111"/>
                </a:solidFill>
                <a:latin typeface="Segoe UI"/>
              </a:rPr>
              <a:t>t_set · mode</a:t>
            </a:r>
          </a:p>
        </p:txBody>
      </p:sp>
      <p:sp>
        <p:nvSpPr>
          <p:cNvPr id="23" name="TextBox 22"/>
          <p:cNvSpPr txBox="1"/>
          <p:nvPr/>
        </p:nvSpPr>
        <p:spPr>
          <a:xfrm>
            <a:off x="1188720" y="4928616"/>
            <a:ext cx="3566160"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quyết định cuối cùng</a:t>
            </a:r>
          </a:p>
        </p:txBody>
      </p:sp>
      <p:sp>
        <p:nvSpPr>
          <p:cNvPr id="24" name="Freeform 23"/>
          <p:cNvSpPr/>
          <p:nvPr/>
        </p:nvSpPr>
        <p:spPr>
          <a:xfrm>
            <a:off x="5193792" y="2066543"/>
            <a:ext cx="6284671" cy="1536192"/>
          </a:xfrm>
          <a:custGeom>
            <a:avLst/>
            <a:gdLst/>
            <a:ahLst/>
            <a:cxnLst/>
            <a:rect l="l" t="t" r="r" b="b"/>
            <a:pathLst>
              <a:path w="6284671" h="1536192">
                <a:moveTo>
                  <a:pt x="118872" y="0"/>
                </a:moveTo>
                <a:lnTo>
                  <a:pt x="6284671" y="0"/>
                </a:lnTo>
                <a:lnTo>
                  <a:pt x="6284671" y="1417320"/>
                </a:lnTo>
                <a:lnTo>
                  <a:pt x="6165799" y="1536192"/>
                </a:lnTo>
                <a:lnTo>
                  <a:pt x="0" y="15361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93792" y="2185415"/>
            <a:ext cx="32004" cy="1417319"/>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68112" y="2304287"/>
            <a:ext cx="5754319"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DỮ LIỆU</a:t>
            </a:r>
          </a:p>
        </p:txBody>
      </p:sp>
      <p:sp>
        <p:nvSpPr>
          <p:cNvPr id="27" name="TextBox 26"/>
          <p:cNvSpPr txBox="1"/>
          <p:nvPr/>
        </p:nvSpPr>
        <p:spPr>
          <a:xfrm>
            <a:off x="5468112" y="2560320"/>
            <a:ext cx="5754319"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Tập huấn luyện đã tự tích luỹ từ ngày đầu</a:t>
            </a:r>
          </a:p>
        </p:txBody>
      </p:sp>
      <p:sp>
        <p:nvSpPr>
          <p:cNvPr id="28" name="TextBox 27"/>
          <p:cNvSpPr txBox="1"/>
          <p:nvPr/>
        </p:nvSpPr>
        <p:spPr>
          <a:xfrm>
            <a:off x="5468112" y="2907791"/>
            <a:ext cx="5754319" cy="493776"/>
          </a:xfrm>
          <a:prstGeom prst="rect">
            <a:avLst/>
          </a:prstGeom>
          <a:noFill/>
        </p:spPr>
        <p:txBody>
          <a:bodyPr wrap="square" lIns="0" tIns="0" rIns="0" bIns="0" anchor="t">
            <a:spAutoFit/>
          </a:bodyPr>
          <a:lstStyle/>
          <a:p>
            <a:pPr algn="l">
              <a:lnSpc>
                <a:spcPct val="122000"/>
              </a:lnSpc>
            </a:pPr>
            <a:r>
              <a:rPr sz="1019" b="0" i="0">
                <a:solidFill>
                  <a:srgbClr val="556575"/>
                </a:solidFill>
                <a:latin typeface="Segoe UI"/>
              </a:rPr>
              <a:t>Bảng comfort_log ghi MỘT DÒNG cho mỗi chu kỳ quyết định, kèm đủ biến trung gian. Không phải dựng lại từ đầu — chỉ cần chờ đủ dài. Đây là lý do giai đoạn 1 của lộ trình chỉ tốn thời gian chứ gần như không tốn công.</a:t>
            </a:r>
          </a:p>
        </p:txBody>
      </p:sp>
      <p:sp>
        <p:nvSpPr>
          <p:cNvPr id="29" name="Freeform 28"/>
          <p:cNvSpPr/>
          <p:nvPr/>
        </p:nvSpPr>
        <p:spPr>
          <a:xfrm>
            <a:off x="5193792" y="3749039"/>
            <a:ext cx="6284671" cy="1536192"/>
          </a:xfrm>
          <a:custGeom>
            <a:avLst/>
            <a:gdLst/>
            <a:ahLst/>
            <a:cxnLst/>
            <a:rect l="l" t="t" r="r" b="b"/>
            <a:pathLst>
              <a:path w="6284671" h="1536192">
                <a:moveTo>
                  <a:pt x="118872" y="0"/>
                </a:moveTo>
                <a:lnTo>
                  <a:pt x="6284671" y="0"/>
                </a:lnTo>
                <a:lnTo>
                  <a:pt x="6284671" y="1417320"/>
                </a:lnTo>
                <a:lnTo>
                  <a:pt x="6165799" y="1536192"/>
                </a:lnTo>
                <a:lnTo>
                  <a:pt x="0" y="15361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193792" y="3867911"/>
            <a:ext cx="32004" cy="1417319"/>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58967" y="4041648"/>
            <a:ext cx="5754319" cy="123111"/>
          </a:xfrm>
          <a:prstGeom prst="rect">
            <a:avLst/>
          </a:prstGeom>
          <a:noFill/>
        </p:spPr>
        <p:txBody>
          <a:bodyPr wrap="square" lIns="0" tIns="0" rIns="0" bIns="0" anchor="t">
            <a:spAutoFit/>
          </a:bodyPr>
          <a:lstStyle/>
          <a:p>
            <a:r>
              <a:rPr lang="vi-VN" sz="800" b="1" spc="160" dirty="0">
                <a:solidFill>
                  <a:srgbClr val="9A6200"/>
                </a:solidFill>
                <a:latin typeface="Segoe UI"/>
              </a:rPr>
              <a:t>PHƯƠNG PHÁP </a:t>
            </a:r>
            <a:r>
              <a:rPr sz="800" b="1" i="0" spc="160" dirty="0">
                <a:solidFill>
                  <a:srgbClr val="9A6200"/>
                </a:solidFill>
                <a:latin typeface="Segoe UI"/>
              </a:rPr>
              <a:t>CẢNH BÁO</a:t>
            </a:r>
          </a:p>
        </p:txBody>
      </p:sp>
      <p:sp>
        <p:nvSpPr>
          <p:cNvPr id="32" name="TextBox 31"/>
          <p:cNvSpPr txBox="1"/>
          <p:nvPr/>
        </p:nvSpPr>
        <p:spPr>
          <a:xfrm>
            <a:off x="5468112" y="4242816"/>
            <a:ext cx="5754319" cy="274320"/>
          </a:xfrm>
          <a:prstGeom prst="rect">
            <a:avLst/>
          </a:prstGeom>
          <a:noFill/>
        </p:spPr>
        <p:txBody>
          <a:bodyPr wrap="square" lIns="0" tIns="0" rIns="0" bIns="0" anchor="t">
            <a:spAutoFit/>
          </a:bodyPr>
          <a:lstStyle/>
          <a:p>
            <a:pPr algn="l">
              <a:lnSpc>
                <a:spcPct val="102000"/>
              </a:lnSpc>
            </a:pPr>
            <a:r>
              <a:rPr sz="1350" b="1" i="0" dirty="0" err="1">
                <a:solidFill>
                  <a:srgbClr val="111111"/>
                </a:solidFill>
                <a:latin typeface="Segoe UI"/>
              </a:rPr>
              <a:t>Ngưỡng</a:t>
            </a:r>
            <a:r>
              <a:rPr sz="1350" b="1" i="0" dirty="0">
                <a:solidFill>
                  <a:srgbClr val="111111"/>
                </a:solidFill>
                <a:latin typeface="Segoe UI"/>
              </a:rPr>
              <a:t> </a:t>
            </a:r>
            <a:r>
              <a:rPr sz="1350" b="1" i="0" dirty="0" err="1">
                <a:solidFill>
                  <a:srgbClr val="111111"/>
                </a:solidFill>
                <a:latin typeface="Segoe UI"/>
              </a:rPr>
              <a:t>sai</a:t>
            </a:r>
            <a:r>
              <a:rPr sz="1350" b="1" i="0" dirty="0">
                <a:solidFill>
                  <a:srgbClr val="111111"/>
                </a:solidFill>
                <a:latin typeface="Segoe UI"/>
              </a:rPr>
              <a:t> </a:t>
            </a:r>
            <a:r>
              <a:rPr sz="1350" b="1" i="0" dirty="0" err="1">
                <a:solidFill>
                  <a:srgbClr val="111111"/>
                </a:solidFill>
                <a:latin typeface="Segoe UI"/>
              </a:rPr>
              <a:t>số</a:t>
            </a:r>
            <a:r>
              <a:rPr sz="1350" b="1" i="0" dirty="0">
                <a:solidFill>
                  <a:srgbClr val="111111"/>
                </a:solidFill>
                <a:latin typeface="Segoe UI"/>
              </a:rPr>
              <a:t> </a:t>
            </a:r>
            <a:r>
              <a:rPr sz="1350" b="1" i="0" dirty="0" err="1">
                <a:solidFill>
                  <a:srgbClr val="111111"/>
                </a:solidFill>
                <a:latin typeface="Segoe UI"/>
              </a:rPr>
              <a:t>phải</a:t>
            </a:r>
            <a:r>
              <a:rPr sz="1350" b="1" i="0" dirty="0">
                <a:solidFill>
                  <a:srgbClr val="111111"/>
                </a:solidFill>
                <a:latin typeface="Segoe UI"/>
              </a:rPr>
              <a:t> neo </a:t>
            </a:r>
            <a:r>
              <a:rPr sz="1350" b="1" i="0" dirty="0" err="1">
                <a:solidFill>
                  <a:srgbClr val="111111"/>
                </a:solidFill>
                <a:latin typeface="Segoe UI"/>
              </a:rPr>
              <a:t>vào</a:t>
            </a:r>
            <a:r>
              <a:rPr sz="1350" b="1" i="0" dirty="0">
                <a:solidFill>
                  <a:srgbClr val="111111"/>
                </a:solidFill>
                <a:latin typeface="Segoe UI"/>
              </a:rPr>
              <a:t> </a:t>
            </a:r>
            <a:r>
              <a:rPr sz="1350" b="1" i="0" dirty="0" err="1">
                <a:solidFill>
                  <a:srgbClr val="111111"/>
                </a:solidFill>
                <a:latin typeface="Segoe UI"/>
              </a:rPr>
              <a:t>nhiễu</a:t>
            </a:r>
            <a:r>
              <a:rPr sz="1350" b="1" i="0" dirty="0">
                <a:solidFill>
                  <a:srgbClr val="111111"/>
                </a:solidFill>
                <a:latin typeface="Segoe UI"/>
              </a:rPr>
              <a:t> </a:t>
            </a:r>
            <a:r>
              <a:rPr sz="1350" b="1" i="0" dirty="0" err="1">
                <a:solidFill>
                  <a:srgbClr val="111111"/>
                </a:solidFill>
                <a:latin typeface="Segoe UI"/>
              </a:rPr>
              <a:t>cảm</a:t>
            </a:r>
            <a:r>
              <a:rPr sz="1350" b="1" i="0" dirty="0">
                <a:solidFill>
                  <a:srgbClr val="111111"/>
                </a:solidFill>
                <a:latin typeface="Segoe UI"/>
              </a:rPr>
              <a:t> </a:t>
            </a:r>
            <a:r>
              <a:rPr sz="1350" b="1" i="0" dirty="0" err="1">
                <a:solidFill>
                  <a:srgbClr val="111111"/>
                </a:solidFill>
                <a:latin typeface="Segoe UI"/>
              </a:rPr>
              <a:t>biến</a:t>
            </a:r>
            <a:endParaRPr sz="1350" b="1" i="0" dirty="0">
              <a:solidFill>
                <a:srgbClr val="111111"/>
              </a:solidFill>
              <a:latin typeface="Segoe UI"/>
            </a:endParaRPr>
          </a:p>
        </p:txBody>
      </p:sp>
      <p:sp>
        <p:nvSpPr>
          <p:cNvPr id="33" name="TextBox 32"/>
          <p:cNvSpPr txBox="1"/>
          <p:nvPr/>
        </p:nvSpPr>
        <p:spPr>
          <a:xfrm>
            <a:off x="5468112" y="4590288"/>
            <a:ext cx="5754319" cy="493776"/>
          </a:xfrm>
          <a:prstGeom prst="rect">
            <a:avLst/>
          </a:prstGeom>
          <a:noFill/>
        </p:spPr>
        <p:txBody>
          <a:bodyPr wrap="square" lIns="0" tIns="0" rIns="0" bIns="0" anchor="t">
            <a:spAutoFit/>
          </a:bodyPr>
          <a:lstStyle/>
          <a:p>
            <a:pPr algn="l">
              <a:lnSpc>
                <a:spcPct val="122000"/>
              </a:lnSpc>
            </a:pPr>
            <a:r>
              <a:rPr sz="1019" b="0" i="0">
                <a:solidFill>
                  <a:srgbClr val="556575"/>
                </a:solidFill>
                <a:latin typeface="Segoe UI"/>
              </a:rPr>
              <a:t>DHT22 có sai số ±0,5 °C và ±2-5 %RH — chính tài liệu model telemetry ghi vậy. Đặt mục tiêu dự báo chính xác hơn 0,5 °C là đòi mô hình chính xác hơn cái thước đo nó. Ngưỡng đúng phải so với độ nhiễu, không phải một con số đẹp.</a:t>
            </a:r>
          </a:p>
        </p:txBody>
      </p:sp>
      <p:sp>
        <p:nvSpPr>
          <p:cNvPr id="34" name="Rectangle 33"/>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11 — dự báo là nền móng; mọi thứ còn lại đứng trên nó</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MÔ HÌNH 02</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12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Tiết kiệm đến từ giờ KHÔNG chạy</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Không phải từ việc bớt nửa độ. Tám tiếng làm lạnh một phòng trống là tám tiếng điện đổ đi — không công thức nào bù lại được.</a:t>
            </a:r>
          </a:p>
        </p:txBody>
      </p:sp>
      <p:sp>
        <p:nvSpPr>
          <p:cNvPr id="7" name="Freeform 6"/>
          <p:cNvSpPr/>
          <p:nvPr/>
        </p:nvSpPr>
        <p:spPr>
          <a:xfrm>
            <a:off x="713232" y="2066543"/>
            <a:ext cx="3405530" cy="1773936"/>
          </a:xfrm>
          <a:custGeom>
            <a:avLst/>
            <a:gdLst/>
            <a:ahLst/>
            <a:cxnLst/>
            <a:rect l="l" t="t" r="r" b="b"/>
            <a:pathLst>
              <a:path w="3405530" h="1773936">
                <a:moveTo>
                  <a:pt x="118872" y="0"/>
                </a:moveTo>
                <a:lnTo>
                  <a:pt x="3405530" y="0"/>
                </a:lnTo>
                <a:lnTo>
                  <a:pt x="3405530" y="1655064"/>
                </a:lnTo>
                <a:lnTo>
                  <a:pt x="3286658" y="1773936"/>
                </a:lnTo>
                <a:lnTo>
                  <a:pt x="0" y="1773936"/>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1655064"/>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007A45"/>
                </a:solidFill>
                <a:latin typeface="Segoe UI"/>
              </a:rPr>
              <a:t>NGUỒN TIẾT KIỆM LỚN NHẤT</a:t>
            </a:r>
          </a:p>
        </p:txBody>
      </p:sp>
      <p:sp>
        <p:nvSpPr>
          <p:cNvPr id="10" name="TextBox 9"/>
          <p:cNvSpPr txBox="1"/>
          <p:nvPr/>
        </p:nvSpPr>
        <p:spPr>
          <a:xfrm>
            <a:off x="98755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Phòng trống thì tắt</a:t>
            </a:r>
          </a:p>
        </p:txBody>
      </p:sp>
      <p:sp>
        <p:nvSpPr>
          <p:cNvPr id="11" name="TextBox 10"/>
          <p:cNvSpPr txBox="1"/>
          <p:nvPr/>
        </p:nvSpPr>
        <p:spPr>
          <a:xfrm>
            <a:off x="987552" y="2907791"/>
            <a:ext cx="2875178" cy="731520"/>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Không ai trong phòng thì mỗi watt đều là lãng phí — đây là khoản lớn hơn hẳn mọi thứ tinh chỉnh setpoint cộng lại.</a:t>
            </a:r>
          </a:p>
        </p:txBody>
      </p:sp>
      <p:sp>
        <p:nvSpPr>
          <p:cNvPr id="12" name="Freeform 11"/>
          <p:cNvSpPr/>
          <p:nvPr/>
        </p:nvSpPr>
        <p:spPr>
          <a:xfrm>
            <a:off x="4393082" y="2066543"/>
            <a:ext cx="3405530" cy="1773936"/>
          </a:xfrm>
          <a:custGeom>
            <a:avLst/>
            <a:gdLst/>
            <a:ahLst/>
            <a:cxnLst/>
            <a:rect l="l" t="t" r="r" b="b"/>
            <a:pathLst>
              <a:path w="3405530" h="1773936">
                <a:moveTo>
                  <a:pt x="118872" y="0"/>
                </a:moveTo>
                <a:lnTo>
                  <a:pt x="3405530" y="0"/>
                </a:lnTo>
                <a:lnTo>
                  <a:pt x="3405530" y="1655064"/>
                </a:lnTo>
                <a:lnTo>
                  <a:pt x="3286658" y="1773936"/>
                </a:lnTo>
                <a:lnTo>
                  <a:pt x="0" y="1773936"/>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93082" y="2185415"/>
            <a:ext cx="32004" cy="1655064"/>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740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THỨ CHO PHÉP TẮT MẠNH TAY</a:t>
            </a:r>
          </a:p>
        </p:txBody>
      </p:sp>
      <p:sp>
        <p:nvSpPr>
          <p:cNvPr id="15" name="TextBox 14"/>
          <p:cNvSpPr txBox="1"/>
          <p:nvPr/>
        </p:nvSpPr>
        <p:spPr>
          <a:xfrm>
            <a:off x="466740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Bật trước khi về tới</a:t>
            </a:r>
          </a:p>
        </p:txBody>
      </p:sp>
      <p:sp>
        <p:nvSpPr>
          <p:cNvPr id="16" name="TextBox 15"/>
          <p:cNvSpPr txBox="1"/>
          <p:nvPr/>
        </p:nvSpPr>
        <p:spPr>
          <a:xfrm>
            <a:off x="4667402" y="2907791"/>
            <a:ext cx="2875178" cy="731520"/>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Mô hình học đặc tính nhiệt CỦA CHÍNH PHÒNG NÀY nên biết cần bao lâu để kéo về vùng dễ chịu — bật đúng lúc đó. Không có nó thì không ai dám tắt, vì về tới nơi phải ngồi chờ 20 phút.</a:t>
            </a:r>
          </a:p>
        </p:txBody>
      </p:sp>
      <p:sp>
        <p:nvSpPr>
          <p:cNvPr id="17" name="Freeform 16"/>
          <p:cNvSpPr/>
          <p:nvPr/>
        </p:nvSpPr>
        <p:spPr>
          <a:xfrm>
            <a:off x="8072932" y="2066543"/>
            <a:ext cx="3405530" cy="1773936"/>
          </a:xfrm>
          <a:custGeom>
            <a:avLst/>
            <a:gdLst/>
            <a:ahLst/>
            <a:cxnLst/>
            <a:rect l="l" t="t" r="r" b="b"/>
            <a:pathLst>
              <a:path w="3405530" h="1773936">
                <a:moveTo>
                  <a:pt x="118872" y="0"/>
                </a:moveTo>
                <a:lnTo>
                  <a:pt x="3405530" y="0"/>
                </a:lnTo>
                <a:lnTo>
                  <a:pt x="3405530" y="1655064"/>
                </a:lnTo>
                <a:lnTo>
                  <a:pt x="3286658" y="1773936"/>
                </a:lnTo>
                <a:lnTo>
                  <a:pt x="0" y="1773936"/>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72932" y="2185415"/>
            <a:ext cx="32004" cy="1655064"/>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725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9A6200"/>
                </a:solidFill>
                <a:latin typeface="Segoe UI"/>
              </a:rPr>
              <a:t>LÀM ĐƯỢC NGAY</a:t>
            </a:r>
          </a:p>
        </p:txBody>
      </p:sp>
      <p:sp>
        <p:nvSpPr>
          <p:cNvPr id="20" name="TextBox 19"/>
          <p:cNvSpPr txBox="1"/>
          <p:nvPr/>
        </p:nvSpPr>
        <p:spPr>
          <a:xfrm>
            <a:off x="834725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Đặt lịch tay</a:t>
            </a:r>
          </a:p>
        </p:txBody>
      </p:sp>
      <p:sp>
        <p:nvSpPr>
          <p:cNvPr id="21" name="TextBox 20"/>
          <p:cNvSpPr txBox="1"/>
          <p:nvPr/>
        </p:nvSpPr>
        <p:spPr>
          <a:xfrm>
            <a:off x="8347252" y="2907791"/>
            <a:ext cx="2875178" cy="731520"/>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Không cần AI, chạy được hôm nay. Kém hơn vì lịch cố định không biết hôm nay trời 36 °C hay 28 °C — cùng một giờ bật, kết quả khác hẳn.</a:t>
            </a:r>
          </a:p>
        </p:txBody>
      </p:sp>
      <p:sp>
        <p:nvSpPr>
          <p:cNvPr id="22" name="Freeform 21"/>
          <p:cNvSpPr/>
          <p:nvPr/>
        </p:nvSpPr>
        <p:spPr>
          <a:xfrm>
            <a:off x="713232" y="4041648"/>
            <a:ext cx="10765231" cy="1225296"/>
          </a:xfrm>
          <a:custGeom>
            <a:avLst/>
            <a:gdLst/>
            <a:ahLst/>
            <a:cxnLst/>
            <a:rect l="l" t="t" r="r" b="b"/>
            <a:pathLst>
              <a:path w="10765231" h="1225296">
                <a:moveTo>
                  <a:pt x="118872" y="0"/>
                </a:moveTo>
                <a:lnTo>
                  <a:pt x="10765231" y="0"/>
                </a:lnTo>
                <a:lnTo>
                  <a:pt x="10765231" y="1106424"/>
                </a:lnTo>
                <a:lnTo>
                  <a:pt x="10646359" y="1225296"/>
                </a:lnTo>
                <a:lnTo>
                  <a:pt x="0" y="1225296"/>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13232" y="4160520"/>
            <a:ext cx="32004" cy="1106424"/>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261104"/>
            <a:ext cx="82296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CÁCH HỆ BIẾT TRONG PHÒNG CÓ NGƯỜI</a:t>
            </a:r>
          </a:p>
        </p:txBody>
      </p:sp>
      <p:sp>
        <p:nvSpPr>
          <p:cNvPr id="25" name="TextBox 24"/>
          <p:cNvSpPr txBox="1"/>
          <p:nvPr/>
        </p:nvSpPr>
        <p:spPr>
          <a:xfrm>
            <a:off x="1005840" y="4498848"/>
            <a:ext cx="10180015" cy="417422"/>
          </a:xfrm>
          <a:prstGeom prst="rect">
            <a:avLst/>
          </a:prstGeom>
          <a:noFill/>
        </p:spPr>
        <p:txBody>
          <a:bodyPr wrap="square" lIns="0" tIns="0" rIns="0" bIns="0" anchor="t">
            <a:spAutoFit/>
          </a:bodyPr>
          <a:lstStyle/>
          <a:p>
            <a:pPr algn="l">
              <a:lnSpc>
                <a:spcPct val="124000"/>
              </a:lnSpc>
            </a:pPr>
            <a:r>
              <a:rPr sz="1150" b="0" i="0" dirty="0" err="1">
                <a:solidFill>
                  <a:srgbClr val="111111"/>
                </a:solidFill>
                <a:latin typeface="Segoe UI"/>
              </a:rPr>
              <a:t>Cảm</a:t>
            </a:r>
            <a:r>
              <a:rPr sz="1150" b="0" i="0" dirty="0">
                <a:solidFill>
                  <a:srgbClr val="111111"/>
                </a:solidFill>
                <a:latin typeface="Segoe UI"/>
              </a:rPr>
              <a:t> </a:t>
            </a:r>
            <a:r>
              <a:rPr sz="1150" b="0" i="0" dirty="0" err="1">
                <a:solidFill>
                  <a:srgbClr val="111111"/>
                </a:solidFill>
                <a:latin typeface="Segoe UI"/>
              </a:rPr>
              <a:t>biến</a:t>
            </a:r>
            <a:r>
              <a:rPr sz="1150" b="0" i="0" dirty="0">
                <a:solidFill>
                  <a:srgbClr val="111111"/>
                </a:solidFill>
                <a:latin typeface="Segoe UI"/>
              </a:rPr>
              <a:t> </a:t>
            </a:r>
            <a:r>
              <a:rPr sz="1150" b="0" i="0" dirty="0" err="1">
                <a:solidFill>
                  <a:srgbClr val="111111"/>
                </a:solidFill>
                <a:latin typeface="Segoe UI"/>
              </a:rPr>
              <a:t>chuyển</a:t>
            </a:r>
            <a:r>
              <a:rPr sz="1150" b="0" i="0" dirty="0">
                <a:solidFill>
                  <a:srgbClr val="111111"/>
                </a:solidFill>
                <a:latin typeface="Segoe UI"/>
              </a:rPr>
              <a:t> </a:t>
            </a:r>
            <a:r>
              <a:rPr sz="1150" b="0" i="0" dirty="0" err="1">
                <a:solidFill>
                  <a:srgbClr val="111111"/>
                </a:solidFill>
                <a:latin typeface="Segoe UI"/>
              </a:rPr>
              <a:t>động</a:t>
            </a:r>
            <a:r>
              <a:rPr sz="1150" b="0" i="0" dirty="0">
                <a:solidFill>
                  <a:srgbClr val="111111"/>
                </a:solidFill>
                <a:latin typeface="Segoe UI"/>
              </a:rPr>
              <a:t> HC-SR501 </a:t>
            </a:r>
            <a:r>
              <a:rPr sz="1150" b="0" i="0" dirty="0" err="1">
                <a:solidFill>
                  <a:srgbClr val="111111"/>
                </a:solidFill>
                <a:latin typeface="Segoe UI"/>
              </a:rPr>
              <a:t>gắn</a:t>
            </a:r>
            <a:r>
              <a:rPr sz="1150" b="0" i="0" dirty="0">
                <a:solidFill>
                  <a:srgbClr val="111111"/>
                </a:solidFill>
                <a:latin typeface="Segoe UI"/>
              </a:rPr>
              <a:t> </a:t>
            </a:r>
            <a:r>
              <a:rPr sz="1150" b="0" i="0" dirty="0" err="1">
                <a:solidFill>
                  <a:srgbClr val="111111"/>
                </a:solidFill>
                <a:latin typeface="Segoe UI"/>
              </a:rPr>
              <a:t>trên</a:t>
            </a:r>
            <a:r>
              <a:rPr sz="1150" b="0" i="0" dirty="0">
                <a:solidFill>
                  <a:srgbClr val="111111"/>
                </a:solidFill>
                <a:latin typeface="Segoe UI"/>
              </a:rPr>
              <a:t> </a:t>
            </a:r>
            <a:r>
              <a:rPr sz="1150" b="0" i="0" dirty="0" err="1">
                <a:solidFill>
                  <a:srgbClr val="111111"/>
                </a:solidFill>
                <a:latin typeface="Segoe UI"/>
              </a:rPr>
              <a:t>một</a:t>
            </a:r>
            <a:r>
              <a:rPr sz="1150" b="0" i="0" dirty="0">
                <a:solidFill>
                  <a:srgbClr val="111111"/>
                </a:solidFill>
                <a:latin typeface="Segoe UI"/>
              </a:rPr>
              <a:t> node ESP-NOW </a:t>
            </a:r>
            <a:r>
              <a:rPr sz="1150" b="0" i="0" dirty="0" err="1">
                <a:solidFill>
                  <a:srgbClr val="111111"/>
                </a:solidFill>
                <a:latin typeface="Segoe UI"/>
              </a:rPr>
              <a:t>trong</a:t>
            </a:r>
            <a:r>
              <a:rPr sz="1150" b="0" i="0" dirty="0">
                <a:solidFill>
                  <a:srgbClr val="111111"/>
                </a:solidFill>
                <a:latin typeface="Segoe UI"/>
              </a:rPr>
              <a:t> </a:t>
            </a:r>
            <a:r>
              <a:rPr sz="1150" b="0" i="0" dirty="0" err="1">
                <a:solidFill>
                  <a:srgbClr val="111111"/>
                </a:solidFill>
                <a:latin typeface="Segoe UI"/>
              </a:rPr>
              <a:t>phòng</a:t>
            </a:r>
            <a:r>
              <a:rPr sz="1150" b="0" i="0" dirty="0">
                <a:solidFill>
                  <a:srgbClr val="111111"/>
                </a:solidFill>
                <a:latin typeface="Segoe UI"/>
              </a:rPr>
              <a:t>. </a:t>
            </a:r>
            <a:r>
              <a:rPr sz="1150" b="0" i="0" dirty="0" err="1">
                <a:solidFill>
                  <a:srgbClr val="111111"/>
                </a:solidFill>
                <a:latin typeface="Segoe UI"/>
              </a:rPr>
              <a:t>Không</a:t>
            </a:r>
            <a:r>
              <a:rPr sz="1150" b="0" i="0" dirty="0">
                <a:solidFill>
                  <a:srgbClr val="111111"/>
                </a:solidFill>
                <a:latin typeface="Segoe UI"/>
              </a:rPr>
              <a:t> </a:t>
            </a:r>
            <a:r>
              <a:rPr sz="1150" b="0" i="0" dirty="0" err="1">
                <a:solidFill>
                  <a:srgbClr val="111111"/>
                </a:solidFill>
                <a:latin typeface="Segoe UI"/>
              </a:rPr>
              <a:t>có</a:t>
            </a:r>
            <a:r>
              <a:rPr sz="1150" b="0" i="0" dirty="0">
                <a:solidFill>
                  <a:srgbClr val="111111"/>
                </a:solidFill>
                <a:latin typeface="Segoe UI"/>
              </a:rPr>
              <a:t> </a:t>
            </a:r>
            <a:r>
              <a:rPr sz="1150" b="0" i="0" dirty="0" err="1">
                <a:solidFill>
                  <a:srgbClr val="111111"/>
                </a:solidFill>
                <a:latin typeface="Segoe UI"/>
              </a:rPr>
              <a:t>chuyển</a:t>
            </a:r>
            <a:r>
              <a:rPr sz="1150" b="0" i="0" dirty="0">
                <a:solidFill>
                  <a:srgbClr val="111111"/>
                </a:solidFill>
                <a:latin typeface="Segoe UI"/>
              </a:rPr>
              <a:t> </a:t>
            </a:r>
            <a:r>
              <a:rPr sz="1150" b="0" i="0" dirty="0" err="1">
                <a:solidFill>
                  <a:srgbClr val="111111"/>
                </a:solidFill>
                <a:latin typeface="Segoe UI"/>
              </a:rPr>
              <a:t>động</a:t>
            </a:r>
            <a:r>
              <a:rPr sz="1150" b="0" i="0" dirty="0">
                <a:solidFill>
                  <a:srgbClr val="111111"/>
                </a:solidFill>
                <a:latin typeface="Segoe UI"/>
              </a:rPr>
              <a:t> </a:t>
            </a:r>
            <a:r>
              <a:rPr sz="1150" b="0" i="0" dirty="0" err="1">
                <a:solidFill>
                  <a:srgbClr val="111111"/>
                </a:solidFill>
                <a:latin typeface="Segoe UI"/>
              </a:rPr>
              <a:t>quá</a:t>
            </a:r>
            <a:r>
              <a:rPr sz="1150" b="0" i="0" dirty="0">
                <a:solidFill>
                  <a:srgbClr val="111111"/>
                </a:solidFill>
                <a:latin typeface="Segoe UI"/>
              </a:rPr>
              <a:t> 15 </a:t>
            </a:r>
            <a:r>
              <a:rPr sz="1150" b="0" i="0" dirty="0" err="1">
                <a:solidFill>
                  <a:srgbClr val="111111"/>
                </a:solidFill>
                <a:latin typeface="Segoe UI"/>
              </a:rPr>
              <a:t>phút</a:t>
            </a:r>
            <a:r>
              <a:rPr sz="1150" b="0" i="0" dirty="0">
                <a:solidFill>
                  <a:srgbClr val="111111"/>
                </a:solidFill>
                <a:latin typeface="Segoe UI"/>
              </a:rPr>
              <a:t> </a:t>
            </a:r>
            <a:r>
              <a:rPr sz="1150" b="0" i="0" dirty="0" err="1">
                <a:solidFill>
                  <a:srgbClr val="111111"/>
                </a:solidFill>
                <a:latin typeface="Segoe UI"/>
              </a:rPr>
              <a:t>thì</a:t>
            </a:r>
            <a:r>
              <a:rPr sz="1150" b="0" i="0" dirty="0">
                <a:solidFill>
                  <a:srgbClr val="111111"/>
                </a:solidFill>
                <a:latin typeface="Segoe UI"/>
              </a:rPr>
              <a:t> </a:t>
            </a:r>
            <a:r>
              <a:rPr sz="1150" b="0" i="0" dirty="0" err="1">
                <a:solidFill>
                  <a:srgbClr val="111111"/>
                </a:solidFill>
                <a:latin typeface="Segoe UI"/>
              </a:rPr>
              <a:t>hệ</a:t>
            </a:r>
            <a:r>
              <a:rPr sz="1150" b="0" i="0" dirty="0">
                <a:solidFill>
                  <a:srgbClr val="111111"/>
                </a:solidFill>
                <a:latin typeface="Segoe UI"/>
              </a:rPr>
              <a:t> </a:t>
            </a:r>
            <a:r>
              <a:rPr sz="1150" b="0" i="0" dirty="0" err="1">
                <a:solidFill>
                  <a:srgbClr val="111111"/>
                </a:solidFill>
                <a:latin typeface="Segoe UI"/>
              </a:rPr>
              <a:t>nâng</a:t>
            </a:r>
            <a:r>
              <a:rPr sz="1150" b="0" i="0" dirty="0">
                <a:solidFill>
                  <a:srgbClr val="111111"/>
                </a:solidFill>
                <a:latin typeface="Segoe UI"/>
              </a:rPr>
              <a:t> setpoint </a:t>
            </a:r>
            <a:r>
              <a:rPr sz="1150" b="0" i="0" dirty="0" err="1">
                <a:solidFill>
                  <a:srgbClr val="111111"/>
                </a:solidFill>
                <a:latin typeface="Segoe UI"/>
              </a:rPr>
              <a:t>hoặc</a:t>
            </a:r>
            <a:r>
              <a:rPr sz="1150" b="0" i="0" dirty="0">
                <a:solidFill>
                  <a:srgbClr val="111111"/>
                </a:solidFill>
                <a:latin typeface="Segoe UI"/>
              </a:rPr>
              <a:t> </a:t>
            </a:r>
            <a:r>
              <a:rPr sz="1150" b="0" i="0" dirty="0" err="1">
                <a:solidFill>
                  <a:srgbClr val="111111"/>
                </a:solidFill>
                <a:latin typeface="Segoe UI"/>
              </a:rPr>
              <a:t>tắt</a:t>
            </a:r>
            <a:r>
              <a:rPr sz="1150" b="0" i="0" dirty="0">
                <a:solidFill>
                  <a:srgbClr val="111111"/>
                </a:solidFill>
                <a:latin typeface="Segoe UI"/>
              </a:rPr>
              <a:t> </a:t>
            </a:r>
            <a:r>
              <a:rPr sz="1150" b="0" i="0" dirty="0" err="1">
                <a:solidFill>
                  <a:srgbClr val="111111"/>
                </a:solidFill>
                <a:latin typeface="Segoe UI"/>
              </a:rPr>
              <a:t>máy</a:t>
            </a:r>
            <a:r>
              <a:rPr sz="1150" b="0" i="0" dirty="0">
                <a:solidFill>
                  <a:srgbClr val="111111"/>
                </a:solidFill>
                <a:latin typeface="Segoe UI"/>
              </a:rPr>
              <a:t>. </a:t>
            </a:r>
            <a:r>
              <a:rPr sz="1150" b="0" i="0" dirty="0" err="1">
                <a:solidFill>
                  <a:srgbClr val="111111"/>
                </a:solidFill>
                <a:latin typeface="Segoe UI"/>
              </a:rPr>
              <a:t>Kết</a:t>
            </a:r>
            <a:r>
              <a:rPr sz="1150" b="0" i="0" dirty="0">
                <a:solidFill>
                  <a:srgbClr val="111111"/>
                </a:solidFill>
                <a:latin typeface="Segoe UI"/>
              </a:rPr>
              <a:t> </a:t>
            </a:r>
            <a:r>
              <a:rPr sz="1150" b="0" i="0" dirty="0" err="1">
                <a:solidFill>
                  <a:srgbClr val="111111"/>
                </a:solidFill>
                <a:latin typeface="Segoe UI"/>
              </a:rPr>
              <a:t>hợp</a:t>
            </a:r>
            <a:r>
              <a:rPr sz="1150" b="0" i="0" dirty="0">
                <a:solidFill>
                  <a:srgbClr val="111111"/>
                </a:solidFill>
                <a:latin typeface="Segoe UI"/>
              </a:rPr>
              <a:t> </a:t>
            </a:r>
            <a:r>
              <a:rPr sz="1150" b="0" i="0" dirty="0" err="1">
                <a:solidFill>
                  <a:srgbClr val="111111"/>
                </a:solidFill>
                <a:latin typeface="Segoe UI"/>
              </a:rPr>
              <a:t>thêm</a:t>
            </a:r>
            <a:r>
              <a:rPr sz="1150" b="0" i="0" dirty="0">
                <a:solidFill>
                  <a:srgbClr val="111111"/>
                </a:solidFill>
                <a:latin typeface="Segoe UI"/>
              </a:rPr>
              <a:t> </a:t>
            </a:r>
            <a:r>
              <a:rPr sz="1150" b="0" i="0" dirty="0" err="1">
                <a:solidFill>
                  <a:srgbClr val="111111"/>
                </a:solidFill>
                <a:latin typeface="Segoe UI"/>
              </a:rPr>
              <a:t>lịch</a:t>
            </a:r>
            <a:r>
              <a:rPr sz="1150" b="0" i="0" dirty="0">
                <a:solidFill>
                  <a:srgbClr val="111111"/>
                </a:solidFill>
                <a:latin typeface="Segoe UI"/>
              </a:rPr>
              <a:t> HỌC </a:t>
            </a:r>
            <a:r>
              <a:rPr sz="1150" b="0" i="0" dirty="0" err="1">
                <a:solidFill>
                  <a:srgbClr val="111111"/>
                </a:solidFill>
                <a:latin typeface="Segoe UI"/>
              </a:rPr>
              <a:t>từ</a:t>
            </a:r>
            <a:r>
              <a:rPr sz="1150" b="0" i="0" dirty="0">
                <a:solidFill>
                  <a:srgbClr val="111111"/>
                </a:solidFill>
                <a:latin typeface="Segoe UI"/>
              </a:rPr>
              <a:t> </a:t>
            </a:r>
            <a:r>
              <a:rPr sz="1150" b="0" i="0" dirty="0" err="1">
                <a:solidFill>
                  <a:srgbClr val="111111"/>
                </a:solidFill>
                <a:latin typeface="Segoe UI"/>
              </a:rPr>
              <a:t>comfort_log</a:t>
            </a:r>
            <a:r>
              <a:rPr sz="1150" b="0" i="0" dirty="0">
                <a:solidFill>
                  <a:srgbClr val="111111"/>
                </a:solidFill>
                <a:latin typeface="Segoe UI"/>
              </a:rPr>
              <a:t> </a:t>
            </a:r>
            <a:r>
              <a:rPr sz="1150" b="0" i="0" dirty="0" err="1">
                <a:solidFill>
                  <a:srgbClr val="111111"/>
                </a:solidFill>
                <a:latin typeface="Segoe UI"/>
              </a:rPr>
              <a:t>và</a:t>
            </a:r>
            <a:r>
              <a:rPr sz="1150" b="0" i="0" dirty="0">
                <a:solidFill>
                  <a:srgbClr val="111111"/>
                </a:solidFill>
                <a:latin typeface="Segoe UI"/>
              </a:rPr>
              <a:t> geofence </a:t>
            </a:r>
            <a:r>
              <a:rPr sz="1150" b="0" i="0" dirty="0" err="1">
                <a:solidFill>
                  <a:srgbClr val="111111"/>
                </a:solidFill>
                <a:latin typeface="Segoe UI"/>
              </a:rPr>
              <a:t>từ</a:t>
            </a:r>
            <a:r>
              <a:rPr sz="1150" b="0" i="0" dirty="0">
                <a:solidFill>
                  <a:srgbClr val="111111"/>
                </a:solidFill>
                <a:latin typeface="Segoe UI"/>
              </a:rPr>
              <a:t> app </a:t>
            </a:r>
            <a:r>
              <a:rPr sz="1150" b="0" i="0" dirty="0" err="1">
                <a:solidFill>
                  <a:srgbClr val="111111"/>
                </a:solidFill>
                <a:latin typeface="Segoe UI"/>
              </a:rPr>
              <a:t>để</a:t>
            </a:r>
            <a:r>
              <a:rPr sz="1150" b="0" i="0" dirty="0">
                <a:solidFill>
                  <a:srgbClr val="111111"/>
                </a:solidFill>
                <a:latin typeface="Segoe UI"/>
              </a:rPr>
              <a:t> </a:t>
            </a:r>
            <a:r>
              <a:rPr sz="1150" b="0" i="0" dirty="0" err="1">
                <a:solidFill>
                  <a:srgbClr val="111111"/>
                </a:solidFill>
                <a:latin typeface="Segoe UI"/>
              </a:rPr>
              <a:t>biết</a:t>
            </a:r>
            <a:r>
              <a:rPr sz="1150" b="0" i="0" dirty="0">
                <a:solidFill>
                  <a:srgbClr val="111111"/>
                </a:solidFill>
                <a:latin typeface="Segoe UI"/>
              </a:rPr>
              <a:t> </a:t>
            </a:r>
            <a:r>
              <a:rPr sz="1150" b="0" i="0" dirty="0" err="1">
                <a:solidFill>
                  <a:srgbClr val="111111"/>
                </a:solidFill>
                <a:latin typeface="Segoe UI"/>
              </a:rPr>
              <a:t>trước</a:t>
            </a:r>
            <a:r>
              <a:rPr sz="1150" b="0" i="0" dirty="0">
                <a:solidFill>
                  <a:srgbClr val="111111"/>
                </a:solidFill>
                <a:latin typeface="Segoe UI"/>
              </a:rPr>
              <a:t> </a:t>
            </a:r>
            <a:r>
              <a:rPr sz="1150" b="0" i="0" dirty="0" err="1">
                <a:solidFill>
                  <a:srgbClr val="111111"/>
                </a:solidFill>
                <a:latin typeface="Segoe UI"/>
              </a:rPr>
              <a:t>lúc</a:t>
            </a:r>
            <a:r>
              <a:rPr sz="1150" b="0" i="0" dirty="0">
                <a:solidFill>
                  <a:srgbClr val="111111"/>
                </a:solidFill>
                <a:latin typeface="Segoe UI"/>
              </a:rPr>
              <a:t> </a:t>
            </a:r>
            <a:r>
              <a:rPr sz="1150" b="0" i="0" dirty="0" err="1">
                <a:solidFill>
                  <a:srgbClr val="111111"/>
                </a:solidFill>
                <a:latin typeface="Segoe UI"/>
              </a:rPr>
              <a:t>chủ</a:t>
            </a:r>
            <a:r>
              <a:rPr sz="1150" b="0" i="0" dirty="0">
                <a:solidFill>
                  <a:srgbClr val="111111"/>
                </a:solidFill>
                <a:latin typeface="Segoe UI"/>
              </a:rPr>
              <a:t> </a:t>
            </a:r>
            <a:r>
              <a:rPr sz="1150" b="0" i="0" dirty="0" err="1">
                <a:solidFill>
                  <a:srgbClr val="111111"/>
                </a:solidFill>
                <a:latin typeface="Segoe UI"/>
              </a:rPr>
              <a:t>nhà</a:t>
            </a:r>
            <a:r>
              <a:rPr sz="1150" b="0" i="0" dirty="0">
                <a:solidFill>
                  <a:srgbClr val="111111"/>
                </a:solidFill>
                <a:latin typeface="Segoe UI"/>
              </a:rPr>
              <a:t> </a:t>
            </a:r>
            <a:r>
              <a:rPr sz="1150" b="0" i="0" dirty="0" err="1">
                <a:solidFill>
                  <a:srgbClr val="111111"/>
                </a:solidFill>
                <a:latin typeface="Segoe UI"/>
              </a:rPr>
              <a:t>sắp</a:t>
            </a:r>
            <a:r>
              <a:rPr sz="1150" b="0" i="0" dirty="0">
                <a:solidFill>
                  <a:srgbClr val="111111"/>
                </a:solidFill>
                <a:latin typeface="Segoe UI"/>
              </a:rPr>
              <a:t> </a:t>
            </a:r>
            <a:r>
              <a:rPr sz="1150" b="0" i="0" dirty="0" err="1">
                <a:solidFill>
                  <a:srgbClr val="111111"/>
                </a:solidFill>
                <a:latin typeface="Segoe UI"/>
              </a:rPr>
              <a:t>về</a:t>
            </a:r>
            <a:r>
              <a:rPr sz="1150" b="0" i="0" dirty="0">
                <a:solidFill>
                  <a:srgbClr val="111111"/>
                </a:solidFill>
                <a:latin typeface="Segoe UI"/>
              </a:rPr>
              <a:t>, </a:t>
            </a:r>
            <a:r>
              <a:rPr sz="1150" b="0" i="0" dirty="0" err="1">
                <a:solidFill>
                  <a:srgbClr val="111111"/>
                </a:solidFill>
                <a:latin typeface="Segoe UI"/>
              </a:rPr>
              <a:t>bật</a:t>
            </a:r>
            <a:r>
              <a:rPr sz="1150" b="0" i="0" dirty="0">
                <a:solidFill>
                  <a:srgbClr val="111111"/>
                </a:solidFill>
                <a:latin typeface="Segoe UI"/>
              </a:rPr>
              <a:t> </a:t>
            </a:r>
            <a:r>
              <a:rPr sz="1150" b="0" i="0" dirty="0" err="1">
                <a:solidFill>
                  <a:srgbClr val="111111"/>
                </a:solidFill>
                <a:latin typeface="Segoe UI"/>
              </a:rPr>
              <a:t>sẵn</a:t>
            </a:r>
            <a:r>
              <a:rPr sz="1150" b="0" i="0" dirty="0">
                <a:solidFill>
                  <a:srgbClr val="111111"/>
                </a:solidFill>
                <a:latin typeface="Segoe UI"/>
              </a:rPr>
              <a:t> </a:t>
            </a:r>
            <a:r>
              <a:rPr sz="1150" b="0" i="0" dirty="0" err="1">
                <a:solidFill>
                  <a:srgbClr val="111111"/>
                </a:solidFill>
                <a:latin typeface="Segoe UI"/>
              </a:rPr>
              <a:t>cho</a:t>
            </a:r>
            <a:r>
              <a:rPr sz="1150" b="0" i="0" dirty="0">
                <a:solidFill>
                  <a:srgbClr val="111111"/>
                </a:solidFill>
                <a:latin typeface="Segoe UI"/>
              </a:rPr>
              <a:t> </a:t>
            </a:r>
            <a:r>
              <a:rPr sz="1150" b="0" i="0" dirty="0" err="1">
                <a:solidFill>
                  <a:srgbClr val="111111"/>
                </a:solidFill>
                <a:latin typeface="Segoe UI"/>
              </a:rPr>
              <a:t>phòng</a:t>
            </a:r>
            <a:r>
              <a:rPr sz="1150" b="0" i="0" dirty="0">
                <a:solidFill>
                  <a:srgbClr val="111111"/>
                </a:solidFill>
                <a:latin typeface="Segoe UI"/>
              </a:rPr>
              <a:t> </a:t>
            </a:r>
            <a:r>
              <a:rPr sz="1150" b="0" i="0" dirty="0" err="1">
                <a:solidFill>
                  <a:srgbClr val="111111"/>
                </a:solidFill>
                <a:latin typeface="Segoe UI"/>
              </a:rPr>
              <a:t>kịp</a:t>
            </a:r>
            <a:r>
              <a:rPr sz="1150" b="0" i="0" dirty="0">
                <a:solidFill>
                  <a:srgbClr val="111111"/>
                </a:solidFill>
                <a:latin typeface="Segoe UI"/>
              </a:rPr>
              <a:t> </a:t>
            </a:r>
            <a:r>
              <a:rPr sz="1150" b="0" i="0" dirty="0" err="1">
                <a:solidFill>
                  <a:srgbClr val="111111"/>
                </a:solidFill>
                <a:latin typeface="Segoe UI"/>
              </a:rPr>
              <a:t>mát</a:t>
            </a:r>
            <a:r>
              <a:rPr sz="1150" b="0" i="0" dirty="0">
                <a:solidFill>
                  <a:srgbClr val="111111"/>
                </a:solidFill>
                <a:latin typeface="Segoe UI"/>
              </a:rPr>
              <a:t>.</a:t>
            </a:r>
          </a:p>
        </p:txBody>
      </p:sp>
      <p:sp>
        <p:nvSpPr>
          <p:cNvPr id="26" name="Rectangle 25"/>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12 — đo bằng tổng điện năng cả ngày, không phải bằng từng khoảnh khắc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MÔ HÌNH 03</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13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Thổi đúng chỗ người ngồi</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Người thấy mát trước khi cả phòng mát. Đây không phải tiện nghi phụ — chính ASHRAE 55 cho phép quy đổi luồng gió thành độ.</a:t>
            </a:r>
          </a:p>
        </p:txBody>
      </p:sp>
      <p:sp>
        <p:nvSpPr>
          <p:cNvPr id="7" name="Freeform 6"/>
          <p:cNvSpPr/>
          <p:nvPr/>
        </p:nvSpPr>
        <p:spPr>
          <a:xfrm>
            <a:off x="713232" y="2066543"/>
            <a:ext cx="3405530" cy="1920240"/>
          </a:xfrm>
          <a:custGeom>
            <a:avLst/>
            <a:gdLst/>
            <a:ahLst/>
            <a:cxnLst/>
            <a:rect l="l" t="t" r="r" b="b"/>
            <a:pathLst>
              <a:path w="3405530" h="1920240">
                <a:moveTo>
                  <a:pt x="118872" y="0"/>
                </a:moveTo>
                <a:lnTo>
                  <a:pt x="3405530" y="0"/>
                </a:lnTo>
                <a:lnTo>
                  <a:pt x="3405530" y="1801368"/>
                </a:lnTo>
                <a:lnTo>
                  <a:pt x="3286658" y="1920240"/>
                </a:lnTo>
                <a:lnTo>
                  <a:pt x="0" y="1920240"/>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1801368"/>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007A45"/>
                </a:solidFill>
                <a:latin typeface="Segoe UI"/>
              </a:rPr>
              <a:t>QUY ĐỔI ĐƯỢC THÀNH ĐỘ</a:t>
            </a:r>
          </a:p>
        </p:txBody>
      </p:sp>
      <p:sp>
        <p:nvSpPr>
          <p:cNvPr id="10" name="TextBox 9"/>
          <p:cNvSpPr txBox="1"/>
          <p:nvPr/>
        </p:nvSpPr>
        <p:spPr>
          <a:xfrm>
            <a:off x="98755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Gió 0,8 m/s ≈ mát hơn 2-3 °C</a:t>
            </a:r>
          </a:p>
        </p:txBody>
      </p:sp>
      <p:sp>
        <p:nvSpPr>
          <p:cNvPr id="11" name="TextBox 10"/>
          <p:cNvSpPr txBox="1"/>
          <p:nvPr/>
        </p:nvSpPr>
        <p:spPr>
          <a:xfrm>
            <a:off x="987552" y="2907791"/>
            <a:ext cx="2875178" cy="877824"/>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ASHRAE 55 có sẵn điều khoản tốc độ gió: thổi đúng người thì ĐẶT CAO HƠN 2-3 °C mà cảm nhận không đổi. Mà mỗi độ đặt cao hơn tiết kiệm khoảng 3-5 % điện — đây là đòn bẩy, không phải mẹo vặt.</a:t>
            </a:r>
          </a:p>
        </p:txBody>
      </p:sp>
      <p:sp>
        <p:nvSpPr>
          <p:cNvPr id="12" name="Freeform 11"/>
          <p:cNvSpPr/>
          <p:nvPr/>
        </p:nvSpPr>
        <p:spPr>
          <a:xfrm>
            <a:off x="4393082" y="2066543"/>
            <a:ext cx="3405530" cy="1920240"/>
          </a:xfrm>
          <a:custGeom>
            <a:avLst/>
            <a:gdLst/>
            <a:ahLst/>
            <a:cxnLst/>
            <a:rect l="l" t="t" r="r" b="b"/>
            <a:pathLst>
              <a:path w="3405530" h="1920240">
                <a:moveTo>
                  <a:pt x="118872" y="0"/>
                </a:moveTo>
                <a:lnTo>
                  <a:pt x="3405530" y="0"/>
                </a:lnTo>
                <a:lnTo>
                  <a:pt x="3405530" y="1801368"/>
                </a:lnTo>
                <a:lnTo>
                  <a:pt x="3286658" y="1920240"/>
                </a:lnTo>
                <a:lnTo>
                  <a:pt x="0" y="1920240"/>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93082" y="2185415"/>
            <a:ext cx="32004" cy="180136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740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RADAR, KHÔNG PHẢI CAMERA</a:t>
            </a:r>
          </a:p>
        </p:txBody>
      </p:sp>
      <p:sp>
        <p:nvSpPr>
          <p:cNvPr id="15" name="TextBox 14"/>
          <p:cNvSpPr txBox="1"/>
          <p:nvPr/>
        </p:nvSpPr>
        <p:spPr>
          <a:xfrm>
            <a:off x="466740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Biết người ngồi đâu</a:t>
            </a:r>
          </a:p>
        </p:txBody>
      </p:sp>
      <p:sp>
        <p:nvSpPr>
          <p:cNvPr id="16" name="TextBox 15"/>
          <p:cNvSpPr txBox="1"/>
          <p:nvPr/>
        </p:nvSpPr>
        <p:spPr>
          <a:xfrm>
            <a:off x="4667402" y="2907791"/>
            <a:ext cx="2875178" cy="877824"/>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mmWave (LD2450) cho toạ độ tối đa 3 người, xuyên được vật cản, và KHÔNG tạo ra hình ảnh — nên lắp trong phòng ngủ không vướng chuyện riêng tư. Giá vài trăm nghìn, giao tiếp UART.</a:t>
            </a:r>
          </a:p>
        </p:txBody>
      </p:sp>
      <p:sp>
        <p:nvSpPr>
          <p:cNvPr id="17" name="Freeform 16"/>
          <p:cNvSpPr/>
          <p:nvPr/>
        </p:nvSpPr>
        <p:spPr>
          <a:xfrm>
            <a:off x="8072932" y="2066543"/>
            <a:ext cx="3405530" cy="1920240"/>
          </a:xfrm>
          <a:custGeom>
            <a:avLst/>
            <a:gdLst/>
            <a:ahLst/>
            <a:cxnLst/>
            <a:rect l="l" t="t" r="r" b="b"/>
            <a:pathLst>
              <a:path w="3405530" h="1920240">
                <a:moveTo>
                  <a:pt x="118872" y="0"/>
                </a:moveTo>
                <a:lnTo>
                  <a:pt x="3405530" y="0"/>
                </a:lnTo>
                <a:lnTo>
                  <a:pt x="3405530" y="1801368"/>
                </a:lnTo>
                <a:lnTo>
                  <a:pt x="3286658" y="1920240"/>
                </a:lnTo>
                <a:lnTo>
                  <a:pt x="0" y="1920240"/>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72932" y="2185415"/>
            <a:ext cx="32004" cy="1801368"/>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7252" y="2304287"/>
            <a:ext cx="2875178" cy="201168"/>
          </a:xfrm>
          <a:prstGeom prst="rect">
            <a:avLst/>
          </a:prstGeom>
          <a:noFill/>
        </p:spPr>
        <p:txBody>
          <a:bodyPr wrap="square" lIns="0" tIns="0" rIns="0" bIns="0" anchor="t">
            <a:spAutoFit/>
          </a:bodyPr>
          <a:lstStyle/>
          <a:p>
            <a:pPr algn="l">
              <a:lnSpc>
                <a:spcPct val="100000"/>
              </a:lnSpc>
            </a:pPr>
            <a:r>
              <a:rPr sz="800" b="1" i="0" spc="160">
                <a:solidFill>
                  <a:srgbClr val="9A6200"/>
                </a:solidFill>
                <a:latin typeface="Segoe UI"/>
              </a:rPr>
              <a:t>ĐÒN BẨY ĐÃ CÓ SẴN</a:t>
            </a:r>
          </a:p>
        </p:txBody>
      </p:sp>
      <p:sp>
        <p:nvSpPr>
          <p:cNvPr id="20" name="TextBox 19"/>
          <p:cNvSpPr txBox="1"/>
          <p:nvPr/>
        </p:nvSpPr>
        <p:spPr>
          <a:xfrm>
            <a:off x="8347252" y="2560320"/>
            <a:ext cx="2875178" cy="274320"/>
          </a:xfrm>
          <a:prstGeom prst="rect">
            <a:avLst/>
          </a:prstGeom>
          <a:noFill/>
        </p:spPr>
        <p:txBody>
          <a:bodyPr wrap="square" lIns="0" tIns="0" rIns="0" bIns="0" anchor="t">
            <a:spAutoFit/>
          </a:bodyPr>
          <a:lstStyle/>
          <a:p>
            <a:pPr algn="l">
              <a:lnSpc>
                <a:spcPct val="102000"/>
              </a:lnSpc>
            </a:pPr>
            <a:r>
              <a:rPr sz="1350" b="1" i="0">
                <a:solidFill>
                  <a:srgbClr val="111111"/>
                </a:solidFill>
                <a:latin typeface="Segoe UI"/>
              </a:rPr>
              <a:t>FAN_SPEED và SWING_V</a:t>
            </a:r>
          </a:p>
        </p:txBody>
      </p:sp>
      <p:sp>
        <p:nvSpPr>
          <p:cNvPr id="21" name="TextBox 20"/>
          <p:cNvSpPr txBox="1"/>
          <p:nvPr/>
        </p:nvSpPr>
        <p:spPr>
          <a:xfrm>
            <a:off x="8347252" y="2907791"/>
            <a:ext cx="2875178" cy="877824"/>
          </a:xfrm>
          <a:prstGeom prst="rect">
            <a:avLst/>
          </a:prstGeom>
          <a:noFill/>
        </p:spPr>
        <p:txBody>
          <a:bodyPr wrap="square" lIns="0" tIns="0" rIns="0" bIns="0" anchor="t">
            <a:spAutoFit/>
          </a:bodyPr>
          <a:lstStyle/>
          <a:p>
            <a:pPr algn="l">
              <a:lnSpc>
                <a:spcPct val="122000"/>
              </a:lnSpc>
            </a:pPr>
            <a:r>
              <a:rPr sz="1050" b="0" i="0">
                <a:solidFill>
                  <a:srgbClr val="556575"/>
                </a:solidFill>
                <a:latin typeface="Segoe UI"/>
              </a:rPr>
              <a:t>Hai mã này học bằng hồng ngoại y như mọi mã khác — hạ tầng học mã đã chạy. Không cần thêm gì ở phía điều khiển.</a:t>
            </a:r>
          </a:p>
        </p:txBody>
      </p:sp>
      <p:sp>
        <p:nvSpPr>
          <p:cNvPr id="22" name="Freeform 21"/>
          <p:cNvSpPr/>
          <p:nvPr/>
        </p:nvSpPr>
        <p:spPr>
          <a:xfrm>
            <a:off x="713232" y="4187952"/>
            <a:ext cx="10765231" cy="1133856"/>
          </a:xfrm>
          <a:custGeom>
            <a:avLst/>
            <a:gdLst/>
            <a:ahLst/>
            <a:cxnLst/>
            <a:rect l="l" t="t" r="r" b="b"/>
            <a:pathLst>
              <a:path w="10765231" h="1133856">
                <a:moveTo>
                  <a:pt x="118872" y="0"/>
                </a:moveTo>
                <a:lnTo>
                  <a:pt x="10765231" y="0"/>
                </a:lnTo>
                <a:lnTo>
                  <a:pt x="10765231" y="1014984"/>
                </a:lnTo>
                <a:lnTo>
                  <a:pt x="10646359" y="1133856"/>
                </a:lnTo>
                <a:lnTo>
                  <a:pt x="0" y="1133856"/>
                </a:lnTo>
                <a:lnTo>
                  <a:pt x="0" y="118872"/>
                </a:lnTo>
                <a:close/>
              </a:path>
            </a:pathLst>
          </a:custGeom>
          <a:solidFill>
            <a:srgbClr val="E7EDF9"/>
          </a:solidFill>
          <a:ln w="13970">
            <a:solidFill>
              <a:srgbClr val="FFA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13232" y="4306824"/>
            <a:ext cx="32004" cy="1014983"/>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389120"/>
            <a:ext cx="8229600" cy="123111"/>
          </a:xfrm>
          <a:prstGeom prst="rect">
            <a:avLst/>
          </a:prstGeom>
          <a:noFill/>
        </p:spPr>
        <p:txBody>
          <a:bodyPr wrap="square" lIns="0" tIns="0" rIns="0" bIns="0" anchor="t">
            <a:spAutoFit/>
          </a:bodyPr>
          <a:lstStyle/>
          <a:p>
            <a:pPr algn="l">
              <a:lnSpc>
                <a:spcPct val="100000"/>
              </a:lnSpc>
            </a:pPr>
            <a:r>
              <a:rPr sz="800" b="1" i="0" spc="160" dirty="0">
                <a:solidFill>
                  <a:srgbClr val="9A6200"/>
                </a:solidFill>
                <a:latin typeface="Segoe UI"/>
              </a:rPr>
              <a:t>PHẢI KIỂM TRÊN MÁY THẬT </a:t>
            </a:r>
          </a:p>
        </p:txBody>
      </p:sp>
      <p:sp>
        <p:nvSpPr>
          <p:cNvPr id="25" name="TextBox 24"/>
          <p:cNvSpPr txBox="1"/>
          <p:nvPr/>
        </p:nvSpPr>
        <p:spPr>
          <a:xfrm>
            <a:off x="1005840" y="4626864"/>
            <a:ext cx="10180015" cy="417422"/>
          </a:xfrm>
          <a:prstGeom prst="rect">
            <a:avLst/>
          </a:prstGeom>
          <a:noFill/>
        </p:spPr>
        <p:txBody>
          <a:bodyPr wrap="square" lIns="0" tIns="0" rIns="0" bIns="0" anchor="t">
            <a:spAutoFit/>
          </a:bodyPr>
          <a:lstStyle/>
          <a:p>
            <a:pPr algn="l">
              <a:lnSpc>
                <a:spcPct val="124000"/>
              </a:lnSpc>
            </a:pPr>
            <a:r>
              <a:rPr sz="1150" b="0" i="0" dirty="0" err="1">
                <a:solidFill>
                  <a:srgbClr val="111111"/>
                </a:solidFill>
                <a:latin typeface="Segoe UI"/>
              </a:rPr>
              <a:t>Điều</a:t>
            </a:r>
            <a:r>
              <a:rPr sz="1150" b="0" i="0" dirty="0">
                <a:solidFill>
                  <a:srgbClr val="111111"/>
                </a:solidFill>
                <a:latin typeface="Segoe UI"/>
              </a:rPr>
              <a:t> </a:t>
            </a:r>
            <a:r>
              <a:rPr sz="1150" b="0" i="0" dirty="0" err="1">
                <a:solidFill>
                  <a:srgbClr val="111111"/>
                </a:solidFill>
                <a:latin typeface="Segoe UI"/>
              </a:rPr>
              <a:t>hoà</a:t>
            </a:r>
            <a:r>
              <a:rPr sz="1150" b="0" i="0" dirty="0">
                <a:solidFill>
                  <a:srgbClr val="111111"/>
                </a:solidFill>
                <a:latin typeface="Segoe UI"/>
              </a:rPr>
              <a:t> </a:t>
            </a:r>
            <a:r>
              <a:rPr sz="1150" b="0" i="0" dirty="0" err="1">
                <a:solidFill>
                  <a:srgbClr val="111111"/>
                </a:solidFill>
                <a:latin typeface="Segoe UI"/>
              </a:rPr>
              <a:t>dân</a:t>
            </a:r>
            <a:r>
              <a:rPr sz="1150" b="0" i="0" dirty="0">
                <a:solidFill>
                  <a:srgbClr val="111111"/>
                </a:solidFill>
                <a:latin typeface="Segoe UI"/>
              </a:rPr>
              <a:t> </a:t>
            </a:r>
            <a:r>
              <a:rPr sz="1150" b="0" i="0" dirty="0" err="1">
                <a:solidFill>
                  <a:srgbClr val="111111"/>
                </a:solidFill>
                <a:latin typeface="Segoe UI"/>
              </a:rPr>
              <a:t>dụng</a:t>
            </a:r>
            <a:r>
              <a:rPr sz="1150" b="0" i="0" dirty="0">
                <a:solidFill>
                  <a:srgbClr val="111111"/>
                </a:solidFill>
                <a:latin typeface="Segoe UI"/>
              </a:rPr>
              <a:t> </a:t>
            </a:r>
            <a:r>
              <a:rPr sz="1150" b="0" i="0" dirty="0" err="1">
                <a:solidFill>
                  <a:srgbClr val="111111"/>
                </a:solidFill>
                <a:latin typeface="Segoe UI"/>
              </a:rPr>
              <a:t>thường</a:t>
            </a:r>
            <a:r>
              <a:rPr sz="1150" b="0" i="0" dirty="0">
                <a:solidFill>
                  <a:srgbClr val="111111"/>
                </a:solidFill>
                <a:latin typeface="Segoe UI"/>
              </a:rPr>
              <a:t> </a:t>
            </a:r>
            <a:r>
              <a:rPr sz="1150" b="0" i="0" dirty="0" err="1">
                <a:solidFill>
                  <a:srgbClr val="111111"/>
                </a:solidFill>
                <a:latin typeface="Segoe UI"/>
              </a:rPr>
              <a:t>chỉ</a:t>
            </a:r>
            <a:r>
              <a:rPr sz="1150" b="0" i="0" dirty="0">
                <a:solidFill>
                  <a:srgbClr val="111111"/>
                </a:solidFill>
                <a:latin typeface="Segoe UI"/>
              </a:rPr>
              <a:t> </a:t>
            </a:r>
            <a:r>
              <a:rPr sz="1150" b="0" i="0" dirty="0" err="1">
                <a:solidFill>
                  <a:srgbClr val="111111"/>
                </a:solidFill>
                <a:latin typeface="Segoe UI"/>
              </a:rPr>
              <a:t>cho</a:t>
            </a:r>
            <a:r>
              <a:rPr sz="1150" b="0" i="0" dirty="0">
                <a:solidFill>
                  <a:srgbClr val="111111"/>
                </a:solidFill>
                <a:latin typeface="Segoe UI"/>
              </a:rPr>
              <a:t> BẬT/TẮT </a:t>
            </a:r>
            <a:r>
              <a:rPr sz="1150" b="0" i="0" dirty="0" err="1">
                <a:solidFill>
                  <a:srgbClr val="111111"/>
                </a:solidFill>
                <a:latin typeface="Segoe UI"/>
              </a:rPr>
              <a:t>đảo</a:t>
            </a:r>
            <a:r>
              <a:rPr sz="1150" b="0" i="0" dirty="0">
                <a:solidFill>
                  <a:srgbClr val="111111"/>
                </a:solidFill>
                <a:latin typeface="Segoe UI"/>
              </a:rPr>
              <a:t> </a:t>
            </a:r>
            <a:r>
              <a:rPr sz="1150" b="0" i="0" dirty="0" err="1">
                <a:solidFill>
                  <a:srgbClr val="111111"/>
                </a:solidFill>
                <a:latin typeface="Segoe UI"/>
              </a:rPr>
              <a:t>gió</a:t>
            </a:r>
            <a:r>
              <a:rPr sz="1150" b="0" i="0" dirty="0">
                <a:solidFill>
                  <a:srgbClr val="111111"/>
                </a:solidFill>
                <a:latin typeface="Segoe UI"/>
              </a:rPr>
              <a:t>, </a:t>
            </a:r>
            <a:r>
              <a:rPr sz="1150" b="0" i="0" dirty="0" err="1">
                <a:solidFill>
                  <a:srgbClr val="111111"/>
                </a:solidFill>
                <a:latin typeface="Segoe UI"/>
              </a:rPr>
              <a:t>không</a:t>
            </a:r>
            <a:r>
              <a:rPr sz="1150" b="0" i="0" dirty="0">
                <a:solidFill>
                  <a:srgbClr val="111111"/>
                </a:solidFill>
                <a:latin typeface="Segoe UI"/>
              </a:rPr>
              <a:t> </a:t>
            </a:r>
            <a:r>
              <a:rPr sz="1150" b="0" i="0" dirty="0" err="1">
                <a:solidFill>
                  <a:srgbClr val="111111"/>
                </a:solidFill>
                <a:latin typeface="Segoe UI"/>
              </a:rPr>
              <a:t>chỉnh</a:t>
            </a:r>
            <a:r>
              <a:rPr sz="1150" b="0" i="0" dirty="0">
                <a:solidFill>
                  <a:srgbClr val="111111"/>
                </a:solidFill>
                <a:latin typeface="Segoe UI"/>
              </a:rPr>
              <a:t> </a:t>
            </a:r>
            <a:r>
              <a:rPr sz="1150" b="0" i="0" dirty="0" err="1">
                <a:solidFill>
                  <a:srgbClr val="111111"/>
                </a:solidFill>
                <a:latin typeface="Segoe UI"/>
              </a:rPr>
              <a:t>được</a:t>
            </a:r>
            <a:r>
              <a:rPr sz="1150" b="0" i="0" dirty="0">
                <a:solidFill>
                  <a:srgbClr val="111111"/>
                </a:solidFill>
                <a:latin typeface="Segoe UI"/>
              </a:rPr>
              <a:t> </a:t>
            </a:r>
            <a:r>
              <a:rPr sz="1150" b="0" i="0" dirty="0" err="1">
                <a:solidFill>
                  <a:srgbClr val="111111"/>
                </a:solidFill>
                <a:latin typeface="Segoe UI"/>
              </a:rPr>
              <a:t>góc</a:t>
            </a:r>
            <a:r>
              <a:rPr sz="1150" b="0" i="0" dirty="0">
                <a:solidFill>
                  <a:srgbClr val="111111"/>
                </a:solidFill>
                <a:latin typeface="Segoe UI"/>
              </a:rPr>
              <a:t> </a:t>
            </a:r>
            <a:r>
              <a:rPr sz="1150" b="0" i="0" dirty="0" err="1">
                <a:solidFill>
                  <a:srgbClr val="111111"/>
                </a:solidFill>
                <a:latin typeface="Segoe UI"/>
              </a:rPr>
              <a:t>tuỳ</a:t>
            </a:r>
            <a:r>
              <a:rPr sz="1150" b="0" i="0" dirty="0">
                <a:solidFill>
                  <a:srgbClr val="111111"/>
                </a:solidFill>
                <a:latin typeface="Segoe UI"/>
              </a:rPr>
              <a:t> ý qua remote. </a:t>
            </a:r>
            <a:r>
              <a:rPr sz="1150" b="0" i="0" dirty="0" err="1">
                <a:solidFill>
                  <a:srgbClr val="111111"/>
                </a:solidFill>
                <a:latin typeface="Segoe UI"/>
              </a:rPr>
              <a:t>Bản</a:t>
            </a:r>
            <a:r>
              <a:rPr sz="1150" b="0" i="0" dirty="0">
                <a:solidFill>
                  <a:srgbClr val="111111"/>
                </a:solidFill>
                <a:latin typeface="Segoe UI"/>
              </a:rPr>
              <a:t> </a:t>
            </a:r>
            <a:r>
              <a:rPr sz="1150" b="0" i="0" dirty="0" err="1">
                <a:solidFill>
                  <a:srgbClr val="111111"/>
                </a:solidFill>
                <a:latin typeface="Segoe UI"/>
              </a:rPr>
              <a:t>khả</a:t>
            </a:r>
            <a:r>
              <a:rPr sz="1150" b="0" i="0" dirty="0">
                <a:solidFill>
                  <a:srgbClr val="111111"/>
                </a:solidFill>
                <a:latin typeface="Segoe UI"/>
              </a:rPr>
              <a:t> </a:t>
            </a:r>
            <a:r>
              <a:rPr sz="1150" b="0" i="0" dirty="0" err="1">
                <a:solidFill>
                  <a:srgbClr val="111111"/>
                </a:solidFill>
                <a:latin typeface="Segoe UI"/>
              </a:rPr>
              <a:t>thi</a:t>
            </a:r>
            <a:r>
              <a:rPr sz="1150" b="0" i="0" dirty="0">
                <a:solidFill>
                  <a:srgbClr val="111111"/>
                </a:solidFill>
                <a:latin typeface="Segoe UI"/>
              </a:rPr>
              <a:t> </a:t>
            </a:r>
            <a:r>
              <a:rPr sz="1150" b="0" i="0" dirty="0" err="1">
                <a:solidFill>
                  <a:srgbClr val="111111"/>
                </a:solidFill>
                <a:latin typeface="Segoe UI"/>
              </a:rPr>
              <a:t>là</a:t>
            </a:r>
            <a:r>
              <a:rPr sz="1150" b="0" i="0" dirty="0">
                <a:solidFill>
                  <a:srgbClr val="111111"/>
                </a:solidFill>
                <a:latin typeface="Segoe UI"/>
              </a:rPr>
              <a:t> </a:t>
            </a:r>
            <a:r>
              <a:rPr sz="1150" b="0" i="0" dirty="0" err="1">
                <a:solidFill>
                  <a:srgbClr val="111111"/>
                </a:solidFill>
                <a:latin typeface="Segoe UI"/>
              </a:rPr>
              <a:t>chọn</a:t>
            </a:r>
            <a:r>
              <a:rPr sz="1150" b="0" i="0" dirty="0">
                <a:solidFill>
                  <a:srgbClr val="111111"/>
                </a:solidFill>
                <a:latin typeface="Segoe UI"/>
              </a:rPr>
              <a:t> </a:t>
            </a:r>
            <a:r>
              <a:rPr sz="1150" b="0" i="0" dirty="0" err="1">
                <a:solidFill>
                  <a:srgbClr val="111111"/>
                </a:solidFill>
                <a:latin typeface="Segoe UI"/>
              </a:rPr>
              <a:t>giữa</a:t>
            </a:r>
            <a:r>
              <a:rPr sz="1150" b="0" i="0" dirty="0">
                <a:solidFill>
                  <a:srgbClr val="111111"/>
                </a:solidFill>
                <a:latin typeface="Segoe UI"/>
              </a:rPr>
              <a:t> </a:t>
            </a:r>
            <a:r>
              <a:rPr sz="1150" b="0" i="0" dirty="0" err="1">
                <a:solidFill>
                  <a:srgbClr val="111111"/>
                </a:solidFill>
                <a:latin typeface="Segoe UI"/>
              </a:rPr>
              <a:t>vài</a:t>
            </a:r>
            <a:r>
              <a:rPr sz="1150" b="0" i="0" dirty="0">
                <a:solidFill>
                  <a:srgbClr val="111111"/>
                </a:solidFill>
                <a:latin typeface="Segoe UI"/>
              </a:rPr>
              <a:t> </a:t>
            </a:r>
            <a:r>
              <a:rPr sz="1150" b="0" i="0" dirty="0" err="1">
                <a:solidFill>
                  <a:srgbClr val="111111"/>
                </a:solidFill>
                <a:latin typeface="Segoe UI"/>
              </a:rPr>
              <a:t>vị</a:t>
            </a:r>
            <a:r>
              <a:rPr sz="1150" b="0" i="0" dirty="0">
                <a:solidFill>
                  <a:srgbClr val="111111"/>
                </a:solidFill>
                <a:latin typeface="Segoe UI"/>
              </a:rPr>
              <a:t> </a:t>
            </a:r>
            <a:r>
              <a:rPr sz="1150" b="0" i="0" dirty="0" err="1">
                <a:solidFill>
                  <a:srgbClr val="111111"/>
                </a:solidFill>
                <a:latin typeface="Segoe UI"/>
              </a:rPr>
              <a:t>trí</a:t>
            </a:r>
            <a:r>
              <a:rPr sz="1150" b="0" i="0" dirty="0">
                <a:solidFill>
                  <a:srgbClr val="111111"/>
                </a:solidFill>
                <a:latin typeface="Segoe UI"/>
              </a:rPr>
              <a:t> </a:t>
            </a:r>
            <a:r>
              <a:rPr sz="1150" b="0" i="0" dirty="0" err="1">
                <a:solidFill>
                  <a:srgbClr val="111111"/>
                </a:solidFill>
                <a:latin typeface="Segoe UI"/>
              </a:rPr>
              <a:t>cánh</a:t>
            </a:r>
            <a:r>
              <a:rPr sz="1150" b="0" i="0" dirty="0">
                <a:solidFill>
                  <a:srgbClr val="111111"/>
                </a:solidFill>
                <a:latin typeface="Segoe UI"/>
              </a:rPr>
              <a:t> </a:t>
            </a:r>
            <a:r>
              <a:rPr sz="1150" b="0" i="0" dirty="0" err="1">
                <a:solidFill>
                  <a:srgbClr val="111111"/>
                </a:solidFill>
                <a:latin typeface="Segoe UI"/>
              </a:rPr>
              <a:t>mà</a:t>
            </a:r>
            <a:r>
              <a:rPr sz="1150" b="0" i="0" dirty="0">
                <a:solidFill>
                  <a:srgbClr val="111111"/>
                </a:solidFill>
                <a:latin typeface="Segoe UI"/>
              </a:rPr>
              <a:t> remote </a:t>
            </a:r>
            <a:r>
              <a:rPr sz="1150" b="0" i="0" dirty="0" err="1">
                <a:solidFill>
                  <a:srgbClr val="111111"/>
                </a:solidFill>
                <a:latin typeface="Segoe UI"/>
              </a:rPr>
              <a:t>hỗ</a:t>
            </a:r>
            <a:r>
              <a:rPr sz="1150" b="0" i="0" dirty="0">
                <a:solidFill>
                  <a:srgbClr val="111111"/>
                </a:solidFill>
                <a:latin typeface="Segoe UI"/>
              </a:rPr>
              <a:t> </a:t>
            </a:r>
            <a:r>
              <a:rPr sz="1150" b="0" i="0" dirty="0" err="1">
                <a:solidFill>
                  <a:srgbClr val="111111"/>
                </a:solidFill>
                <a:latin typeface="Segoe UI"/>
              </a:rPr>
              <a:t>trợ</a:t>
            </a:r>
            <a:r>
              <a:rPr sz="1150" b="0" i="0" dirty="0">
                <a:solidFill>
                  <a:srgbClr val="111111"/>
                </a:solidFill>
                <a:latin typeface="Segoe UI"/>
              </a:rPr>
              <a:t>, </a:t>
            </a:r>
            <a:r>
              <a:rPr sz="1150" b="0" i="0" dirty="0" err="1">
                <a:solidFill>
                  <a:srgbClr val="111111"/>
                </a:solidFill>
                <a:latin typeface="Segoe UI"/>
              </a:rPr>
              <a:t>cộng</a:t>
            </a:r>
            <a:r>
              <a:rPr sz="1150" b="0" i="0" dirty="0">
                <a:solidFill>
                  <a:srgbClr val="111111"/>
                </a:solidFill>
                <a:latin typeface="Segoe UI"/>
              </a:rPr>
              <a:t> </a:t>
            </a:r>
            <a:r>
              <a:rPr sz="1150" b="0" i="0" dirty="0" err="1">
                <a:solidFill>
                  <a:srgbClr val="111111"/>
                </a:solidFill>
                <a:latin typeface="Segoe UI"/>
              </a:rPr>
              <a:t>với</a:t>
            </a:r>
            <a:r>
              <a:rPr sz="1150" b="0" i="0" dirty="0">
                <a:solidFill>
                  <a:srgbClr val="111111"/>
                </a:solidFill>
                <a:latin typeface="Segoe UI"/>
              </a:rPr>
              <a:t> </a:t>
            </a:r>
            <a:r>
              <a:rPr sz="1150" b="0" i="0" dirty="0" err="1">
                <a:solidFill>
                  <a:srgbClr val="111111"/>
                </a:solidFill>
                <a:latin typeface="Segoe UI"/>
              </a:rPr>
              <a:t>chỉnh</a:t>
            </a:r>
            <a:r>
              <a:rPr sz="1150" b="0" i="0" dirty="0">
                <a:solidFill>
                  <a:srgbClr val="111111"/>
                </a:solidFill>
                <a:latin typeface="Segoe UI"/>
              </a:rPr>
              <a:t> </a:t>
            </a:r>
            <a:r>
              <a:rPr sz="1150" b="0" i="0" dirty="0" err="1">
                <a:solidFill>
                  <a:srgbClr val="111111"/>
                </a:solidFill>
                <a:latin typeface="Segoe UI"/>
              </a:rPr>
              <a:t>tốc</a:t>
            </a:r>
            <a:r>
              <a:rPr sz="1150" b="0" i="0" dirty="0">
                <a:solidFill>
                  <a:srgbClr val="111111"/>
                </a:solidFill>
                <a:latin typeface="Segoe UI"/>
              </a:rPr>
              <a:t> </a:t>
            </a:r>
            <a:r>
              <a:rPr sz="1150" b="0" i="0" dirty="0" err="1">
                <a:solidFill>
                  <a:srgbClr val="111111"/>
                </a:solidFill>
                <a:latin typeface="Segoe UI"/>
              </a:rPr>
              <a:t>độ</a:t>
            </a:r>
            <a:r>
              <a:rPr sz="1150" b="0" i="0" dirty="0">
                <a:solidFill>
                  <a:srgbClr val="111111"/>
                </a:solidFill>
                <a:latin typeface="Segoe UI"/>
              </a:rPr>
              <a:t> </a:t>
            </a:r>
            <a:r>
              <a:rPr sz="1150" b="0" i="0" dirty="0" err="1">
                <a:solidFill>
                  <a:srgbClr val="111111"/>
                </a:solidFill>
                <a:latin typeface="Segoe UI"/>
              </a:rPr>
              <a:t>quạt</a:t>
            </a:r>
            <a:r>
              <a:rPr sz="1150" b="0" i="0" dirty="0">
                <a:solidFill>
                  <a:srgbClr val="111111"/>
                </a:solidFill>
                <a:latin typeface="Segoe UI"/>
              </a:rPr>
              <a:t>. </a:t>
            </a:r>
            <a:r>
              <a:rPr sz="1150" b="0" i="0" dirty="0" err="1">
                <a:solidFill>
                  <a:srgbClr val="111111"/>
                </a:solidFill>
                <a:latin typeface="Segoe UI"/>
              </a:rPr>
              <a:t>Xử</a:t>
            </a:r>
            <a:r>
              <a:rPr sz="1150" b="0" i="0" dirty="0">
                <a:solidFill>
                  <a:srgbClr val="111111"/>
                </a:solidFill>
                <a:latin typeface="Segoe UI"/>
              </a:rPr>
              <a:t> </a:t>
            </a:r>
            <a:r>
              <a:rPr sz="1150" b="0" i="0" dirty="0" err="1">
                <a:solidFill>
                  <a:srgbClr val="111111"/>
                </a:solidFill>
                <a:latin typeface="Segoe UI"/>
              </a:rPr>
              <a:t>lý</a:t>
            </a:r>
            <a:r>
              <a:rPr sz="1150" b="0" i="0" dirty="0">
                <a:solidFill>
                  <a:srgbClr val="111111"/>
                </a:solidFill>
                <a:latin typeface="Segoe UI"/>
              </a:rPr>
              <a:t> </a:t>
            </a:r>
            <a:r>
              <a:rPr sz="1150" b="0" i="0" dirty="0" err="1">
                <a:solidFill>
                  <a:srgbClr val="111111"/>
                </a:solidFill>
                <a:latin typeface="Segoe UI"/>
              </a:rPr>
              <a:t>chuỗi</a:t>
            </a:r>
            <a:r>
              <a:rPr sz="1150" b="0" i="0" dirty="0">
                <a:solidFill>
                  <a:srgbClr val="111111"/>
                </a:solidFill>
                <a:latin typeface="Segoe UI"/>
              </a:rPr>
              <a:t> </a:t>
            </a:r>
            <a:r>
              <a:rPr sz="1150" b="0" i="0" dirty="0" err="1">
                <a:solidFill>
                  <a:srgbClr val="111111"/>
                </a:solidFill>
                <a:latin typeface="Segoe UI"/>
              </a:rPr>
              <a:t>toạ</a:t>
            </a:r>
            <a:r>
              <a:rPr sz="1150" b="0" i="0" dirty="0">
                <a:solidFill>
                  <a:srgbClr val="111111"/>
                </a:solidFill>
                <a:latin typeface="Segoe UI"/>
              </a:rPr>
              <a:t> </a:t>
            </a:r>
            <a:r>
              <a:rPr sz="1150" b="0" i="0" dirty="0" err="1">
                <a:solidFill>
                  <a:srgbClr val="111111"/>
                </a:solidFill>
                <a:latin typeface="Segoe UI"/>
              </a:rPr>
              <a:t>độ</a:t>
            </a:r>
            <a:r>
              <a:rPr sz="1150" b="0" i="0" dirty="0">
                <a:solidFill>
                  <a:srgbClr val="111111"/>
                </a:solidFill>
                <a:latin typeface="Segoe UI"/>
              </a:rPr>
              <a:t> </a:t>
            </a:r>
            <a:r>
              <a:rPr sz="1150" b="0" i="0" dirty="0" err="1">
                <a:solidFill>
                  <a:srgbClr val="111111"/>
                </a:solidFill>
                <a:latin typeface="Segoe UI"/>
              </a:rPr>
              <a:t>từ</a:t>
            </a:r>
            <a:r>
              <a:rPr sz="1150" b="0" i="0" dirty="0">
                <a:solidFill>
                  <a:srgbClr val="111111"/>
                </a:solidFill>
                <a:latin typeface="Segoe UI"/>
              </a:rPr>
              <a:t> radar </a:t>
            </a:r>
            <a:r>
              <a:rPr sz="1150" b="0" i="0" dirty="0" err="1">
                <a:solidFill>
                  <a:srgbClr val="111111"/>
                </a:solidFill>
                <a:latin typeface="Segoe UI"/>
              </a:rPr>
              <a:t>là</a:t>
            </a:r>
            <a:r>
              <a:rPr sz="1150" b="0" i="0" dirty="0">
                <a:solidFill>
                  <a:srgbClr val="111111"/>
                </a:solidFill>
                <a:latin typeface="Segoe UI"/>
              </a:rPr>
              <a:t> </a:t>
            </a:r>
            <a:r>
              <a:rPr sz="1150" b="0" i="0" dirty="0" err="1">
                <a:solidFill>
                  <a:srgbClr val="111111"/>
                </a:solidFill>
                <a:latin typeface="Segoe UI"/>
              </a:rPr>
              <a:t>việc</a:t>
            </a:r>
            <a:r>
              <a:rPr sz="1150" b="0" i="0" dirty="0">
                <a:solidFill>
                  <a:srgbClr val="111111"/>
                </a:solidFill>
                <a:latin typeface="Segoe UI"/>
              </a:rPr>
              <a:t> </a:t>
            </a:r>
            <a:r>
              <a:rPr sz="1150" b="0" i="0" dirty="0" err="1">
                <a:solidFill>
                  <a:srgbClr val="111111"/>
                </a:solidFill>
                <a:latin typeface="Segoe UI"/>
              </a:rPr>
              <a:t>của</a:t>
            </a:r>
            <a:r>
              <a:rPr sz="1150" b="0" i="0" dirty="0">
                <a:solidFill>
                  <a:srgbClr val="111111"/>
                </a:solidFill>
                <a:latin typeface="Segoe UI"/>
              </a:rPr>
              <a:t> Linux </a:t>
            </a:r>
            <a:r>
              <a:rPr sz="1150" b="0" i="0" dirty="0" err="1">
                <a:solidFill>
                  <a:srgbClr val="111111"/>
                </a:solidFill>
                <a:latin typeface="Segoe UI"/>
              </a:rPr>
              <a:t>trên</a:t>
            </a:r>
            <a:r>
              <a:rPr sz="1150" b="0" i="0" dirty="0">
                <a:solidFill>
                  <a:srgbClr val="111111"/>
                </a:solidFill>
                <a:latin typeface="Segoe UI"/>
              </a:rPr>
              <a:t> UNO Q.</a:t>
            </a:r>
          </a:p>
        </p:txBody>
      </p:sp>
      <p:sp>
        <p:nvSpPr>
          <p:cNvPr id="26" name="Rectangle 25"/>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13 — quy đổi luồng gió thành độ, theo đúng chuẩn hệ đang dùng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MÔ HÌNH 04</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14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Học thói quen · Phát hiện hỏng hóc</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Cùng một chuỗi dữ liệu, hai câu hỏi hoàn toàn khác nhau.</a:t>
            </a:r>
          </a:p>
        </p:txBody>
      </p:sp>
      <p:sp>
        <p:nvSpPr>
          <p:cNvPr id="7" name="Freeform 6"/>
          <p:cNvSpPr/>
          <p:nvPr/>
        </p:nvSpPr>
        <p:spPr>
          <a:xfrm>
            <a:off x="713232" y="2066543"/>
            <a:ext cx="5236311" cy="3218688"/>
          </a:xfrm>
          <a:custGeom>
            <a:avLst/>
            <a:gdLst/>
            <a:ahLst/>
            <a:cxnLst/>
            <a:rect l="l" t="t" r="r" b="b"/>
            <a:pathLst>
              <a:path w="5236311" h="3218688">
                <a:moveTo>
                  <a:pt x="118872" y="0"/>
                </a:moveTo>
                <a:lnTo>
                  <a:pt x="5236311" y="0"/>
                </a:lnTo>
                <a:lnTo>
                  <a:pt x="5236311" y="3099816"/>
                </a:lnTo>
                <a:lnTo>
                  <a:pt x="5117439" y="3218688"/>
                </a:lnTo>
                <a:lnTo>
                  <a:pt x="0" y="321868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185415"/>
            <a:ext cx="32004" cy="3099816"/>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322576"/>
            <a:ext cx="36576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HỌC THÓI QUEN</a:t>
            </a:r>
          </a:p>
        </p:txBody>
      </p:sp>
      <p:sp>
        <p:nvSpPr>
          <p:cNvPr id="10" name="TextBox 9"/>
          <p:cNvSpPr txBox="1"/>
          <p:nvPr/>
        </p:nvSpPr>
        <p:spPr>
          <a:xfrm>
            <a:off x="1005840" y="2578608"/>
            <a:ext cx="4651095" cy="292608"/>
          </a:xfrm>
          <a:prstGeom prst="rect">
            <a:avLst/>
          </a:prstGeom>
          <a:noFill/>
        </p:spPr>
        <p:txBody>
          <a:bodyPr wrap="square" lIns="0" tIns="0" rIns="0" bIns="0" anchor="t">
            <a:spAutoFit/>
          </a:bodyPr>
          <a:lstStyle/>
          <a:p>
            <a:pPr algn="l">
              <a:lnSpc>
                <a:spcPct val="100000"/>
              </a:lnSpc>
            </a:pPr>
            <a:r>
              <a:rPr sz="1400" b="1" i="0">
                <a:solidFill>
                  <a:srgbClr val="111111"/>
                </a:solidFill>
                <a:latin typeface="Segoe UI"/>
              </a:rPr>
              <a:t>Phòng này thường cần gì?</a:t>
            </a:r>
          </a:p>
        </p:txBody>
      </p:sp>
      <p:sp>
        <p:nvSpPr>
          <p:cNvPr id="11" name="Rectangle 10"/>
          <p:cNvSpPr/>
          <p:nvPr/>
        </p:nvSpPr>
        <p:spPr>
          <a:xfrm>
            <a:off x="1005840" y="3108960"/>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07008" y="3035808"/>
            <a:ext cx="441335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Giờ nào trong ngày phòng có người</a:t>
            </a:r>
          </a:p>
        </p:txBody>
      </p:sp>
      <p:sp>
        <p:nvSpPr>
          <p:cNvPr id="13" name="Rectangle 12"/>
          <p:cNvSpPr/>
          <p:nvPr/>
        </p:nvSpPr>
        <p:spPr>
          <a:xfrm>
            <a:off x="1005840" y="3493008"/>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07008" y="3419856"/>
            <a:ext cx="441335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Nhiệt độ nào người ở đây thấy dễ chịu</a:t>
            </a:r>
          </a:p>
        </p:txBody>
      </p:sp>
      <p:sp>
        <p:nvSpPr>
          <p:cNvPr id="15" name="Rectangle 14"/>
          <p:cNvSpPr/>
          <p:nvPr/>
        </p:nvSpPr>
        <p:spPr>
          <a:xfrm>
            <a:off x="1005840" y="3877056"/>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07008" y="3803904"/>
            <a:ext cx="441335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Cuối tuần khác ngày thường ra sao</a:t>
            </a:r>
          </a:p>
        </p:txBody>
      </p:sp>
      <p:sp>
        <p:nvSpPr>
          <p:cNvPr id="17" name="Rectangle 16"/>
          <p:cNvSpPr/>
          <p:nvPr/>
        </p:nvSpPr>
        <p:spPr>
          <a:xfrm>
            <a:off x="1005840" y="4261104"/>
            <a:ext cx="64008" cy="6400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07008" y="4187952"/>
            <a:ext cx="441335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Bao lâu sau khi vào phòng thì bật máy</a:t>
            </a:r>
          </a:p>
        </p:txBody>
      </p:sp>
      <p:sp>
        <p:nvSpPr>
          <p:cNvPr id="19" name="TextBox 18"/>
          <p:cNvSpPr txBox="1"/>
          <p:nvPr/>
        </p:nvSpPr>
        <p:spPr>
          <a:xfrm>
            <a:off x="1005840" y="4736592"/>
            <a:ext cx="4651095" cy="384048"/>
          </a:xfrm>
          <a:prstGeom prst="rect">
            <a:avLst/>
          </a:prstGeom>
          <a:noFill/>
        </p:spPr>
        <p:txBody>
          <a:bodyPr wrap="square" lIns="0" tIns="0" rIns="0" bIns="0" anchor="t">
            <a:spAutoFit/>
          </a:bodyPr>
          <a:lstStyle/>
          <a:p>
            <a:pPr algn="l">
              <a:lnSpc>
                <a:spcPct val="120000"/>
              </a:lnSpc>
            </a:pPr>
            <a:r>
              <a:rPr sz="1000" b="0" i="0">
                <a:solidFill>
                  <a:srgbClr val="111111"/>
                </a:solidFill>
                <a:latin typeface="Segoe UI"/>
              </a:rPr>
              <a:t>Kết quả: lịch mặc định tự sinh, không bắt khách hàng tự đặt.</a:t>
            </a:r>
          </a:p>
        </p:txBody>
      </p:sp>
      <p:sp>
        <p:nvSpPr>
          <p:cNvPr id="20" name="Freeform 19"/>
          <p:cNvSpPr/>
          <p:nvPr/>
        </p:nvSpPr>
        <p:spPr>
          <a:xfrm>
            <a:off x="6242151" y="2066543"/>
            <a:ext cx="5236311" cy="3218688"/>
          </a:xfrm>
          <a:custGeom>
            <a:avLst/>
            <a:gdLst/>
            <a:ahLst/>
            <a:cxnLst/>
            <a:rect l="l" t="t" r="r" b="b"/>
            <a:pathLst>
              <a:path w="5236311" h="3218688">
                <a:moveTo>
                  <a:pt x="118872" y="0"/>
                </a:moveTo>
                <a:lnTo>
                  <a:pt x="5236311" y="0"/>
                </a:lnTo>
                <a:lnTo>
                  <a:pt x="5236311" y="3099816"/>
                </a:lnTo>
                <a:lnTo>
                  <a:pt x="5117439" y="3218688"/>
                </a:lnTo>
                <a:lnTo>
                  <a:pt x="0" y="321868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42151" y="2185415"/>
            <a:ext cx="32004" cy="3099816"/>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34759" y="2322576"/>
            <a:ext cx="3657600" cy="201168"/>
          </a:xfrm>
          <a:prstGeom prst="rect">
            <a:avLst/>
          </a:prstGeom>
          <a:noFill/>
        </p:spPr>
        <p:txBody>
          <a:bodyPr wrap="square" lIns="0" tIns="0" rIns="0" bIns="0" anchor="t">
            <a:spAutoFit/>
          </a:bodyPr>
          <a:lstStyle/>
          <a:p>
            <a:pPr algn="l">
              <a:lnSpc>
                <a:spcPct val="100000"/>
              </a:lnSpc>
            </a:pPr>
            <a:r>
              <a:rPr sz="800" b="1" i="0" spc="160">
                <a:solidFill>
                  <a:srgbClr val="9A6200"/>
                </a:solidFill>
                <a:latin typeface="Segoe UI"/>
              </a:rPr>
              <a:t>PHÁT HIỆN BẤT THƯỜNG</a:t>
            </a:r>
          </a:p>
        </p:txBody>
      </p:sp>
      <p:sp>
        <p:nvSpPr>
          <p:cNvPr id="23" name="TextBox 22"/>
          <p:cNvSpPr txBox="1"/>
          <p:nvPr/>
        </p:nvSpPr>
        <p:spPr>
          <a:xfrm>
            <a:off x="6534759" y="2578608"/>
            <a:ext cx="4651095" cy="292608"/>
          </a:xfrm>
          <a:prstGeom prst="rect">
            <a:avLst/>
          </a:prstGeom>
          <a:noFill/>
        </p:spPr>
        <p:txBody>
          <a:bodyPr wrap="square" lIns="0" tIns="0" rIns="0" bIns="0" anchor="t">
            <a:spAutoFit/>
          </a:bodyPr>
          <a:lstStyle/>
          <a:p>
            <a:pPr algn="l">
              <a:lnSpc>
                <a:spcPct val="100000"/>
              </a:lnSpc>
            </a:pPr>
            <a:r>
              <a:rPr sz="1400" b="1" i="0">
                <a:solidFill>
                  <a:srgbClr val="111111"/>
                </a:solidFill>
                <a:latin typeface="Segoe UI"/>
              </a:rPr>
              <a:t>Máy này có đang yếu đi?</a:t>
            </a:r>
          </a:p>
        </p:txBody>
      </p:sp>
      <p:sp>
        <p:nvSpPr>
          <p:cNvPr id="24" name="Rectangle 23"/>
          <p:cNvSpPr/>
          <p:nvPr/>
        </p:nvSpPr>
        <p:spPr>
          <a:xfrm>
            <a:off x="6534759" y="3108960"/>
            <a:ext cx="64008" cy="64008"/>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35927" y="3035808"/>
            <a:ext cx="386471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Tốc độ hạ nhiệt chậm dần</a:t>
            </a:r>
          </a:p>
        </p:txBody>
      </p:sp>
      <p:sp>
        <p:nvSpPr>
          <p:cNvPr id="26" name="TextBox 25"/>
          <p:cNvSpPr txBox="1"/>
          <p:nvPr/>
        </p:nvSpPr>
        <p:spPr>
          <a:xfrm>
            <a:off x="6735927" y="3236976"/>
            <a:ext cx="4413351" cy="182880"/>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lọc bẩn hoặc thiếu gas</a:t>
            </a:r>
          </a:p>
        </p:txBody>
      </p:sp>
      <p:sp>
        <p:nvSpPr>
          <p:cNvPr id="27" name="Rectangle 26"/>
          <p:cNvSpPr/>
          <p:nvPr/>
        </p:nvSpPr>
        <p:spPr>
          <a:xfrm>
            <a:off x="6534759" y="3493008"/>
            <a:ext cx="64008" cy="64008"/>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35927" y="3419856"/>
            <a:ext cx="386471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Chạy lâu hơn cho cùng mức lạnh</a:t>
            </a:r>
          </a:p>
        </p:txBody>
      </p:sp>
      <p:sp>
        <p:nvSpPr>
          <p:cNvPr id="29" name="TextBox 28"/>
          <p:cNvSpPr txBox="1"/>
          <p:nvPr/>
        </p:nvSpPr>
        <p:spPr>
          <a:xfrm>
            <a:off x="6735927" y="3621024"/>
            <a:ext cx="4413351" cy="182880"/>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hiệu suất suy giảm</a:t>
            </a:r>
          </a:p>
        </p:txBody>
      </p:sp>
      <p:sp>
        <p:nvSpPr>
          <p:cNvPr id="30" name="Rectangle 29"/>
          <p:cNvSpPr/>
          <p:nvPr/>
        </p:nvSpPr>
        <p:spPr>
          <a:xfrm>
            <a:off x="6534759" y="3877056"/>
            <a:ext cx="64008" cy="64008"/>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35927" y="3803904"/>
            <a:ext cx="386471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Nhiệt độ không giảm dù máy chạy</a:t>
            </a:r>
          </a:p>
        </p:txBody>
      </p:sp>
      <p:sp>
        <p:nvSpPr>
          <p:cNvPr id="32" name="TextBox 31"/>
          <p:cNvSpPr txBox="1"/>
          <p:nvPr/>
        </p:nvSpPr>
        <p:spPr>
          <a:xfrm>
            <a:off x="6735927" y="4005072"/>
            <a:ext cx="4413351" cy="182880"/>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cửa mở hoặc hỏng nặng</a:t>
            </a:r>
          </a:p>
        </p:txBody>
      </p:sp>
      <p:sp>
        <p:nvSpPr>
          <p:cNvPr id="33" name="Rectangle 32"/>
          <p:cNvSpPr/>
          <p:nvPr/>
        </p:nvSpPr>
        <p:spPr>
          <a:xfrm>
            <a:off x="6534759" y="4261104"/>
            <a:ext cx="64008" cy="64008"/>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35927" y="4187952"/>
            <a:ext cx="3864711" cy="237744"/>
          </a:xfrm>
          <a:prstGeom prst="rect">
            <a:avLst/>
          </a:prstGeom>
          <a:noFill/>
        </p:spPr>
        <p:txBody>
          <a:bodyPr wrap="square" lIns="0" tIns="0" rIns="0" bIns="0" anchor="t">
            <a:spAutoFit/>
          </a:bodyPr>
          <a:lstStyle/>
          <a:p>
            <a:pPr algn="l">
              <a:lnSpc>
                <a:spcPct val="100000"/>
              </a:lnSpc>
            </a:pPr>
            <a:r>
              <a:rPr sz="1050" b="0" i="0">
                <a:solidFill>
                  <a:srgbClr val="556575"/>
                </a:solidFill>
                <a:latin typeface="Segoe UI"/>
              </a:rPr>
              <a:t>Node im lặng quá lâu</a:t>
            </a:r>
          </a:p>
        </p:txBody>
      </p:sp>
      <p:sp>
        <p:nvSpPr>
          <p:cNvPr id="35" name="TextBox 34"/>
          <p:cNvSpPr txBox="1"/>
          <p:nvPr/>
        </p:nvSpPr>
        <p:spPr>
          <a:xfrm>
            <a:off x="6735927" y="4389120"/>
            <a:ext cx="4413351" cy="182880"/>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mất điện hoặc hỏng cảm biến</a:t>
            </a:r>
          </a:p>
        </p:txBody>
      </p:sp>
      <p:sp>
        <p:nvSpPr>
          <p:cNvPr id="36" name="TextBox 35"/>
          <p:cNvSpPr txBox="1"/>
          <p:nvPr/>
        </p:nvSpPr>
        <p:spPr>
          <a:xfrm>
            <a:off x="6534759" y="4736592"/>
            <a:ext cx="4651095" cy="384048"/>
          </a:xfrm>
          <a:prstGeom prst="rect">
            <a:avLst/>
          </a:prstGeom>
          <a:noFill/>
        </p:spPr>
        <p:txBody>
          <a:bodyPr wrap="square" lIns="0" tIns="0" rIns="0" bIns="0" anchor="t">
            <a:spAutoFit/>
          </a:bodyPr>
          <a:lstStyle/>
          <a:p>
            <a:pPr algn="l">
              <a:lnSpc>
                <a:spcPct val="120000"/>
              </a:lnSpc>
            </a:pPr>
            <a:r>
              <a:rPr sz="1000" b="0" i="0">
                <a:solidFill>
                  <a:srgbClr val="111111"/>
                </a:solidFill>
                <a:latin typeface="Segoe UI"/>
              </a:rPr>
              <a:t>Kết quả: bảo trì trước khi khách gọi — dịch vụ, không phải sửa chữa.</a:t>
            </a:r>
          </a:p>
        </p:txBody>
      </p:sp>
      <p:sp>
        <p:nvSpPr>
          <p:cNvPr id="37" name="Rectangle 36"/>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14 — cùng một chuỗi dữ liệu, hai câu hỏi khác nhau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VẬN HÀNH</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15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Vòng điều khiển, từng bước</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Một chu kỳ hoàn chỉnh: đo, dự báo, quyết định, hành động, học lại.</a:t>
            </a:r>
          </a:p>
        </p:txBody>
      </p:sp>
      <p:sp>
        <p:nvSpPr>
          <p:cNvPr id="7" name="Freeform 6"/>
          <p:cNvSpPr/>
          <p:nvPr/>
        </p:nvSpPr>
        <p:spPr>
          <a:xfrm>
            <a:off x="713232" y="2066543"/>
            <a:ext cx="1641805" cy="2450592"/>
          </a:xfrm>
          <a:custGeom>
            <a:avLst/>
            <a:gdLst/>
            <a:ahLst/>
            <a:cxnLst/>
            <a:rect l="l" t="t" r="r" b="b"/>
            <a:pathLst>
              <a:path w="1641805" h="2450592">
                <a:moveTo>
                  <a:pt x="118872" y="0"/>
                </a:moveTo>
                <a:lnTo>
                  <a:pt x="1641805" y="0"/>
                </a:lnTo>
                <a:lnTo>
                  <a:pt x="1641805" y="2331720"/>
                </a:lnTo>
                <a:lnTo>
                  <a:pt x="1522933" y="2450592"/>
                </a:lnTo>
                <a:lnTo>
                  <a:pt x="0" y="24505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32104" y="2066543"/>
            <a:ext cx="1522933" cy="32004"/>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22576"/>
            <a:ext cx="1239469" cy="365760"/>
          </a:xfrm>
          <a:prstGeom prst="rect">
            <a:avLst/>
          </a:prstGeom>
          <a:noFill/>
        </p:spPr>
        <p:txBody>
          <a:bodyPr wrap="square" lIns="0" tIns="0" rIns="0" bIns="0" anchor="t">
            <a:spAutoFit/>
          </a:bodyPr>
          <a:lstStyle/>
          <a:p>
            <a:pPr algn="l">
              <a:lnSpc>
                <a:spcPct val="90000"/>
              </a:lnSpc>
            </a:pPr>
            <a:r>
              <a:rPr sz="2500" b="1" i="0">
                <a:solidFill>
                  <a:srgbClr val="007A45"/>
                </a:solidFill>
                <a:latin typeface="Consolas"/>
              </a:rPr>
              <a:t>01</a:t>
            </a:r>
          </a:p>
        </p:txBody>
      </p:sp>
      <p:sp>
        <p:nvSpPr>
          <p:cNvPr id="10" name="TextBox 9"/>
          <p:cNvSpPr txBox="1"/>
          <p:nvPr/>
        </p:nvSpPr>
        <p:spPr>
          <a:xfrm>
            <a:off x="914400" y="2798063"/>
            <a:ext cx="1239469" cy="237744"/>
          </a:xfrm>
          <a:prstGeom prst="rect">
            <a:avLst/>
          </a:prstGeom>
          <a:noFill/>
        </p:spPr>
        <p:txBody>
          <a:bodyPr wrap="square" lIns="0" tIns="0" rIns="0" bIns="0" anchor="t">
            <a:spAutoFit/>
          </a:bodyPr>
          <a:lstStyle/>
          <a:p>
            <a:pPr algn="l">
              <a:lnSpc>
                <a:spcPct val="100000"/>
              </a:lnSpc>
            </a:pPr>
            <a:r>
              <a:rPr sz="1150" b="1" i="0" spc="80">
                <a:solidFill>
                  <a:srgbClr val="111111"/>
                </a:solidFill>
                <a:latin typeface="Segoe UI"/>
              </a:rPr>
              <a:t>ĐO</a:t>
            </a:r>
          </a:p>
        </p:txBody>
      </p:sp>
      <p:sp>
        <p:nvSpPr>
          <p:cNvPr id="11" name="TextBox 10"/>
          <p:cNvSpPr txBox="1"/>
          <p:nvPr/>
        </p:nvSpPr>
        <p:spPr>
          <a:xfrm>
            <a:off x="914400" y="3108959"/>
            <a:ext cx="1239469" cy="1005840"/>
          </a:xfrm>
          <a:prstGeom prst="rect">
            <a:avLst/>
          </a:prstGeom>
          <a:noFill/>
        </p:spPr>
        <p:txBody>
          <a:bodyPr wrap="square" lIns="0" tIns="0" rIns="0" bIns="0" anchor="t">
            <a:spAutoFit/>
          </a:bodyPr>
          <a:lstStyle/>
          <a:p>
            <a:pPr algn="l">
              <a:lnSpc>
                <a:spcPct val="120000"/>
              </a:lnSpc>
            </a:pPr>
            <a:r>
              <a:rPr sz="950" b="0" i="0">
                <a:solidFill>
                  <a:srgbClr val="556575"/>
                </a:solidFill>
                <a:latin typeface="Segoe UI"/>
              </a:rPr>
              <a:t>ESP32 và ESP8266 gửi nhiệt/ẩm</a:t>
            </a:r>
          </a:p>
        </p:txBody>
      </p:sp>
      <p:sp>
        <p:nvSpPr>
          <p:cNvPr id="12" name="TextBox 11"/>
          <p:cNvSpPr txBox="1"/>
          <p:nvPr/>
        </p:nvSpPr>
        <p:spPr>
          <a:xfrm>
            <a:off x="914400" y="4169663"/>
            <a:ext cx="1239469"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mỗi 15 giây</a:t>
            </a:r>
          </a:p>
        </p:txBody>
      </p:sp>
      <p:sp>
        <p:nvSpPr>
          <p:cNvPr id="13" name="Rectangle 12"/>
          <p:cNvSpPr/>
          <p:nvPr/>
        </p:nvSpPr>
        <p:spPr>
          <a:xfrm>
            <a:off x="2414473" y="3273552"/>
            <a:ext cx="64008"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2537917" y="2066543"/>
            <a:ext cx="1641805" cy="2450592"/>
          </a:xfrm>
          <a:custGeom>
            <a:avLst/>
            <a:gdLst/>
            <a:ahLst/>
            <a:cxnLst/>
            <a:rect l="l" t="t" r="r" b="b"/>
            <a:pathLst>
              <a:path w="1641805" h="2450592">
                <a:moveTo>
                  <a:pt x="118872" y="0"/>
                </a:moveTo>
                <a:lnTo>
                  <a:pt x="1641805" y="0"/>
                </a:lnTo>
                <a:lnTo>
                  <a:pt x="1641805" y="2331720"/>
                </a:lnTo>
                <a:lnTo>
                  <a:pt x="1522933" y="2450592"/>
                </a:lnTo>
                <a:lnTo>
                  <a:pt x="0" y="24505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56789" y="2066543"/>
            <a:ext cx="1522933" cy="32004"/>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39085" y="2322576"/>
            <a:ext cx="1239469" cy="365760"/>
          </a:xfrm>
          <a:prstGeom prst="rect">
            <a:avLst/>
          </a:prstGeom>
          <a:noFill/>
        </p:spPr>
        <p:txBody>
          <a:bodyPr wrap="square" lIns="0" tIns="0" rIns="0" bIns="0" anchor="t">
            <a:spAutoFit/>
          </a:bodyPr>
          <a:lstStyle/>
          <a:p>
            <a:pPr algn="l">
              <a:lnSpc>
                <a:spcPct val="90000"/>
              </a:lnSpc>
            </a:pPr>
            <a:r>
              <a:rPr sz="2500" b="1" i="0">
                <a:solidFill>
                  <a:srgbClr val="0044CC"/>
                </a:solidFill>
                <a:latin typeface="Consolas"/>
              </a:rPr>
              <a:t>02</a:t>
            </a:r>
          </a:p>
        </p:txBody>
      </p:sp>
      <p:sp>
        <p:nvSpPr>
          <p:cNvPr id="17" name="TextBox 16"/>
          <p:cNvSpPr txBox="1"/>
          <p:nvPr/>
        </p:nvSpPr>
        <p:spPr>
          <a:xfrm>
            <a:off x="2739085" y="2798063"/>
            <a:ext cx="1239469" cy="237744"/>
          </a:xfrm>
          <a:prstGeom prst="rect">
            <a:avLst/>
          </a:prstGeom>
          <a:noFill/>
        </p:spPr>
        <p:txBody>
          <a:bodyPr wrap="square" lIns="0" tIns="0" rIns="0" bIns="0" anchor="t">
            <a:spAutoFit/>
          </a:bodyPr>
          <a:lstStyle/>
          <a:p>
            <a:pPr algn="l">
              <a:lnSpc>
                <a:spcPct val="100000"/>
              </a:lnSpc>
            </a:pPr>
            <a:r>
              <a:rPr sz="1150" b="1" i="0" spc="80">
                <a:solidFill>
                  <a:srgbClr val="111111"/>
                </a:solidFill>
                <a:latin typeface="Segoe UI"/>
              </a:rPr>
              <a:t>GOM</a:t>
            </a:r>
          </a:p>
        </p:txBody>
      </p:sp>
      <p:sp>
        <p:nvSpPr>
          <p:cNvPr id="18" name="TextBox 17"/>
          <p:cNvSpPr txBox="1"/>
          <p:nvPr/>
        </p:nvSpPr>
        <p:spPr>
          <a:xfrm>
            <a:off x="2739085" y="3108959"/>
            <a:ext cx="1239469" cy="1005840"/>
          </a:xfrm>
          <a:prstGeom prst="rect">
            <a:avLst/>
          </a:prstGeom>
          <a:noFill/>
        </p:spPr>
        <p:txBody>
          <a:bodyPr wrap="square" lIns="0" tIns="0" rIns="0" bIns="0" anchor="t">
            <a:spAutoFit/>
          </a:bodyPr>
          <a:lstStyle/>
          <a:p>
            <a:pPr algn="l">
              <a:lnSpc>
                <a:spcPct val="120000"/>
              </a:lnSpc>
            </a:pPr>
            <a:r>
              <a:rPr sz="950" b="0" i="0">
                <a:solidFill>
                  <a:srgbClr val="556575"/>
                </a:solidFill>
                <a:latin typeface="Segoe UI"/>
              </a:rPr>
              <a:t>UNO Q nhận, làm sạch, ghép chuỗi thời gian</a:t>
            </a:r>
          </a:p>
        </p:txBody>
      </p:sp>
      <p:sp>
        <p:nvSpPr>
          <p:cNvPr id="19" name="TextBox 18"/>
          <p:cNvSpPr txBox="1"/>
          <p:nvPr/>
        </p:nvSpPr>
        <p:spPr>
          <a:xfrm>
            <a:off x="2739085" y="4169663"/>
            <a:ext cx="1239469"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liên tục</a:t>
            </a:r>
          </a:p>
        </p:txBody>
      </p:sp>
      <p:sp>
        <p:nvSpPr>
          <p:cNvPr id="20" name="Rectangle 19"/>
          <p:cNvSpPr/>
          <p:nvPr/>
        </p:nvSpPr>
        <p:spPr>
          <a:xfrm>
            <a:off x="4239158" y="3273552"/>
            <a:ext cx="64008"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4362602" y="2066543"/>
            <a:ext cx="1641805" cy="2450592"/>
          </a:xfrm>
          <a:custGeom>
            <a:avLst/>
            <a:gdLst/>
            <a:ahLst/>
            <a:cxnLst/>
            <a:rect l="l" t="t" r="r" b="b"/>
            <a:pathLst>
              <a:path w="1641805" h="2450592">
                <a:moveTo>
                  <a:pt x="118872" y="0"/>
                </a:moveTo>
                <a:lnTo>
                  <a:pt x="1641805" y="0"/>
                </a:lnTo>
                <a:lnTo>
                  <a:pt x="1641805" y="2331720"/>
                </a:lnTo>
                <a:lnTo>
                  <a:pt x="1522933" y="2450592"/>
                </a:lnTo>
                <a:lnTo>
                  <a:pt x="0" y="24505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1474" y="2066543"/>
            <a:ext cx="1522933" cy="32004"/>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63770" y="2322576"/>
            <a:ext cx="1239469" cy="365760"/>
          </a:xfrm>
          <a:prstGeom prst="rect">
            <a:avLst/>
          </a:prstGeom>
          <a:noFill/>
        </p:spPr>
        <p:txBody>
          <a:bodyPr wrap="square" lIns="0" tIns="0" rIns="0" bIns="0" anchor="t">
            <a:spAutoFit/>
          </a:bodyPr>
          <a:lstStyle/>
          <a:p>
            <a:pPr algn="l">
              <a:lnSpc>
                <a:spcPct val="90000"/>
              </a:lnSpc>
            </a:pPr>
            <a:r>
              <a:rPr sz="2500" b="1" i="0">
                <a:solidFill>
                  <a:srgbClr val="0044CC"/>
                </a:solidFill>
                <a:latin typeface="Consolas"/>
              </a:rPr>
              <a:t>03</a:t>
            </a:r>
          </a:p>
        </p:txBody>
      </p:sp>
      <p:sp>
        <p:nvSpPr>
          <p:cNvPr id="24" name="TextBox 23"/>
          <p:cNvSpPr txBox="1"/>
          <p:nvPr/>
        </p:nvSpPr>
        <p:spPr>
          <a:xfrm>
            <a:off x="4563770" y="2798063"/>
            <a:ext cx="1239469" cy="237744"/>
          </a:xfrm>
          <a:prstGeom prst="rect">
            <a:avLst/>
          </a:prstGeom>
          <a:noFill/>
        </p:spPr>
        <p:txBody>
          <a:bodyPr wrap="square" lIns="0" tIns="0" rIns="0" bIns="0" anchor="t">
            <a:spAutoFit/>
          </a:bodyPr>
          <a:lstStyle/>
          <a:p>
            <a:pPr algn="l">
              <a:lnSpc>
                <a:spcPct val="100000"/>
              </a:lnSpc>
            </a:pPr>
            <a:r>
              <a:rPr sz="1150" b="1" i="0" spc="80">
                <a:solidFill>
                  <a:srgbClr val="111111"/>
                </a:solidFill>
                <a:latin typeface="Segoe UI"/>
              </a:rPr>
              <a:t>DỰ BÁO</a:t>
            </a:r>
          </a:p>
        </p:txBody>
      </p:sp>
      <p:sp>
        <p:nvSpPr>
          <p:cNvPr id="25" name="TextBox 24"/>
          <p:cNvSpPr txBox="1"/>
          <p:nvPr/>
        </p:nvSpPr>
        <p:spPr>
          <a:xfrm>
            <a:off x="4563770" y="3108959"/>
            <a:ext cx="1239469" cy="1005840"/>
          </a:xfrm>
          <a:prstGeom prst="rect">
            <a:avLst/>
          </a:prstGeom>
          <a:noFill/>
        </p:spPr>
        <p:txBody>
          <a:bodyPr wrap="square" lIns="0" tIns="0" rIns="0" bIns="0" anchor="t">
            <a:spAutoFit/>
          </a:bodyPr>
          <a:lstStyle/>
          <a:p>
            <a:pPr algn="l">
              <a:lnSpc>
                <a:spcPct val="120000"/>
              </a:lnSpc>
            </a:pPr>
            <a:r>
              <a:rPr sz="950" b="0" i="0">
                <a:solidFill>
                  <a:srgbClr val="556575"/>
                </a:solidFill>
                <a:latin typeface="Segoe UI"/>
              </a:rPr>
              <a:t>Mô hình cho ra nhiệt độ 15/30/60 phút tới</a:t>
            </a:r>
          </a:p>
        </p:txBody>
      </p:sp>
      <p:sp>
        <p:nvSpPr>
          <p:cNvPr id="26" name="TextBox 25"/>
          <p:cNvSpPr txBox="1"/>
          <p:nvPr/>
        </p:nvSpPr>
        <p:spPr>
          <a:xfrm>
            <a:off x="4563770" y="4169663"/>
            <a:ext cx="1239469"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mỗi phút</a:t>
            </a:r>
          </a:p>
        </p:txBody>
      </p:sp>
      <p:sp>
        <p:nvSpPr>
          <p:cNvPr id="27" name="Rectangle 26"/>
          <p:cNvSpPr/>
          <p:nvPr/>
        </p:nvSpPr>
        <p:spPr>
          <a:xfrm>
            <a:off x="6063843" y="3273552"/>
            <a:ext cx="64008"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6187287" y="2066543"/>
            <a:ext cx="1641805" cy="2450592"/>
          </a:xfrm>
          <a:custGeom>
            <a:avLst/>
            <a:gdLst/>
            <a:ahLst/>
            <a:cxnLst/>
            <a:rect l="l" t="t" r="r" b="b"/>
            <a:pathLst>
              <a:path w="1641805" h="2450592">
                <a:moveTo>
                  <a:pt x="118872" y="0"/>
                </a:moveTo>
                <a:lnTo>
                  <a:pt x="1641805" y="0"/>
                </a:lnTo>
                <a:lnTo>
                  <a:pt x="1641805" y="2331720"/>
                </a:lnTo>
                <a:lnTo>
                  <a:pt x="1522933" y="2450592"/>
                </a:lnTo>
                <a:lnTo>
                  <a:pt x="0" y="24505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306159" y="2066543"/>
            <a:ext cx="1522933" cy="32004"/>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88455" y="2322576"/>
            <a:ext cx="1239469" cy="365760"/>
          </a:xfrm>
          <a:prstGeom prst="rect">
            <a:avLst/>
          </a:prstGeom>
          <a:noFill/>
        </p:spPr>
        <p:txBody>
          <a:bodyPr wrap="square" lIns="0" tIns="0" rIns="0" bIns="0" anchor="t">
            <a:spAutoFit/>
          </a:bodyPr>
          <a:lstStyle/>
          <a:p>
            <a:pPr algn="l">
              <a:lnSpc>
                <a:spcPct val="90000"/>
              </a:lnSpc>
            </a:pPr>
            <a:r>
              <a:rPr sz="2500" b="1" i="0">
                <a:solidFill>
                  <a:srgbClr val="9A6200"/>
                </a:solidFill>
                <a:latin typeface="Consolas"/>
              </a:rPr>
              <a:t>04</a:t>
            </a:r>
          </a:p>
        </p:txBody>
      </p:sp>
      <p:sp>
        <p:nvSpPr>
          <p:cNvPr id="31" name="TextBox 30"/>
          <p:cNvSpPr txBox="1"/>
          <p:nvPr/>
        </p:nvSpPr>
        <p:spPr>
          <a:xfrm>
            <a:off x="6388455" y="2798063"/>
            <a:ext cx="1239469" cy="237744"/>
          </a:xfrm>
          <a:prstGeom prst="rect">
            <a:avLst/>
          </a:prstGeom>
          <a:noFill/>
        </p:spPr>
        <p:txBody>
          <a:bodyPr wrap="square" lIns="0" tIns="0" rIns="0" bIns="0" anchor="t">
            <a:spAutoFit/>
          </a:bodyPr>
          <a:lstStyle/>
          <a:p>
            <a:pPr algn="l">
              <a:lnSpc>
                <a:spcPct val="100000"/>
              </a:lnSpc>
            </a:pPr>
            <a:r>
              <a:rPr sz="1150" b="1" i="0" spc="80">
                <a:solidFill>
                  <a:srgbClr val="111111"/>
                </a:solidFill>
                <a:latin typeface="Segoe UI"/>
              </a:rPr>
              <a:t>QUYẾT ĐỊNH</a:t>
            </a:r>
          </a:p>
        </p:txBody>
      </p:sp>
      <p:sp>
        <p:nvSpPr>
          <p:cNvPr id="32" name="TextBox 31"/>
          <p:cNvSpPr txBox="1"/>
          <p:nvPr/>
        </p:nvSpPr>
        <p:spPr>
          <a:xfrm>
            <a:off x="6388455" y="3108959"/>
            <a:ext cx="1239469" cy="1005840"/>
          </a:xfrm>
          <a:prstGeom prst="rect">
            <a:avLst/>
          </a:prstGeom>
          <a:noFill/>
        </p:spPr>
        <p:txBody>
          <a:bodyPr wrap="square" lIns="0" tIns="0" rIns="0" bIns="0" anchor="t">
            <a:spAutoFit/>
          </a:bodyPr>
          <a:lstStyle/>
          <a:p>
            <a:pPr algn="l">
              <a:lnSpc>
                <a:spcPct val="120000"/>
              </a:lnSpc>
            </a:pPr>
            <a:r>
              <a:rPr sz="950" b="0" i="0">
                <a:solidFill>
                  <a:srgbClr val="556575"/>
                </a:solidFill>
                <a:latin typeface="Segoe UI"/>
              </a:rPr>
              <a:t>Chạy thuật toán comfort với T_rm đã dự báo → nhiệt độ đặt</a:t>
            </a:r>
          </a:p>
        </p:txBody>
      </p:sp>
      <p:sp>
        <p:nvSpPr>
          <p:cNvPr id="33" name="TextBox 32"/>
          <p:cNvSpPr txBox="1"/>
          <p:nvPr/>
        </p:nvSpPr>
        <p:spPr>
          <a:xfrm>
            <a:off x="6388455" y="4169663"/>
            <a:ext cx="1239469"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mỗi phút</a:t>
            </a:r>
          </a:p>
        </p:txBody>
      </p:sp>
      <p:sp>
        <p:nvSpPr>
          <p:cNvPr id="34" name="Rectangle 33"/>
          <p:cNvSpPr/>
          <p:nvPr/>
        </p:nvSpPr>
        <p:spPr>
          <a:xfrm>
            <a:off x="7888528" y="3273552"/>
            <a:ext cx="64008"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reeform 34"/>
          <p:cNvSpPr/>
          <p:nvPr/>
        </p:nvSpPr>
        <p:spPr>
          <a:xfrm>
            <a:off x="8011972" y="2066543"/>
            <a:ext cx="1641805" cy="2450592"/>
          </a:xfrm>
          <a:custGeom>
            <a:avLst/>
            <a:gdLst/>
            <a:ahLst/>
            <a:cxnLst/>
            <a:rect l="l" t="t" r="r" b="b"/>
            <a:pathLst>
              <a:path w="1641805" h="2450592">
                <a:moveTo>
                  <a:pt x="118872" y="0"/>
                </a:moveTo>
                <a:lnTo>
                  <a:pt x="1641805" y="0"/>
                </a:lnTo>
                <a:lnTo>
                  <a:pt x="1641805" y="2331720"/>
                </a:lnTo>
                <a:lnTo>
                  <a:pt x="1522933" y="2450592"/>
                </a:lnTo>
                <a:lnTo>
                  <a:pt x="0" y="24505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130844" y="2066543"/>
            <a:ext cx="1522933" cy="32004"/>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13140" y="2322576"/>
            <a:ext cx="1239469" cy="365760"/>
          </a:xfrm>
          <a:prstGeom prst="rect">
            <a:avLst/>
          </a:prstGeom>
          <a:noFill/>
        </p:spPr>
        <p:txBody>
          <a:bodyPr wrap="square" lIns="0" tIns="0" rIns="0" bIns="0" anchor="t">
            <a:spAutoFit/>
          </a:bodyPr>
          <a:lstStyle/>
          <a:p>
            <a:pPr algn="l">
              <a:lnSpc>
                <a:spcPct val="90000"/>
              </a:lnSpc>
            </a:pPr>
            <a:r>
              <a:rPr sz="2500" b="1" i="0">
                <a:solidFill>
                  <a:srgbClr val="007A45"/>
                </a:solidFill>
                <a:latin typeface="Consolas"/>
              </a:rPr>
              <a:t>05</a:t>
            </a:r>
          </a:p>
        </p:txBody>
      </p:sp>
      <p:sp>
        <p:nvSpPr>
          <p:cNvPr id="38" name="TextBox 37"/>
          <p:cNvSpPr txBox="1"/>
          <p:nvPr/>
        </p:nvSpPr>
        <p:spPr>
          <a:xfrm>
            <a:off x="8213140" y="2798063"/>
            <a:ext cx="1239469" cy="237744"/>
          </a:xfrm>
          <a:prstGeom prst="rect">
            <a:avLst/>
          </a:prstGeom>
          <a:noFill/>
        </p:spPr>
        <p:txBody>
          <a:bodyPr wrap="square" lIns="0" tIns="0" rIns="0" bIns="0" anchor="t">
            <a:spAutoFit/>
          </a:bodyPr>
          <a:lstStyle/>
          <a:p>
            <a:pPr algn="l">
              <a:lnSpc>
                <a:spcPct val="100000"/>
              </a:lnSpc>
            </a:pPr>
            <a:r>
              <a:rPr sz="1150" b="1" i="0" spc="80">
                <a:solidFill>
                  <a:srgbClr val="111111"/>
                </a:solidFill>
                <a:latin typeface="Segoe UI"/>
              </a:rPr>
              <a:t>HÀNH ĐỘNG</a:t>
            </a:r>
          </a:p>
        </p:txBody>
      </p:sp>
      <p:sp>
        <p:nvSpPr>
          <p:cNvPr id="39" name="TextBox 38"/>
          <p:cNvSpPr txBox="1"/>
          <p:nvPr/>
        </p:nvSpPr>
        <p:spPr>
          <a:xfrm>
            <a:off x="8213140" y="3108959"/>
            <a:ext cx="1239469" cy="1005840"/>
          </a:xfrm>
          <a:prstGeom prst="rect">
            <a:avLst/>
          </a:prstGeom>
          <a:noFill/>
        </p:spPr>
        <p:txBody>
          <a:bodyPr wrap="square" lIns="0" tIns="0" rIns="0" bIns="0" anchor="t">
            <a:spAutoFit/>
          </a:bodyPr>
          <a:lstStyle/>
          <a:p>
            <a:pPr algn="l">
              <a:lnSpc>
                <a:spcPct val="120000"/>
              </a:lnSpc>
            </a:pPr>
            <a:r>
              <a:rPr sz="950" b="0" i="0">
                <a:solidFill>
                  <a:srgbClr val="556575"/>
                </a:solidFill>
                <a:latin typeface="Segoe UI"/>
              </a:rPr>
              <a:t>Gửi lệnh xuống node, node phát mã hồng ngoại</a:t>
            </a:r>
          </a:p>
        </p:txBody>
      </p:sp>
      <p:sp>
        <p:nvSpPr>
          <p:cNvPr id="40" name="TextBox 39"/>
          <p:cNvSpPr txBox="1"/>
          <p:nvPr/>
        </p:nvSpPr>
        <p:spPr>
          <a:xfrm>
            <a:off x="8213140" y="4169663"/>
            <a:ext cx="1239469"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khi cần đổi</a:t>
            </a:r>
          </a:p>
        </p:txBody>
      </p:sp>
      <p:sp>
        <p:nvSpPr>
          <p:cNvPr id="41" name="Rectangle 40"/>
          <p:cNvSpPr/>
          <p:nvPr/>
        </p:nvSpPr>
        <p:spPr>
          <a:xfrm>
            <a:off x="9713214" y="3273552"/>
            <a:ext cx="64008"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Freeform 41"/>
          <p:cNvSpPr/>
          <p:nvPr/>
        </p:nvSpPr>
        <p:spPr>
          <a:xfrm>
            <a:off x="9836658" y="2066543"/>
            <a:ext cx="1641805" cy="2450592"/>
          </a:xfrm>
          <a:custGeom>
            <a:avLst/>
            <a:gdLst/>
            <a:ahLst/>
            <a:cxnLst/>
            <a:rect l="l" t="t" r="r" b="b"/>
            <a:pathLst>
              <a:path w="1641805" h="2450592">
                <a:moveTo>
                  <a:pt x="118872" y="0"/>
                </a:moveTo>
                <a:lnTo>
                  <a:pt x="1641805" y="0"/>
                </a:lnTo>
                <a:lnTo>
                  <a:pt x="1641805" y="2331720"/>
                </a:lnTo>
                <a:lnTo>
                  <a:pt x="1522933" y="2450592"/>
                </a:lnTo>
                <a:lnTo>
                  <a:pt x="0" y="2450592"/>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955530" y="2066543"/>
            <a:ext cx="1522933" cy="32004"/>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037826" y="2322576"/>
            <a:ext cx="1239469" cy="365760"/>
          </a:xfrm>
          <a:prstGeom prst="rect">
            <a:avLst/>
          </a:prstGeom>
          <a:noFill/>
        </p:spPr>
        <p:txBody>
          <a:bodyPr wrap="square" lIns="0" tIns="0" rIns="0" bIns="0" anchor="t">
            <a:spAutoFit/>
          </a:bodyPr>
          <a:lstStyle/>
          <a:p>
            <a:pPr algn="l">
              <a:lnSpc>
                <a:spcPct val="90000"/>
              </a:lnSpc>
            </a:pPr>
            <a:r>
              <a:rPr sz="2500" b="1" i="0">
                <a:solidFill>
                  <a:srgbClr val="0044CC"/>
                </a:solidFill>
                <a:latin typeface="Consolas"/>
              </a:rPr>
              <a:t>06</a:t>
            </a:r>
          </a:p>
        </p:txBody>
      </p:sp>
      <p:sp>
        <p:nvSpPr>
          <p:cNvPr id="45" name="TextBox 44"/>
          <p:cNvSpPr txBox="1"/>
          <p:nvPr/>
        </p:nvSpPr>
        <p:spPr>
          <a:xfrm>
            <a:off x="10037826" y="2798063"/>
            <a:ext cx="1239469" cy="237744"/>
          </a:xfrm>
          <a:prstGeom prst="rect">
            <a:avLst/>
          </a:prstGeom>
          <a:noFill/>
        </p:spPr>
        <p:txBody>
          <a:bodyPr wrap="square" lIns="0" tIns="0" rIns="0" bIns="0" anchor="t">
            <a:spAutoFit/>
          </a:bodyPr>
          <a:lstStyle/>
          <a:p>
            <a:pPr algn="l">
              <a:lnSpc>
                <a:spcPct val="100000"/>
              </a:lnSpc>
            </a:pPr>
            <a:r>
              <a:rPr sz="1150" b="1" i="0" spc="80">
                <a:solidFill>
                  <a:srgbClr val="111111"/>
                </a:solidFill>
                <a:latin typeface="Segoe UI"/>
              </a:rPr>
              <a:t>HỌC</a:t>
            </a:r>
          </a:p>
        </p:txBody>
      </p:sp>
      <p:sp>
        <p:nvSpPr>
          <p:cNvPr id="46" name="TextBox 45"/>
          <p:cNvSpPr txBox="1"/>
          <p:nvPr/>
        </p:nvSpPr>
        <p:spPr>
          <a:xfrm>
            <a:off x="10037826" y="3108959"/>
            <a:ext cx="1239469" cy="1005840"/>
          </a:xfrm>
          <a:prstGeom prst="rect">
            <a:avLst/>
          </a:prstGeom>
          <a:noFill/>
        </p:spPr>
        <p:txBody>
          <a:bodyPr wrap="square" lIns="0" tIns="0" rIns="0" bIns="0" anchor="t">
            <a:spAutoFit/>
          </a:bodyPr>
          <a:lstStyle/>
          <a:p>
            <a:pPr algn="l">
              <a:lnSpc>
                <a:spcPct val="120000"/>
              </a:lnSpc>
            </a:pPr>
            <a:r>
              <a:rPr sz="950" b="0" i="0">
                <a:solidFill>
                  <a:srgbClr val="556575"/>
                </a:solidFill>
                <a:latin typeface="Segoe UI"/>
              </a:rPr>
              <a:t>Đẩy tóm tắt lên đám mây, huấn luyện lại, phát hành mô hình</a:t>
            </a:r>
          </a:p>
        </p:txBody>
      </p:sp>
      <p:sp>
        <p:nvSpPr>
          <p:cNvPr id="47" name="TextBox 46"/>
          <p:cNvSpPr txBox="1"/>
          <p:nvPr/>
        </p:nvSpPr>
        <p:spPr>
          <a:xfrm>
            <a:off x="10037826" y="4169663"/>
            <a:ext cx="1239469"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mỗi đêm</a:t>
            </a:r>
          </a:p>
        </p:txBody>
      </p:sp>
      <p:sp>
        <p:nvSpPr>
          <p:cNvPr id="48" name="Freeform 47"/>
          <p:cNvSpPr/>
          <p:nvPr/>
        </p:nvSpPr>
        <p:spPr>
          <a:xfrm>
            <a:off x="713232" y="4718304"/>
            <a:ext cx="10765231" cy="841248"/>
          </a:xfrm>
          <a:custGeom>
            <a:avLst/>
            <a:gdLst/>
            <a:ahLst/>
            <a:cxnLst/>
            <a:rect l="l" t="t" r="r" b="b"/>
            <a:pathLst>
              <a:path w="10765231" h="841248">
                <a:moveTo>
                  <a:pt x="118872" y="0"/>
                </a:moveTo>
                <a:lnTo>
                  <a:pt x="10765231" y="0"/>
                </a:lnTo>
                <a:lnTo>
                  <a:pt x="10765231" y="722376"/>
                </a:lnTo>
                <a:lnTo>
                  <a:pt x="10646359" y="841248"/>
                </a:lnTo>
                <a:lnTo>
                  <a:pt x="0" y="841248"/>
                </a:lnTo>
                <a:lnTo>
                  <a:pt x="0" y="118872"/>
                </a:lnTo>
                <a:close/>
              </a:path>
            </a:pathLst>
          </a:custGeom>
          <a:solidFill>
            <a:srgbClr val="E7EDF9"/>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05840" y="4937760"/>
            <a:ext cx="10180015" cy="402336"/>
          </a:xfrm>
          <a:prstGeom prst="rect">
            <a:avLst/>
          </a:prstGeom>
          <a:noFill/>
        </p:spPr>
        <p:txBody>
          <a:bodyPr wrap="square" lIns="0" tIns="0" rIns="0" bIns="0" anchor="t">
            <a:spAutoFit/>
          </a:bodyPr>
          <a:lstStyle/>
          <a:p>
            <a:pPr algn="l">
              <a:lnSpc>
                <a:spcPct val="120000"/>
              </a:lnSpc>
            </a:pPr>
            <a:r>
              <a:rPr sz="1250" b="0" i="0">
                <a:solidFill>
                  <a:srgbClr val="111111"/>
                </a:solidFill>
                <a:latin typeface="Segoe UI"/>
              </a:rPr>
              <a:t>Bước 01 tới 05 chạy hoàn toàn trong nhà. Mất Internet thì chỉ bước 06 dừng lại — điều hoà vẫn hoạt động đầy đủ.</a:t>
            </a:r>
          </a:p>
        </p:txBody>
      </p:sp>
      <p:sp>
        <p:nvSpPr>
          <p:cNvPr id="50" name="Rectangle 49"/>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15 — một chu kỳ hoàn chỉnh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PHÂN BỔ</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16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Chạy gì ở đâu, và vì sao</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Đặt sai chỗ thì hoặc là chậm, hoặc là hỏng khi mất mạng, hoặc là tốn tiền.</a:t>
            </a:r>
          </a:p>
        </p:txBody>
      </p:sp>
      <p:sp>
        <p:nvSpPr>
          <p:cNvPr id="7" name="Freeform 6"/>
          <p:cNvSpPr/>
          <p:nvPr/>
        </p:nvSpPr>
        <p:spPr>
          <a:xfrm>
            <a:off x="713232" y="2066543"/>
            <a:ext cx="3381146" cy="3218688"/>
          </a:xfrm>
          <a:custGeom>
            <a:avLst/>
            <a:gdLst/>
            <a:ahLst/>
            <a:cxnLst/>
            <a:rect l="l" t="t" r="r" b="b"/>
            <a:pathLst>
              <a:path w="3381146" h="3218688">
                <a:moveTo>
                  <a:pt x="118872" y="0"/>
                </a:moveTo>
                <a:lnTo>
                  <a:pt x="3381146" y="0"/>
                </a:lnTo>
                <a:lnTo>
                  <a:pt x="3381146" y="3099816"/>
                </a:lnTo>
                <a:lnTo>
                  <a:pt x="3262274" y="3218688"/>
                </a:lnTo>
                <a:lnTo>
                  <a:pt x="0" y="321868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322576"/>
            <a:ext cx="2832506" cy="237744"/>
          </a:xfrm>
          <a:prstGeom prst="rect">
            <a:avLst/>
          </a:prstGeom>
          <a:noFill/>
        </p:spPr>
        <p:txBody>
          <a:bodyPr wrap="square" lIns="0" tIns="0" rIns="0" bIns="0" anchor="t">
            <a:spAutoFit/>
          </a:bodyPr>
          <a:lstStyle/>
          <a:p>
            <a:pPr algn="l">
              <a:lnSpc>
                <a:spcPct val="100000"/>
              </a:lnSpc>
            </a:pPr>
            <a:r>
              <a:rPr sz="1200" b="1" i="0" spc="80">
                <a:solidFill>
                  <a:srgbClr val="111111"/>
                </a:solidFill>
                <a:latin typeface="Segoe UI"/>
              </a:rPr>
              <a:t>ESP32 / ESP8266</a:t>
            </a:r>
          </a:p>
        </p:txBody>
      </p:sp>
      <p:sp>
        <p:nvSpPr>
          <p:cNvPr id="9" name="TextBox 8"/>
          <p:cNvSpPr txBox="1"/>
          <p:nvPr/>
        </p:nvSpPr>
        <p:spPr>
          <a:xfrm>
            <a:off x="987552" y="2578608"/>
            <a:ext cx="2832506"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vi điều khiển · KB ram</a:t>
            </a:r>
          </a:p>
        </p:txBody>
      </p:sp>
      <p:sp>
        <p:nvSpPr>
          <p:cNvPr id="10" name="Rectangle 9"/>
          <p:cNvSpPr/>
          <p:nvPr/>
        </p:nvSpPr>
        <p:spPr>
          <a:xfrm>
            <a:off x="987552" y="2852927"/>
            <a:ext cx="2832506"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87552" y="305409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70432" y="299923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Đọc cảm biến</a:t>
            </a:r>
          </a:p>
        </p:txBody>
      </p:sp>
      <p:sp>
        <p:nvSpPr>
          <p:cNvPr id="13" name="Rectangle 12"/>
          <p:cNvSpPr/>
          <p:nvPr/>
        </p:nvSpPr>
        <p:spPr>
          <a:xfrm>
            <a:off x="987552" y="341985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70432" y="3364991"/>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Phát mã hồng ngoại 38 kHz</a:t>
            </a:r>
          </a:p>
        </p:txBody>
      </p:sp>
      <p:sp>
        <p:nvSpPr>
          <p:cNvPr id="15" name="Rectangle 14"/>
          <p:cNvSpPr/>
          <p:nvPr/>
        </p:nvSpPr>
        <p:spPr>
          <a:xfrm>
            <a:off x="987552" y="3785615"/>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70432" y="373075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Giao diện cảm ứng</a:t>
            </a:r>
          </a:p>
        </p:txBody>
      </p:sp>
      <p:sp>
        <p:nvSpPr>
          <p:cNvPr id="17" name="Rectangle 16"/>
          <p:cNvSpPr/>
          <p:nvPr/>
        </p:nvSpPr>
        <p:spPr>
          <a:xfrm>
            <a:off x="987552" y="415137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70432" y="409651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Nhịp tim ESP-NOW</a:t>
            </a:r>
          </a:p>
        </p:txBody>
      </p:sp>
      <p:sp>
        <p:nvSpPr>
          <p:cNvPr id="19" name="Rectangle 18"/>
          <p:cNvSpPr/>
          <p:nvPr/>
        </p:nvSpPr>
        <p:spPr>
          <a:xfrm>
            <a:off x="987552" y="4572000"/>
            <a:ext cx="91440" cy="10972"/>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70432" y="4462272"/>
            <a:ext cx="2649626" cy="237744"/>
          </a:xfrm>
          <a:prstGeom prst="rect">
            <a:avLst/>
          </a:prstGeom>
          <a:noFill/>
        </p:spPr>
        <p:txBody>
          <a:bodyPr wrap="square" lIns="0" tIns="0" rIns="0" bIns="0" anchor="t">
            <a:spAutoFit/>
          </a:bodyPr>
          <a:lstStyle/>
          <a:p>
            <a:pPr algn="l">
              <a:lnSpc>
                <a:spcPct val="100000"/>
              </a:lnSpc>
            </a:pPr>
            <a:r>
              <a:rPr sz="1000" b="0" i="0">
                <a:solidFill>
                  <a:srgbClr val="6B7C90"/>
                </a:solidFill>
                <a:latin typeface="Segoe UI"/>
              </a:rPr>
              <a:t>Suy luận mô hình</a:t>
            </a:r>
          </a:p>
        </p:txBody>
      </p:sp>
      <p:sp>
        <p:nvSpPr>
          <p:cNvPr id="21" name="Rectangle 20"/>
          <p:cNvSpPr/>
          <p:nvPr/>
        </p:nvSpPr>
        <p:spPr>
          <a:xfrm>
            <a:off x="987552" y="4937759"/>
            <a:ext cx="91440" cy="10972"/>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70432" y="4828031"/>
            <a:ext cx="2649626" cy="237744"/>
          </a:xfrm>
          <a:prstGeom prst="rect">
            <a:avLst/>
          </a:prstGeom>
          <a:noFill/>
        </p:spPr>
        <p:txBody>
          <a:bodyPr wrap="square" lIns="0" tIns="0" rIns="0" bIns="0" anchor="t">
            <a:spAutoFit/>
          </a:bodyPr>
          <a:lstStyle/>
          <a:p>
            <a:pPr algn="l">
              <a:lnSpc>
                <a:spcPct val="100000"/>
              </a:lnSpc>
            </a:pPr>
            <a:r>
              <a:rPr sz="1000" b="0" i="0">
                <a:solidFill>
                  <a:srgbClr val="6B7C90"/>
                </a:solidFill>
                <a:latin typeface="Segoe UI"/>
              </a:rPr>
              <a:t>Lưu lịch sử dài</a:t>
            </a:r>
          </a:p>
        </p:txBody>
      </p:sp>
      <p:sp>
        <p:nvSpPr>
          <p:cNvPr id="23" name="Freeform 22"/>
          <p:cNvSpPr/>
          <p:nvPr/>
        </p:nvSpPr>
        <p:spPr>
          <a:xfrm>
            <a:off x="4405274" y="2066543"/>
            <a:ext cx="3381146" cy="3218688"/>
          </a:xfrm>
          <a:custGeom>
            <a:avLst/>
            <a:gdLst/>
            <a:ahLst/>
            <a:cxnLst/>
            <a:rect l="l" t="t" r="r" b="b"/>
            <a:pathLst>
              <a:path w="3381146" h="3218688">
                <a:moveTo>
                  <a:pt x="118872" y="0"/>
                </a:moveTo>
                <a:lnTo>
                  <a:pt x="3381146" y="0"/>
                </a:lnTo>
                <a:lnTo>
                  <a:pt x="3381146" y="3099816"/>
                </a:lnTo>
                <a:lnTo>
                  <a:pt x="3262274" y="3218688"/>
                </a:lnTo>
                <a:lnTo>
                  <a:pt x="0" y="3218688"/>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79594" y="2322576"/>
            <a:ext cx="2832506" cy="237744"/>
          </a:xfrm>
          <a:prstGeom prst="rect">
            <a:avLst/>
          </a:prstGeom>
          <a:noFill/>
        </p:spPr>
        <p:txBody>
          <a:bodyPr wrap="square" lIns="0" tIns="0" rIns="0" bIns="0" anchor="t">
            <a:spAutoFit/>
          </a:bodyPr>
          <a:lstStyle/>
          <a:p>
            <a:pPr algn="l">
              <a:lnSpc>
                <a:spcPct val="100000"/>
              </a:lnSpc>
            </a:pPr>
            <a:r>
              <a:rPr sz="1200" b="1" i="0" spc="80">
                <a:solidFill>
                  <a:srgbClr val="111111"/>
                </a:solidFill>
                <a:latin typeface="Segoe UI"/>
              </a:rPr>
              <a:t>ARDUINO UNO Q</a:t>
            </a:r>
          </a:p>
        </p:txBody>
      </p:sp>
      <p:sp>
        <p:nvSpPr>
          <p:cNvPr id="25" name="TextBox 24"/>
          <p:cNvSpPr txBox="1"/>
          <p:nvPr/>
        </p:nvSpPr>
        <p:spPr>
          <a:xfrm>
            <a:off x="4679594" y="2578608"/>
            <a:ext cx="2832506"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linux · 2 gb ram · 16 gb</a:t>
            </a:r>
          </a:p>
        </p:txBody>
      </p:sp>
      <p:sp>
        <p:nvSpPr>
          <p:cNvPr id="26" name="Rectangle 25"/>
          <p:cNvSpPr/>
          <p:nvPr/>
        </p:nvSpPr>
        <p:spPr>
          <a:xfrm>
            <a:off x="4679594" y="2852927"/>
            <a:ext cx="2832506"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679594" y="305409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62474" y="299923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Gom &amp; làm sạch dữ liệu</a:t>
            </a:r>
          </a:p>
        </p:txBody>
      </p:sp>
      <p:sp>
        <p:nvSpPr>
          <p:cNvPr id="29" name="Rectangle 28"/>
          <p:cNvSpPr/>
          <p:nvPr/>
        </p:nvSpPr>
        <p:spPr>
          <a:xfrm>
            <a:off x="4679594" y="341985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62474" y="3364991"/>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Chạy mô hình dự báo</a:t>
            </a:r>
          </a:p>
        </p:txBody>
      </p:sp>
      <p:sp>
        <p:nvSpPr>
          <p:cNvPr id="31" name="Rectangle 30"/>
          <p:cNvSpPr/>
          <p:nvPr/>
        </p:nvSpPr>
        <p:spPr>
          <a:xfrm>
            <a:off x="4679594" y="3785615"/>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62474" y="373075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Ra nhiệt độ đặt</a:t>
            </a:r>
          </a:p>
        </p:txBody>
      </p:sp>
      <p:sp>
        <p:nvSpPr>
          <p:cNvPr id="33" name="Rectangle 32"/>
          <p:cNvSpPr/>
          <p:nvPr/>
        </p:nvSpPr>
        <p:spPr>
          <a:xfrm>
            <a:off x="4679594" y="415137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62474" y="409651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Đệm khi mất mạng</a:t>
            </a:r>
          </a:p>
        </p:txBody>
      </p:sp>
      <p:sp>
        <p:nvSpPr>
          <p:cNvPr id="35" name="Rectangle 34"/>
          <p:cNvSpPr/>
          <p:nvPr/>
        </p:nvSpPr>
        <p:spPr>
          <a:xfrm>
            <a:off x="4679594" y="4517136"/>
            <a:ext cx="91440" cy="91440"/>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62474" y="446227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Huấn luyện lại mô hình</a:t>
            </a:r>
          </a:p>
        </p:txBody>
      </p:sp>
      <p:sp>
        <p:nvSpPr>
          <p:cNvPr id="37" name="Rectangle 36"/>
          <p:cNvSpPr/>
          <p:nvPr/>
        </p:nvSpPr>
        <p:spPr>
          <a:xfrm>
            <a:off x="4679594" y="4937759"/>
            <a:ext cx="91440" cy="10972"/>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62474" y="4828031"/>
            <a:ext cx="2649626" cy="237744"/>
          </a:xfrm>
          <a:prstGeom prst="rect">
            <a:avLst/>
          </a:prstGeom>
          <a:noFill/>
        </p:spPr>
        <p:txBody>
          <a:bodyPr wrap="square" lIns="0" tIns="0" rIns="0" bIns="0" anchor="t">
            <a:spAutoFit/>
          </a:bodyPr>
          <a:lstStyle/>
          <a:p>
            <a:pPr algn="l">
              <a:lnSpc>
                <a:spcPct val="100000"/>
              </a:lnSpc>
            </a:pPr>
            <a:r>
              <a:rPr sz="1000" b="0" i="0">
                <a:solidFill>
                  <a:srgbClr val="6B7C90"/>
                </a:solidFill>
                <a:latin typeface="Segoe UI"/>
              </a:rPr>
              <a:t>Phục vụ nhiều khách</a:t>
            </a:r>
          </a:p>
        </p:txBody>
      </p:sp>
      <p:sp>
        <p:nvSpPr>
          <p:cNvPr id="39" name="Freeform 38"/>
          <p:cNvSpPr/>
          <p:nvPr/>
        </p:nvSpPr>
        <p:spPr>
          <a:xfrm>
            <a:off x="8097316" y="2066543"/>
            <a:ext cx="3381146" cy="3218688"/>
          </a:xfrm>
          <a:custGeom>
            <a:avLst/>
            <a:gdLst/>
            <a:ahLst/>
            <a:cxnLst/>
            <a:rect l="l" t="t" r="r" b="b"/>
            <a:pathLst>
              <a:path w="3381146" h="3218688">
                <a:moveTo>
                  <a:pt x="118872" y="0"/>
                </a:moveTo>
                <a:lnTo>
                  <a:pt x="3381146" y="0"/>
                </a:lnTo>
                <a:lnTo>
                  <a:pt x="3381146" y="3099816"/>
                </a:lnTo>
                <a:lnTo>
                  <a:pt x="3262274" y="3218688"/>
                </a:lnTo>
                <a:lnTo>
                  <a:pt x="0" y="3218688"/>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71636" y="2322576"/>
            <a:ext cx="2832506" cy="237744"/>
          </a:xfrm>
          <a:prstGeom prst="rect">
            <a:avLst/>
          </a:prstGeom>
          <a:noFill/>
        </p:spPr>
        <p:txBody>
          <a:bodyPr wrap="square" lIns="0" tIns="0" rIns="0" bIns="0" anchor="t">
            <a:spAutoFit/>
          </a:bodyPr>
          <a:lstStyle/>
          <a:p>
            <a:pPr algn="l">
              <a:lnSpc>
                <a:spcPct val="100000"/>
              </a:lnSpc>
            </a:pPr>
            <a:r>
              <a:rPr sz="1200" b="1" i="0" spc="80">
                <a:solidFill>
                  <a:srgbClr val="111111"/>
                </a:solidFill>
                <a:latin typeface="Segoe UI"/>
              </a:rPr>
              <a:t>MÁY CHỦ ĐÁM MÂY</a:t>
            </a:r>
          </a:p>
        </p:txBody>
      </p:sp>
      <p:sp>
        <p:nvSpPr>
          <p:cNvPr id="41" name="TextBox 40"/>
          <p:cNvSpPr txBox="1"/>
          <p:nvPr/>
        </p:nvSpPr>
        <p:spPr>
          <a:xfrm>
            <a:off x="8371636" y="2578608"/>
            <a:ext cx="2832506" cy="201168"/>
          </a:xfrm>
          <a:prstGeom prst="rect">
            <a:avLst/>
          </a:prstGeom>
          <a:noFill/>
        </p:spPr>
        <p:txBody>
          <a:bodyPr wrap="square" lIns="0" tIns="0" rIns="0" bIns="0" anchor="t">
            <a:spAutoFit/>
          </a:bodyPr>
          <a:lstStyle/>
          <a:p>
            <a:pPr algn="l">
              <a:lnSpc>
                <a:spcPct val="100000"/>
              </a:lnSpc>
            </a:pPr>
            <a:r>
              <a:rPr sz="850" b="0" i="0">
                <a:solidFill>
                  <a:srgbClr val="6B7C90"/>
                </a:solidFill>
                <a:latin typeface="Consolas"/>
              </a:rPr>
              <a:t>fastapi · postgres · redis</a:t>
            </a:r>
          </a:p>
        </p:txBody>
      </p:sp>
      <p:sp>
        <p:nvSpPr>
          <p:cNvPr id="42" name="Rectangle 41"/>
          <p:cNvSpPr/>
          <p:nvPr/>
        </p:nvSpPr>
        <p:spPr>
          <a:xfrm>
            <a:off x="8371636" y="2852927"/>
            <a:ext cx="2832506"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371636" y="305409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554516" y="299923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Huấn luyện từ nhiều khách</a:t>
            </a:r>
          </a:p>
        </p:txBody>
      </p:sp>
      <p:sp>
        <p:nvSpPr>
          <p:cNvPr id="45" name="Rectangle 44"/>
          <p:cNvSpPr/>
          <p:nvPr/>
        </p:nvSpPr>
        <p:spPr>
          <a:xfrm>
            <a:off x="8371636" y="341985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54516" y="3364991"/>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Lịch sử nhiều năm</a:t>
            </a:r>
          </a:p>
        </p:txBody>
      </p:sp>
      <p:sp>
        <p:nvSpPr>
          <p:cNvPr id="47" name="Rectangle 46"/>
          <p:cNvSpPr/>
          <p:nvPr/>
        </p:nvSpPr>
        <p:spPr>
          <a:xfrm>
            <a:off x="8371636" y="3785615"/>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554516" y="373075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App khách hàng &amp; web quản trị</a:t>
            </a:r>
          </a:p>
        </p:txBody>
      </p:sp>
      <p:sp>
        <p:nvSpPr>
          <p:cNvPr id="49" name="Rectangle 48"/>
          <p:cNvSpPr/>
          <p:nvPr/>
        </p:nvSpPr>
        <p:spPr>
          <a:xfrm>
            <a:off x="8371636" y="4151376"/>
            <a:ext cx="91440" cy="91440"/>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554516" y="4096512"/>
            <a:ext cx="2649626" cy="237744"/>
          </a:xfrm>
          <a:prstGeom prst="rect">
            <a:avLst/>
          </a:prstGeom>
          <a:noFill/>
        </p:spPr>
        <p:txBody>
          <a:bodyPr wrap="square" lIns="0" tIns="0" rIns="0" bIns="0" anchor="t">
            <a:spAutoFit/>
          </a:bodyPr>
          <a:lstStyle/>
          <a:p>
            <a:pPr algn="l">
              <a:lnSpc>
                <a:spcPct val="100000"/>
              </a:lnSpc>
            </a:pPr>
            <a:r>
              <a:rPr sz="1000" b="0" i="0">
                <a:solidFill>
                  <a:srgbClr val="556575"/>
                </a:solidFill>
                <a:latin typeface="Segoe UI"/>
              </a:rPr>
              <a:t>Phát hành OTA</a:t>
            </a:r>
          </a:p>
        </p:txBody>
      </p:sp>
      <p:sp>
        <p:nvSpPr>
          <p:cNvPr id="51" name="Rectangle 50"/>
          <p:cNvSpPr/>
          <p:nvPr/>
        </p:nvSpPr>
        <p:spPr>
          <a:xfrm>
            <a:off x="8371636" y="4572000"/>
            <a:ext cx="91440" cy="10972"/>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554516" y="4462272"/>
            <a:ext cx="2649626" cy="237744"/>
          </a:xfrm>
          <a:prstGeom prst="rect">
            <a:avLst/>
          </a:prstGeom>
          <a:noFill/>
        </p:spPr>
        <p:txBody>
          <a:bodyPr wrap="square" lIns="0" tIns="0" rIns="0" bIns="0" anchor="t">
            <a:spAutoFit/>
          </a:bodyPr>
          <a:lstStyle/>
          <a:p>
            <a:pPr algn="l">
              <a:lnSpc>
                <a:spcPct val="100000"/>
              </a:lnSpc>
            </a:pPr>
            <a:r>
              <a:rPr sz="1000" b="0" i="0">
                <a:solidFill>
                  <a:srgbClr val="6B7C90"/>
                </a:solidFill>
                <a:latin typeface="Segoe UI"/>
              </a:rPr>
              <a:t>Điều khiển thời gian thực</a:t>
            </a:r>
          </a:p>
        </p:txBody>
      </p:sp>
      <p:sp>
        <p:nvSpPr>
          <p:cNvPr id="53" name="Rectangle 52"/>
          <p:cNvSpPr/>
          <p:nvPr/>
        </p:nvSpPr>
        <p:spPr>
          <a:xfrm>
            <a:off x="8371636" y="4937759"/>
            <a:ext cx="91440" cy="10972"/>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554516" y="4828031"/>
            <a:ext cx="2649626" cy="237744"/>
          </a:xfrm>
          <a:prstGeom prst="rect">
            <a:avLst/>
          </a:prstGeom>
          <a:noFill/>
        </p:spPr>
        <p:txBody>
          <a:bodyPr wrap="square" lIns="0" tIns="0" rIns="0" bIns="0" anchor="t">
            <a:spAutoFit/>
          </a:bodyPr>
          <a:lstStyle/>
          <a:p>
            <a:pPr algn="l">
              <a:lnSpc>
                <a:spcPct val="100000"/>
              </a:lnSpc>
            </a:pPr>
            <a:r>
              <a:rPr sz="1000" b="0" i="0">
                <a:solidFill>
                  <a:srgbClr val="6B7C90"/>
                </a:solidFill>
                <a:latin typeface="Segoe UI"/>
              </a:rPr>
              <a:t>Chạy khi mất mạng</a:t>
            </a:r>
          </a:p>
        </p:txBody>
      </p:sp>
      <p:sp>
        <p:nvSpPr>
          <p:cNvPr id="55" name="Rectangle 54"/>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16 — vuông đặc = nên đặt ở đây  ·  gạch = không nên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LỘ TRÌNH</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17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Bốn giai đoạn</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Mỗi giai đoạn phải tự đứng được. Thời lượng là ƯỚC LƯỢNG, chưa lập kế hoạch chi tiết.</a:t>
            </a:r>
          </a:p>
        </p:txBody>
      </p:sp>
      <p:sp>
        <p:nvSpPr>
          <p:cNvPr id="7" name="Freeform 6"/>
          <p:cNvSpPr/>
          <p:nvPr/>
        </p:nvSpPr>
        <p:spPr>
          <a:xfrm>
            <a:off x="713232" y="2340863"/>
            <a:ext cx="2499283" cy="2651760"/>
          </a:xfrm>
          <a:custGeom>
            <a:avLst/>
            <a:gdLst/>
            <a:ahLst/>
            <a:cxnLst/>
            <a:rect l="l" t="t" r="r" b="b"/>
            <a:pathLst>
              <a:path w="2499283" h="2651760">
                <a:moveTo>
                  <a:pt x="118872" y="0"/>
                </a:moveTo>
                <a:lnTo>
                  <a:pt x="2499283" y="0"/>
                </a:lnTo>
                <a:lnTo>
                  <a:pt x="2499283" y="2532888"/>
                </a:lnTo>
                <a:lnTo>
                  <a:pt x="2380411" y="2651760"/>
                </a:lnTo>
                <a:lnTo>
                  <a:pt x="0" y="2651760"/>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2459735"/>
            <a:ext cx="32004" cy="2532888"/>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9264" y="2578608"/>
            <a:ext cx="1987219" cy="201168"/>
          </a:xfrm>
          <a:prstGeom prst="rect">
            <a:avLst/>
          </a:prstGeom>
          <a:noFill/>
        </p:spPr>
        <p:txBody>
          <a:bodyPr wrap="square" lIns="0" tIns="0" rIns="0" bIns="0" anchor="t">
            <a:spAutoFit/>
          </a:bodyPr>
          <a:lstStyle/>
          <a:p>
            <a:pPr algn="l">
              <a:lnSpc>
                <a:spcPct val="100000"/>
              </a:lnSpc>
            </a:pPr>
            <a:r>
              <a:rPr sz="850" b="1" i="0" spc="160">
                <a:solidFill>
                  <a:srgbClr val="007A45"/>
                </a:solidFill>
                <a:latin typeface="Segoe UI"/>
              </a:rPr>
              <a:t>BƯỚC 0</a:t>
            </a:r>
          </a:p>
        </p:txBody>
      </p:sp>
      <p:sp>
        <p:nvSpPr>
          <p:cNvPr id="10" name="TextBox 9"/>
          <p:cNvSpPr txBox="1"/>
          <p:nvPr/>
        </p:nvSpPr>
        <p:spPr>
          <a:xfrm>
            <a:off x="969264" y="2834639"/>
            <a:ext cx="1987219" cy="292608"/>
          </a:xfrm>
          <a:prstGeom prst="rect">
            <a:avLst/>
          </a:prstGeom>
          <a:noFill/>
        </p:spPr>
        <p:txBody>
          <a:bodyPr wrap="square" lIns="0" tIns="0" rIns="0" bIns="0" anchor="t">
            <a:spAutoFit/>
          </a:bodyPr>
          <a:lstStyle/>
          <a:p>
            <a:pPr algn="l">
              <a:lnSpc>
                <a:spcPct val="102000"/>
              </a:lnSpc>
            </a:pPr>
            <a:r>
              <a:rPr sz="1500" b="1" i="0">
                <a:solidFill>
                  <a:srgbClr val="111111"/>
                </a:solidFill>
                <a:latin typeface="Segoe UI"/>
              </a:rPr>
              <a:t>Đo nền</a:t>
            </a:r>
          </a:p>
        </p:txBody>
      </p:sp>
      <p:sp>
        <p:nvSpPr>
          <p:cNvPr id="11" name="TextBox 10"/>
          <p:cNvSpPr txBox="1"/>
          <p:nvPr/>
        </p:nvSpPr>
        <p:spPr>
          <a:xfrm>
            <a:off x="969264" y="3163823"/>
            <a:ext cx="1987219" cy="201168"/>
          </a:xfrm>
          <a:prstGeom prst="rect">
            <a:avLst/>
          </a:prstGeom>
          <a:noFill/>
        </p:spPr>
        <p:txBody>
          <a:bodyPr wrap="square" lIns="0" tIns="0" rIns="0" bIns="0" anchor="t">
            <a:spAutoFit/>
          </a:bodyPr>
          <a:lstStyle/>
          <a:p>
            <a:pPr algn="l">
              <a:lnSpc>
                <a:spcPct val="100000"/>
              </a:lnSpc>
            </a:pPr>
            <a:r>
              <a:rPr sz="900" b="0" i="0">
                <a:solidFill>
                  <a:srgbClr val="6B7C90"/>
                </a:solidFill>
                <a:latin typeface="Consolas"/>
              </a:rPr>
              <a:t>4–6 tuần</a:t>
            </a:r>
          </a:p>
        </p:txBody>
      </p:sp>
      <p:sp>
        <p:nvSpPr>
          <p:cNvPr id="12" name="TextBox 11"/>
          <p:cNvSpPr txBox="1"/>
          <p:nvPr/>
        </p:nvSpPr>
        <p:spPr>
          <a:xfrm>
            <a:off x="969264" y="3456431"/>
            <a:ext cx="1987219" cy="1444752"/>
          </a:xfrm>
          <a:prstGeom prst="rect">
            <a:avLst/>
          </a:prstGeom>
          <a:noFill/>
        </p:spPr>
        <p:txBody>
          <a:bodyPr wrap="square" lIns="0" tIns="0" rIns="0" bIns="0" anchor="t">
            <a:spAutoFit/>
          </a:bodyPr>
          <a:lstStyle/>
          <a:p>
            <a:pPr algn="l">
              <a:lnSpc>
                <a:spcPct val="122000"/>
              </a:lnSpc>
            </a:pPr>
            <a:r>
              <a:rPr sz="1000" b="0" i="0">
                <a:solidFill>
                  <a:srgbClr val="556575"/>
                </a:solidFill>
                <a:latin typeface="Segoe UI"/>
              </a:rPr>
              <a:t>PZEM đã gắn, kWh và comfort_log chạy song song. Chưa đụng gì tới AI — chỉ tích luỹ số liệu của thuật toán HIỆN TẠI, để sau này có cái mà so. Không có bước này thì mọi con số cải thiện đều không chứng minh được.</a:t>
            </a:r>
          </a:p>
        </p:txBody>
      </p:sp>
      <p:sp>
        <p:nvSpPr>
          <p:cNvPr id="13" name="Rectangle 12"/>
          <p:cNvSpPr/>
          <p:nvPr/>
        </p:nvSpPr>
        <p:spPr>
          <a:xfrm>
            <a:off x="713232" y="2066543"/>
            <a:ext cx="82296" cy="82296"/>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3468547" y="2340863"/>
            <a:ext cx="2499283" cy="2651760"/>
          </a:xfrm>
          <a:custGeom>
            <a:avLst/>
            <a:gdLst/>
            <a:ahLst/>
            <a:cxnLst/>
            <a:rect l="l" t="t" r="r" b="b"/>
            <a:pathLst>
              <a:path w="2499283" h="2651760">
                <a:moveTo>
                  <a:pt x="118872" y="0"/>
                </a:moveTo>
                <a:lnTo>
                  <a:pt x="2499283" y="0"/>
                </a:lnTo>
                <a:lnTo>
                  <a:pt x="2499283" y="2532888"/>
                </a:lnTo>
                <a:lnTo>
                  <a:pt x="2380411" y="2651760"/>
                </a:lnTo>
                <a:lnTo>
                  <a:pt x="0" y="2651760"/>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68547" y="2459735"/>
            <a:ext cx="32004" cy="253288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24579" y="2578608"/>
            <a:ext cx="1987219"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PHASE 2</a:t>
            </a:r>
          </a:p>
        </p:txBody>
      </p:sp>
      <p:sp>
        <p:nvSpPr>
          <p:cNvPr id="17" name="TextBox 16"/>
          <p:cNvSpPr txBox="1"/>
          <p:nvPr/>
        </p:nvSpPr>
        <p:spPr>
          <a:xfrm>
            <a:off x="3724579" y="2834639"/>
            <a:ext cx="1987219" cy="292608"/>
          </a:xfrm>
          <a:prstGeom prst="rect">
            <a:avLst/>
          </a:prstGeom>
          <a:noFill/>
        </p:spPr>
        <p:txBody>
          <a:bodyPr wrap="square" lIns="0" tIns="0" rIns="0" bIns="0" anchor="t">
            <a:spAutoFit/>
          </a:bodyPr>
          <a:lstStyle/>
          <a:p>
            <a:pPr algn="l">
              <a:lnSpc>
                <a:spcPct val="102000"/>
              </a:lnSpc>
            </a:pPr>
            <a:r>
              <a:rPr sz="1500" b="1" i="0">
                <a:solidFill>
                  <a:srgbClr val="111111"/>
                </a:solidFill>
                <a:latin typeface="Segoe UI"/>
              </a:rPr>
              <a:t>Comfort đa phòng</a:t>
            </a:r>
          </a:p>
        </p:txBody>
      </p:sp>
      <p:sp>
        <p:nvSpPr>
          <p:cNvPr id="18" name="TextBox 17"/>
          <p:cNvSpPr txBox="1"/>
          <p:nvPr/>
        </p:nvSpPr>
        <p:spPr>
          <a:xfrm>
            <a:off x="3724579" y="3163823"/>
            <a:ext cx="1987219" cy="201168"/>
          </a:xfrm>
          <a:prstGeom prst="rect">
            <a:avLst/>
          </a:prstGeom>
          <a:noFill/>
        </p:spPr>
        <p:txBody>
          <a:bodyPr wrap="square" lIns="0" tIns="0" rIns="0" bIns="0" anchor="t">
            <a:spAutoFit/>
          </a:bodyPr>
          <a:lstStyle/>
          <a:p>
            <a:pPr algn="l">
              <a:lnSpc>
                <a:spcPct val="100000"/>
              </a:lnSpc>
            </a:pPr>
            <a:r>
              <a:rPr sz="900" b="0" i="0">
                <a:solidFill>
                  <a:srgbClr val="6B7C90"/>
                </a:solidFill>
                <a:latin typeface="Consolas"/>
              </a:rPr>
              <a:t>đã có kế hoạch</a:t>
            </a:r>
          </a:p>
        </p:txBody>
      </p:sp>
      <p:sp>
        <p:nvSpPr>
          <p:cNvPr id="19" name="TextBox 18"/>
          <p:cNvSpPr txBox="1"/>
          <p:nvPr/>
        </p:nvSpPr>
        <p:spPr>
          <a:xfrm>
            <a:off x="3724579" y="3456431"/>
            <a:ext cx="1987219" cy="1444752"/>
          </a:xfrm>
          <a:prstGeom prst="rect">
            <a:avLst/>
          </a:prstGeom>
          <a:noFill/>
        </p:spPr>
        <p:txBody>
          <a:bodyPr wrap="square" lIns="0" tIns="0" rIns="0" bIns="0" anchor="t">
            <a:spAutoFit/>
          </a:bodyPr>
          <a:lstStyle/>
          <a:p>
            <a:pPr algn="l">
              <a:lnSpc>
                <a:spcPct val="122000"/>
              </a:lnSpc>
            </a:pPr>
            <a:r>
              <a:rPr sz="1000" b="0" i="0">
                <a:solidFill>
                  <a:srgbClr val="556575"/>
                </a:solidFill>
                <a:latin typeface="Segoe UI"/>
              </a:rPr>
              <a:t>Việc backend đã lên lịch sẵn: tách quyết định theo từng node indoor, khoá Redis theo device. AI chỉ có nghĩa khi mỗi phòng tự quyết được.</a:t>
            </a:r>
          </a:p>
        </p:txBody>
      </p:sp>
      <p:sp>
        <p:nvSpPr>
          <p:cNvPr id="20" name="Rectangle 19"/>
          <p:cNvSpPr/>
          <p:nvPr/>
        </p:nvSpPr>
        <p:spPr>
          <a:xfrm>
            <a:off x="3468547" y="2066543"/>
            <a:ext cx="82296" cy="82296"/>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6223863" y="2340863"/>
            <a:ext cx="2499283" cy="2651760"/>
          </a:xfrm>
          <a:custGeom>
            <a:avLst/>
            <a:gdLst/>
            <a:ahLst/>
            <a:cxnLst/>
            <a:rect l="l" t="t" r="r" b="b"/>
            <a:pathLst>
              <a:path w="2499283" h="2651760">
                <a:moveTo>
                  <a:pt x="118872" y="0"/>
                </a:moveTo>
                <a:lnTo>
                  <a:pt x="2499283" y="0"/>
                </a:lnTo>
                <a:lnTo>
                  <a:pt x="2499283" y="2532888"/>
                </a:lnTo>
                <a:lnTo>
                  <a:pt x="2380411" y="2651760"/>
                </a:lnTo>
                <a:lnTo>
                  <a:pt x="0" y="2651760"/>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3863" y="2459735"/>
            <a:ext cx="32004" cy="2532888"/>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9895" y="2578608"/>
            <a:ext cx="1987219"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PHASE 3</a:t>
            </a:r>
          </a:p>
        </p:txBody>
      </p:sp>
      <p:sp>
        <p:nvSpPr>
          <p:cNvPr id="24" name="TextBox 23"/>
          <p:cNvSpPr txBox="1"/>
          <p:nvPr/>
        </p:nvSpPr>
        <p:spPr>
          <a:xfrm>
            <a:off x="6479895" y="2834639"/>
            <a:ext cx="1987219" cy="292608"/>
          </a:xfrm>
          <a:prstGeom prst="rect">
            <a:avLst/>
          </a:prstGeom>
          <a:noFill/>
        </p:spPr>
        <p:txBody>
          <a:bodyPr wrap="square" lIns="0" tIns="0" rIns="0" bIns="0" anchor="t">
            <a:spAutoFit/>
          </a:bodyPr>
          <a:lstStyle/>
          <a:p>
            <a:pPr algn="l">
              <a:lnSpc>
                <a:spcPct val="102000"/>
              </a:lnSpc>
            </a:pPr>
            <a:r>
              <a:rPr sz="1500" b="1" i="0">
                <a:solidFill>
                  <a:srgbClr val="111111"/>
                </a:solidFill>
                <a:latin typeface="Segoe UI"/>
              </a:rPr>
              <a:t>Firmware ESP-NOW</a:t>
            </a:r>
          </a:p>
        </p:txBody>
      </p:sp>
      <p:sp>
        <p:nvSpPr>
          <p:cNvPr id="25" name="TextBox 24"/>
          <p:cNvSpPr txBox="1"/>
          <p:nvPr/>
        </p:nvSpPr>
        <p:spPr>
          <a:xfrm>
            <a:off x="6479895" y="3163823"/>
            <a:ext cx="1987219" cy="201168"/>
          </a:xfrm>
          <a:prstGeom prst="rect">
            <a:avLst/>
          </a:prstGeom>
          <a:noFill/>
        </p:spPr>
        <p:txBody>
          <a:bodyPr wrap="square" lIns="0" tIns="0" rIns="0" bIns="0" anchor="t">
            <a:spAutoFit/>
          </a:bodyPr>
          <a:lstStyle/>
          <a:p>
            <a:pPr algn="l">
              <a:lnSpc>
                <a:spcPct val="100000"/>
              </a:lnSpc>
            </a:pPr>
            <a:r>
              <a:rPr sz="900" b="0" i="0">
                <a:solidFill>
                  <a:srgbClr val="6B7C90"/>
                </a:solidFill>
                <a:latin typeface="Consolas"/>
              </a:rPr>
              <a:t>đã có kế hoạch</a:t>
            </a:r>
          </a:p>
        </p:txBody>
      </p:sp>
      <p:sp>
        <p:nvSpPr>
          <p:cNvPr id="26" name="TextBox 25"/>
          <p:cNvSpPr txBox="1"/>
          <p:nvPr/>
        </p:nvSpPr>
        <p:spPr>
          <a:xfrm>
            <a:off x="6479895" y="3456431"/>
            <a:ext cx="1987219" cy="1444752"/>
          </a:xfrm>
          <a:prstGeom prst="rect">
            <a:avLst/>
          </a:prstGeom>
          <a:noFill/>
        </p:spPr>
        <p:txBody>
          <a:bodyPr wrap="square" lIns="0" tIns="0" rIns="0" bIns="0" anchor="t">
            <a:spAutoFit/>
          </a:bodyPr>
          <a:lstStyle/>
          <a:p>
            <a:pPr algn="l">
              <a:lnSpc>
                <a:spcPct val="122000"/>
              </a:lnSpc>
            </a:pPr>
            <a:r>
              <a:rPr sz="1000" b="0" i="0">
                <a:solidFill>
                  <a:srgbClr val="556575"/>
                </a:solidFill>
                <a:latin typeface="Segoe UI"/>
              </a:rPr>
              <a:t>Master/slave, một node mỗi phòng. Đây đúng là chỗ UNO Q thay ESP32 làm master — bo hiện tại đang gánh bốn vai trò cùng lúc.</a:t>
            </a:r>
          </a:p>
        </p:txBody>
      </p:sp>
      <p:sp>
        <p:nvSpPr>
          <p:cNvPr id="27" name="Rectangle 26"/>
          <p:cNvSpPr/>
          <p:nvPr/>
        </p:nvSpPr>
        <p:spPr>
          <a:xfrm>
            <a:off x="6223863" y="2066543"/>
            <a:ext cx="82296" cy="82296"/>
          </a:xfrm>
          <a:prstGeom prst="rect">
            <a:avLst/>
          </a:prstGeom>
          <a:solidFill>
            <a:srgbClr val="004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8979179" y="2340863"/>
            <a:ext cx="2499283" cy="2651760"/>
          </a:xfrm>
          <a:custGeom>
            <a:avLst/>
            <a:gdLst/>
            <a:ahLst/>
            <a:cxnLst/>
            <a:rect l="l" t="t" r="r" b="b"/>
            <a:pathLst>
              <a:path w="2499283" h="2651760">
                <a:moveTo>
                  <a:pt x="118872" y="0"/>
                </a:moveTo>
                <a:lnTo>
                  <a:pt x="2499283" y="0"/>
                </a:lnTo>
                <a:lnTo>
                  <a:pt x="2499283" y="2532888"/>
                </a:lnTo>
                <a:lnTo>
                  <a:pt x="2380411" y="2651760"/>
                </a:lnTo>
                <a:lnTo>
                  <a:pt x="0" y="2651760"/>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79179" y="2459735"/>
            <a:ext cx="32004" cy="2532888"/>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35211" y="2578608"/>
            <a:ext cx="1987219" cy="201168"/>
          </a:xfrm>
          <a:prstGeom prst="rect">
            <a:avLst/>
          </a:prstGeom>
          <a:noFill/>
        </p:spPr>
        <p:txBody>
          <a:bodyPr wrap="square" lIns="0" tIns="0" rIns="0" bIns="0" anchor="t">
            <a:spAutoFit/>
          </a:bodyPr>
          <a:lstStyle/>
          <a:p>
            <a:pPr algn="l">
              <a:lnSpc>
                <a:spcPct val="100000"/>
              </a:lnSpc>
            </a:pPr>
            <a:r>
              <a:rPr sz="850" b="1" i="0" spc="160">
                <a:solidFill>
                  <a:srgbClr val="9A6200"/>
                </a:solidFill>
                <a:latin typeface="Segoe UI"/>
              </a:rPr>
              <a:t>SAU ĐÓ</a:t>
            </a:r>
          </a:p>
        </p:txBody>
      </p:sp>
      <p:sp>
        <p:nvSpPr>
          <p:cNvPr id="31" name="TextBox 30"/>
          <p:cNvSpPr txBox="1"/>
          <p:nvPr/>
        </p:nvSpPr>
        <p:spPr>
          <a:xfrm>
            <a:off x="9235211" y="2834639"/>
            <a:ext cx="1987219" cy="292608"/>
          </a:xfrm>
          <a:prstGeom prst="rect">
            <a:avLst/>
          </a:prstGeom>
          <a:noFill/>
        </p:spPr>
        <p:txBody>
          <a:bodyPr wrap="square" lIns="0" tIns="0" rIns="0" bIns="0" anchor="t">
            <a:spAutoFit/>
          </a:bodyPr>
          <a:lstStyle/>
          <a:p>
            <a:pPr algn="l">
              <a:lnSpc>
                <a:spcPct val="102000"/>
              </a:lnSpc>
            </a:pPr>
            <a:r>
              <a:rPr sz="1500" b="1" i="0">
                <a:solidFill>
                  <a:srgbClr val="111111"/>
                </a:solidFill>
                <a:latin typeface="Segoe UI"/>
              </a:rPr>
              <a:t>Dự báo &amp; học</a:t>
            </a:r>
          </a:p>
        </p:txBody>
      </p:sp>
      <p:sp>
        <p:nvSpPr>
          <p:cNvPr id="32" name="TextBox 31"/>
          <p:cNvSpPr txBox="1"/>
          <p:nvPr/>
        </p:nvSpPr>
        <p:spPr>
          <a:xfrm>
            <a:off x="9235211" y="3163823"/>
            <a:ext cx="1987219" cy="201168"/>
          </a:xfrm>
          <a:prstGeom prst="rect">
            <a:avLst/>
          </a:prstGeom>
          <a:noFill/>
        </p:spPr>
        <p:txBody>
          <a:bodyPr wrap="square" lIns="0" tIns="0" rIns="0" bIns="0" anchor="t">
            <a:spAutoFit/>
          </a:bodyPr>
          <a:lstStyle/>
          <a:p>
            <a:pPr algn="l">
              <a:lnSpc>
                <a:spcPct val="100000"/>
              </a:lnSpc>
            </a:pPr>
            <a:r>
              <a:rPr sz="900" b="0" i="0">
                <a:solidFill>
                  <a:srgbClr val="6B7C90"/>
                </a:solidFill>
                <a:latin typeface="Consolas"/>
              </a:rPr>
              <a:t>khi đã đủ dữ liệu</a:t>
            </a:r>
          </a:p>
        </p:txBody>
      </p:sp>
      <p:sp>
        <p:nvSpPr>
          <p:cNvPr id="33" name="TextBox 32"/>
          <p:cNvSpPr txBox="1"/>
          <p:nvPr/>
        </p:nvSpPr>
        <p:spPr>
          <a:xfrm>
            <a:off x="9235211" y="3456431"/>
            <a:ext cx="1987219" cy="1444752"/>
          </a:xfrm>
          <a:prstGeom prst="rect">
            <a:avLst/>
          </a:prstGeom>
          <a:noFill/>
        </p:spPr>
        <p:txBody>
          <a:bodyPr wrap="square" lIns="0" tIns="0" rIns="0" bIns="0" anchor="t">
            <a:spAutoFit/>
          </a:bodyPr>
          <a:lstStyle/>
          <a:p>
            <a:pPr algn="l">
              <a:lnSpc>
                <a:spcPct val="122000"/>
              </a:lnSpc>
            </a:pPr>
            <a:r>
              <a:rPr sz="1000" b="0" i="0">
                <a:solidFill>
                  <a:srgbClr val="556575"/>
                </a:solidFill>
                <a:latin typeface="Segoe UI"/>
              </a:rPr>
              <a:t>Chạy mô hình song song, ghi lại dự báo, so với thực tế mà CHƯA cho điều khiển. Chỉ giao quyền khi đã có số liệu chứng minh.</a:t>
            </a:r>
          </a:p>
        </p:txBody>
      </p:sp>
      <p:sp>
        <p:nvSpPr>
          <p:cNvPr id="34" name="Rectangle 33"/>
          <p:cNvSpPr/>
          <p:nvPr/>
        </p:nvSpPr>
        <p:spPr>
          <a:xfrm>
            <a:off x="8979179" y="2066543"/>
            <a:ext cx="82296" cy="82296"/>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13232" y="2104948"/>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17 — mỗi giai đoạn phải tự đứng được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13232" y="566928"/>
            <a:ext cx="5486400" cy="201168"/>
          </a:xfrm>
          <a:prstGeom prst="rect">
            <a:avLst/>
          </a:prstGeom>
          <a:noFill/>
        </p:spPr>
        <p:txBody>
          <a:bodyPr wrap="square" lIns="0" tIns="0" rIns="0" bIns="0" anchor="t">
            <a:spAutoFit/>
          </a:bodyPr>
          <a:lstStyle/>
          <a:p>
            <a:pPr algn="l">
              <a:lnSpc>
                <a:spcPct val="100000"/>
              </a:lnSpc>
            </a:pPr>
            <a:r>
              <a:rPr sz="850" b="1" i="0" spc="160">
                <a:solidFill>
                  <a:srgbClr val="0044CC"/>
                </a:solidFill>
                <a:latin typeface="Segoe UI"/>
              </a:rPr>
              <a:t>ĐO LƯỜNG</a:t>
            </a:r>
          </a:p>
        </p:txBody>
      </p:sp>
      <p:sp>
        <p:nvSpPr>
          <p:cNvPr id="3" name="TextBox 2"/>
          <p:cNvSpPr txBox="1"/>
          <p:nvPr/>
        </p:nvSpPr>
        <p:spPr>
          <a:xfrm>
            <a:off x="10015423" y="548640"/>
            <a:ext cx="1463040" cy="219456"/>
          </a:xfrm>
          <a:prstGeom prst="rect">
            <a:avLst/>
          </a:prstGeom>
          <a:noFill/>
        </p:spPr>
        <p:txBody>
          <a:bodyPr wrap="square" lIns="0" tIns="0" rIns="0" bIns="0" anchor="t">
            <a:spAutoFit/>
          </a:bodyPr>
          <a:lstStyle/>
          <a:p>
            <a:pPr algn="r">
              <a:lnSpc>
                <a:spcPct val="100000"/>
              </a:lnSpc>
            </a:pPr>
            <a:r>
              <a:rPr sz="850" b="0" i="0" spc="100">
                <a:solidFill>
                  <a:srgbClr val="6B7C90"/>
                </a:solidFill>
                <a:latin typeface="Consolas"/>
              </a:rPr>
              <a:t>18 / 18</a:t>
            </a:r>
          </a:p>
        </p:txBody>
      </p:sp>
      <p:sp>
        <p:nvSpPr>
          <p:cNvPr id="4" name="Rectangle 3"/>
          <p:cNvSpPr/>
          <p:nvPr/>
        </p:nvSpPr>
        <p:spPr>
          <a:xfrm>
            <a:off x="713232" y="841247"/>
            <a:ext cx="10765231" cy="7315"/>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987552"/>
            <a:ext cx="9258098" cy="566928"/>
          </a:xfrm>
          <a:prstGeom prst="rect">
            <a:avLst/>
          </a:prstGeom>
          <a:noFill/>
        </p:spPr>
        <p:txBody>
          <a:bodyPr wrap="square" lIns="0" tIns="0" rIns="0" bIns="0" anchor="t">
            <a:spAutoFit/>
          </a:bodyPr>
          <a:lstStyle/>
          <a:p>
            <a:pPr algn="l">
              <a:lnSpc>
                <a:spcPct val="92000"/>
              </a:lnSpc>
            </a:pPr>
            <a:r>
              <a:rPr sz="2700" b="1" i="0">
                <a:solidFill>
                  <a:srgbClr val="111111"/>
                </a:solidFill>
                <a:latin typeface="Segoe UI"/>
              </a:rPr>
              <a:t>Thành công trông như thế nào</a:t>
            </a:r>
          </a:p>
        </p:txBody>
      </p:sp>
      <p:sp>
        <p:nvSpPr>
          <p:cNvPr id="6" name="TextBox 5"/>
          <p:cNvSpPr txBox="1"/>
          <p:nvPr/>
        </p:nvSpPr>
        <p:spPr>
          <a:xfrm>
            <a:off x="713232" y="1536192"/>
            <a:ext cx="8612184" cy="475488"/>
          </a:xfrm>
          <a:prstGeom prst="rect">
            <a:avLst/>
          </a:prstGeom>
          <a:noFill/>
        </p:spPr>
        <p:txBody>
          <a:bodyPr wrap="square" lIns="0" tIns="0" rIns="0" bIns="0" anchor="t">
            <a:spAutoFit/>
          </a:bodyPr>
          <a:lstStyle/>
          <a:p>
            <a:pPr algn="l">
              <a:lnSpc>
                <a:spcPct val="110000"/>
              </a:lnSpc>
            </a:pPr>
            <a:r>
              <a:rPr sz="1150" b="0" i="0">
                <a:solidFill>
                  <a:srgbClr val="556575"/>
                </a:solidFill>
                <a:latin typeface="Segoe UI"/>
              </a:rPr>
              <a:t>Bốn chỉ tiêu nghiệm thu mà hệ sẽ đạt khi Edge AI chạy trên UNO Q.</a:t>
            </a:r>
          </a:p>
        </p:txBody>
      </p:sp>
      <p:sp>
        <p:nvSpPr>
          <p:cNvPr id="7" name="Freeform 6"/>
          <p:cNvSpPr/>
          <p:nvPr/>
        </p:nvSpPr>
        <p:spPr>
          <a:xfrm>
            <a:off x="713232" y="2066543"/>
            <a:ext cx="2485567" cy="1700784"/>
          </a:xfrm>
          <a:custGeom>
            <a:avLst/>
            <a:gdLst/>
            <a:ahLst/>
            <a:cxnLst/>
            <a:rect l="l" t="t" r="r" b="b"/>
            <a:pathLst>
              <a:path w="2485567" h="1700784">
                <a:moveTo>
                  <a:pt x="118872" y="0"/>
                </a:moveTo>
                <a:lnTo>
                  <a:pt x="2485567" y="0"/>
                </a:lnTo>
                <a:lnTo>
                  <a:pt x="2485567" y="1581912"/>
                </a:lnTo>
                <a:lnTo>
                  <a:pt x="2366695"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32104" y="2066543"/>
            <a:ext cx="2366695" cy="32004"/>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9264" y="2414015"/>
            <a:ext cx="1973503" cy="640080"/>
          </a:xfrm>
          <a:prstGeom prst="rect">
            <a:avLst/>
          </a:prstGeom>
          <a:noFill/>
        </p:spPr>
        <p:txBody>
          <a:bodyPr wrap="square" lIns="0" tIns="0" rIns="0" bIns="0" anchor="t">
            <a:spAutoFit/>
          </a:bodyPr>
          <a:lstStyle/>
          <a:p>
            <a:pPr algn="l">
              <a:lnSpc>
                <a:spcPct val="88000"/>
              </a:lnSpc>
            </a:pPr>
            <a:r>
              <a:rPr sz="4200" b="1" i="0">
                <a:solidFill>
                  <a:srgbClr val="0044CC"/>
                </a:solidFill>
                <a:latin typeface="Segoe UI"/>
              </a:rPr>
              <a:t>± 0,5</a:t>
            </a:r>
          </a:p>
        </p:txBody>
      </p:sp>
      <p:sp>
        <p:nvSpPr>
          <p:cNvPr id="10" name="TextBox 9"/>
          <p:cNvSpPr txBox="1"/>
          <p:nvPr/>
        </p:nvSpPr>
        <p:spPr>
          <a:xfrm>
            <a:off x="969264" y="3035808"/>
            <a:ext cx="1973503" cy="219456"/>
          </a:xfrm>
          <a:prstGeom prst="rect">
            <a:avLst/>
          </a:prstGeom>
          <a:noFill/>
        </p:spPr>
        <p:txBody>
          <a:bodyPr wrap="square" lIns="0" tIns="0" rIns="0" bIns="0" anchor="t">
            <a:spAutoFit/>
          </a:bodyPr>
          <a:lstStyle/>
          <a:p>
            <a:pPr algn="l">
              <a:lnSpc>
                <a:spcPct val="100000"/>
              </a:lnSpc>
            </a:pPr>
            <a:r>
              <a:rPr sz="1000" b="0" i="0">
                <a:solidFill>
                  <a:srgbClr val="111111"/>
                </a:solidFill>
                <a:latin typeface="Consolas"/>
              </a:rPr>
              <a:t>°C — bằng nhiễu DHT22</a:t>
            </a:r>
          </a:p>
        </p:txBody>
      </p:sp>
      <p:sp>
        <p:nvSpPr>
          <p:cNvPr id="11" name="TextBox 10"/>
          <p:cNvSpPr txBox="1"/>
          <p:nvPr/>
        </p:nvSpPr>
        <p:spPr>
          <a:xfrm>
            <a:off x="969264" y="3328415"/>
            <a:ext cx="1973503" cy="201168"/>
          </a:xfrm>
          <a:prstGeom prst="rect">
            <a:avLst/>
          </a:prstGeom>
          <a:noFill/>
        </p:spPr>
        <p:txBody>
          <a:bodyPr wrap="square" lIns="0" tIns="0" rIns="0" bIns="0" anchor="t">
            <a:spAutoFit/>
          </a:bodyPr>
          <a:lstStyle/>
          <a:p>
            <a:pPr algn="l">
              <a:lnSpc>
                <a:spcPct val="100000"/>
              </a:lnSpc>
            </a:pPr>
            <a:r>
              <a:rPr sz="800" b="1" i="0" spc="160">
                <a:solidFill>
                  <a:srgbClr val="556575"/>
                </a:solidFill>
                <a:latin typeface="Segoe UI"/>
              </a:rPr>
              <a:t>TRẦN CỦA MỌI MỤC TIÊU DỰ BÁO</a:t>
            </a:r>
          </a:p>
        </p:txBody>
      </p:sp>
      <p:sp>
        <p:nvSpPr>
          <p:cNvPr id="12" name="Freeform 11"/>
          <p:cNvSpPr/>
          <p:nvPr/>
        </p:nvSpPr>
        <p:spPr>
          <a:xfrm>
            <a:off x="3473119" y="2066543"/>
            <a:ext cx="2485567" cy="1700784"/>
          </a:xfrm>
          <a:custGeom>
            <a:avLst/>
            <a:gdLst/>
            <a:ahLst/>
            <a:cxnLst/>
            <a:rect l="l" t="t" r="r" b="b"/>
            <a:pathLst>
              <a:path w="2485567" h="1700784">
                <a:moveTo>
                  <a:pt x="118872" y="0"/>
                </a:moveTo>
                <a:lnTo>
                  <a:pt x="2485567" y="0"/>
                </a:lnTo>
                <a:lnTo>
                  <a:pt x="2485567" y="1581912"/>
                </a:lnTo>
                <a:lnTo>
                  <a:pt x="2366695"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91991" y="2066543"/>
            <a:ext cx="2366695" cy="32004"/>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29151" y="2414015"/>
            <a:ext cx="1973503" cy="640080"/>
          </a:xfrm>
          <a:prstGeom prst="rect">
            <a:avLst/>
          </a:prstGeom>
          <a:noFill/>
        </p:spPr>
        <p:txBody>
          <a:bodyPr wrap="square" lIns="0" tIns="0" rIns="0" bIns="0" anchor="t">
            <a:spAutoFit/>
          </a:bodyPr>
          <a:lstStyle/>
          <a:p>
            <a:pPr algn="l">
              <a:lnSpc>
                <a:spcPct val="88000"/>
              </a:lnSpc>
            </a:pPr>
            <a:r>
              <a:rPr sz="4200" b="1" i="0">
                <a:solidFill>
                  <a:srgbClr val="007A45"/>
                </a:solidFill>
                <a:latin typeface="Segoe UI"/>
              </a:rPr>
              <a:t>15–25</a:t>
            </a:r>
          </a:p>
        </p:txBody>
      </p:sp>
      <p:sp>
        <p:nvSpPr>
          <p:cNvPr id="15" name="TextBox 14"/>
          <p:cNvSpPr txBox="1"/>
          <p:nvPr/>
        </p:nvSpPr>
        <p:spPr>
          <a:xfrm>
            <a:off x="3729151" y="3035808"/>
            <a:ext cx="1973503" cy="219456"/>
          </a:xfrm>
          <a:prstGeom prst="rect">
            <a:avLst/>
          </a:prstGeom>
          <a:noFill/>
        </p:spPr>
        <p:txBody>
          <a:bodyPr wrap="square" lIns="0" tIns="0" rIns="0" bIns="0" anchor="t">
            <a:spAutoFit/>
          </a:bodyPr>
          <a:lstStyle/>
          <a:p>
            <a:pPr algn="l">
              <a:lnSpc>
                <a:spcPct val="100000"/>
              </a:lnSpc>
            </a:pPr>
            <a:r>
              <a:rPr sz="1000" b="0" i="0">
                <a:solidFill>
                  <a:srgbClr val="111111"/>
                </a:solidFill>
                <a:latin typeface="Consolas"/>
              </a:rPr>
              <a:t>% điện</a:t>
            </a:r>
          </a:p>
        </p:txBody>
      </p:sp>
      <p:sp>
        <p:nvSpPr>
          <p:cNvPr id="16" name="TextBox 15"/>
          <p:cNvSpPr txBox="1"/>
          <p:nvPr/>
        </p:nvSpPr>
        <p:spPr>
          <a:xfrm>
            <a:off x="3729151" y="3328415"/>
            <a:ext cx="1973503" cy="201168"/>
          </a:xfrm>
          <a:prstGeom prst="rect">
            <a:avLst/>
          </a:prstGeom>
          <a:noFill/>
        </p:spPr>
        <p:txBody>
          <a:bodyPr wrap="square" lIns="0" tIns="0" rIns="0" bIns="0" anchor="t">
            <a:spAutoFit/>
          </a:bodyPr>
          <a:lstStyle/>
          <a:p>
            <a:pPr algn="l">
              <a:lnSpc>
                <a:spcPct val="100000"/>
              </a:lnSpc>
            </a:pPr>
            <a:r>
              <a:rPr sz="800" b="1" i="0" spc="160">
                <a:solidFill>
                  <a:srgbClr val="556575"/>
                </a:solidFill>
                <a:latin typeface="Segoe UI"/>
              </a:rPr>
              <a:t>GIẢM SO VỚI BẢN COMFORT HIỆN TẠI</a:t>
            </a:r>
          </a:p>
        </p:txBody>
      </p:sp>
      <p:sp>
        <p:nvSpPr>
          <p:cNvPr id="17" name="Freeform 16"/>
          <p:cNvSpPr/>
          <p:nvPr/>
        </p:nvSpPr>
        <p:spPr>
          <a:xfrm>
            <a:off x="6233007" y="2066543"/>
            <a:ext cx="2485567" cy="1700784"/>
          </a:xfrm>
          <a:custGeom>
            <a:avLst/>
            <a:gdLst/>
            <a:ahLst/>
            <a:cxnLst/>
            <a:rect l="l" t="t" r="r" b="b"/>
            <a:pathLst>
              <a:path w="2485567" h="1700784">
                <a:moveTo>
                  <a:pt x="118872" y="0"/>
                </a:moveTo>
                <a:lnTo>
                  <a:pt x="2485567" y="0"/>
                </a:lnTo>
                <a:lnTo>
                  <a:pt x="2485567" y="1581912"/>
                </a:lnTo>
                <a:lnTo>
                  <a:pt x="2366695"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51879" y="2066543"/>
            <a:ext cx="2366695" cy="32004"/>
          </a:xfrm>
          <a:prstGeom prst="rect">
            <a:avLst/>
          </a:prstGeom>
          <a:solidFill>
            <a:srgbClr val="00C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89039" y="2414015"/>
            <a:ext cx="1973503" cy="640080"/>
          </a:xfrm>
          <a:prstGeom prst="rect">
            <a:avLst/>
          </a:prstGeom>
          <a:noFill/>
        </p:spPr>
        <p:txBody>
          <a:bodyPr wrap="square" lIns="0" tIns="0" rIns="0" bIns="0" anchor="t">
            <a:spAutoFit/>
          </a:bodyPr>
          <a:lstStyle/>
          <a:p>
            <a:pPr algn="l">
              <a:lnSpc>
                <a:spcPct val="88000"/>
              </a:lnSpc>
            </a:pPr>
            <a:r>
              <a:rPr sz="4200" b="1" i="0">
                <a:solidFill>
                  <a:srgbClr val="007A45"/>
                </a:solidFill>
                <a:latin typeface="Segoe UI"/>
              </a:rPr>
              <a:t>± 0,8</a:t>
            </a:r>
          </a:p>
        </p:txBody>
      </p:sp>
      <p:sp>
        <p:nvSpPr>
          <p:cNvPr id="20" name="TextBox 19"/>
          <p:cNvSpPr txBox="1"/>
          <p:nvPr/>
        </p:nvSpPr>
        <p:spPr>
          <a:xfrm>
            <a:off x="6489039" y="3035808"/>
            <a:ext cx="1973503" cy="219456"/>
          </a:xfrm>
          <a:prstGeom prst="rect">
            <a:avLst/>
          </a:prstGeom>
          <a:noFill/>
        </p:spPr>
        <p:txBody>
          <a:bodyPr wrap="square" lIns="0" tIns="0" rIns="0" bIns="0" anchor="t">
            <a:spAutoFit/>
          </a:bodyPr>
          <a:lstStyle/>
          <a:p>
            <a:pPr algn="l">
              <a:lnSpc>
                <a:spcPct val="100000"/>
              </a:lnSpc>
            </a:pPr>
            <a:r>
              <a:rPr sz="1000" b="0" i="0">
                <a:solidFill>
                  <a:srgbClr val="111111"/>
                </a:solidFill>
                <a:latin typeface="Consolas"/>
              </a:rPr>
              <a:t>°C</a:t>
            </a:r>
          </a:p>
        </p:txBody>
      </p:sp>
      <p:sp>
        <p:nvSpPr>
          <p:cNvPr id="21" name="TextBox 20"/>
          <p:cNvSpPr txBox="1"/>
          <p:nvPr/>
        </p:nvSpPr>
        <p:spPr>
          <a:xfrm>
            <a:off x="6489039" y="3328415"/>
            <a:ext cx="1973503" cy="201168"/>
          </a:xfrm>
          <a:prstGeom prst="rect">
            <a:avLst/>
          </a:prstGeom>
          <a:noFill/>
        </p:spPr>
        <p:txBody>
          <a:bodyPr wrap="square" lIns="0" tIns="0" rIns="0" bIns="0" anchor="t">
            <a:spAutoFit/>
          </a:bodyPr>
          <a:lstStyle/>
          <a:p>
            <a:pPr algn="l">
              <a:lnSpc>
                <a:spcPct val="100000"/>
              </a:lnSpc>
            </a:pPr>
            <a:r>
              <a:rPr sz="800" b="1" i="0" spc="160">
                <a:solidFill>
                  <a:srgbClr val="556575"/>
                </a:solidFill>
                <a:latin typeface="Segoe UI"/>
              </a:rPr>
              <a:t>DAO ĐỘNG QUANH NHIỆT ĐỘ ĐẶT</a:t>
            </a:r>
          </a:p>
        </p:txBody>
      </p:sp>
      <p:sp>
        <p:nvSpPr>
          <p:cNvPr id="22" name="Freeform 21"/>
          <p:cNvSpPr/>
          <p:nvPr/>
        </p:nvSpPr>
        <p:spPr>
          <a:xfrm>
            <a:off x="8992895" y="2066543"/>
            <a:ext cx="2485567" cy="1700784"/>
          </a:xfrm>
          <a:custGeom>
            <a:avLst/>
            <a:gdLst/>
            <a:ahLst/>
            <a:cxnLst/>
            <a:rect l="l" t="t" r="r" b="b"/>
            <a:pathLst>
              <a:path w="2485567" h="1700784">
                <a:moveTo>
                  <a:pt x="118872" y="0"/>
                </a:moveTo>
                <a:lnTo>
                  <a:pt x="2485567" y="0"/>
                </a:lnTo>
                <a:lnTo>
                  <a:pt x="2485567" y="1581912"/>
                </a:lnTo>
                <a:lnTo>
                  <a:pt x="2366695" y="1700784"/>
                </a:lnTo>
                <a:lnTo>
                  <a:pt x="0" y="1700784"/>
                </a:lnTo>
                <a:lnTo>
                  <a:pt x="0" y="118872"/>
                </a:lnTo>
                <a:close/>
              </a:path>
            </a:pathLst>
          </a:cu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11767" y="2066543"/>
            <a:ext cx="2366695" cy="32004"/>
          </a:xfrm>
          <a:prstGeom prst="rect">
            <a:avLst/>
          </a:prstGeom>
          <a:solidFill>
            <a:srgbClr val="FFA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48927" y="2414015"/>
            <a:ext cx="1973503" cy="640080"/>
          </a:xfrm>
          <a:prstGeom prst="rect">
            <a:avLst/>
          </a:prstGeom>
          <a:noFill/>
        </p:spPr>
        <p:txBody>
          <a:bodyPr wrap="square" lIns="0" tIns="0" rIns="0" bIns="0" anchor="t">
            <a:spAutoFit/>
          </a:bodyPr>
          <a:lstStyle/>
          <a:p>
            <a:pPr algn="l">
              <a:lnSpc>
                <a:spcPct val="88000"/>
              </a:lnSpc>
            </a:pPr>
            <a:r>
              <a:rPr sz="4200" b="1" i="0">
                <a:solidFill>
                  <a:srgbClr val="9A6200"/>
                </a:solidFill>
                <a:latin typeface="Segoe UI"/>
              </a:rPr>
              <a:t>100</a:t>
            </a:r>
          </a:p>
        </p:txBody>
      </p:sp>
      <p:sp>
        <p:nvSpPr>
          <p:cNvPr id="25" name="TextBox 24"/>
          <p:cNvSpPr txBox="1"/>
          <p:nvPr/>
        </p:nvSpPr>
        <p:spPr>
          <a:xfrm>
            <a:off x="9248927" y="3035808"/>
            <a:ext cx="1973503" cy="219456"/>
          </a:xfrm>
          <a:prstGeom prst="rect">
            <a:avLst/>
          </a:prstGeom>
          <a:noFill/>
        </p:spPr>
        <p:txBody>
          <a:bodyPr wrap="square" lIns="0" tIns="0" rIns="0" bIns="0" anchor="t">
            <a:spAutoFit/>
          </a:bodyPr>
          <a:lstStyle/>
          <a:p>
            <a:pPr algn="l">
              <a:lnSpc>
                <a:spcPct val="100000"/>
              </a:lnSpc>
            </a:pPr>
            <a:r>
              <a:rPr sz="1000" b="0" i="0">
                <a:solidFill>
                  <a:srgbClr val="111111"/>
                </a:solidFill>
                <a:latin typeface="Consolas"/>
              </a:rPr>
              <a:t>% thời gian</a:t>
            </a:r>
          </a:p>
        </p:txBody>
      </p:sp>
      <p:sp>
        <p:nvSpPr>
          <p:cNvPr id="26" name="TextBox 25"/>
          <p:cNvSpPr txBox="1"/>
          <p:nvPr/>
        </p:nvSpPr>
        <p:spPr>
          <a:xfrm>
            <a:off x="9248927" y="3328415"/>
            <a:ext cx="1973503" cy="201168"/>
          </a:xfrm>
          <a:prstGeom prst="rect">
            <a:avLst/>
          </a:prstGeom>
          <a:noFill/>
        </p:spPr>
        <p:txBody>
          <a:bodyPr wrap="square" lIns="0" tIns="0" rIns="0" bIns="0" anchor="t">
            <a:spAutoFit/>
          </a:bodyPr>
          <a:lstStyle/>
          <a:p>
            <a:pPr algn="l">
              <a:lnSpc>
                <a:spcPct val="100000"/>
              </a:lnSpc>
            </a:pPr>
            <a:r>
              <a:rPr sz="800" b="1" i="0" spc="160">
                <a:solidFill>
                  <a:srgbClr val="556575"/>
                </a:solidFill>
                <a:latin typeface="Segoe UI"/>
              </a:rPr>
              <a:t>VẪN RA QUYẾT ĐỊNH KHI MẤT INTERNET</a:t>
            </a:r>
          </a:p>
        </p:txBody>
      </p:sp>
      <p:sp>
        <p:nvSpPr>
          <p:cNvPr id="27" name="Freeform 26"/>
          <p:cNvSpPr/>
          <p:nvPr/>
        </p:nvSpPr>
        <p:spPr>
          <a:xfrm>
            <a:off x="713232" y="3986783"/>
            <a:ext cx="10765231" cy="1298448"/>
          </a:xfrm>
          <a:custGeom>
            <a:avLst/>
            <a:gdLst/>
            <a:ahLst/>
            <a:cxnLst/>
            <a:rect l="l" t="t" r="r" b="b"/>
            <a:pathLst>
              <a:path w="10765231" h="1298448">
                <a:moveTo>
                  <a:pt x="118872" y="0"/>
                </a:moveTo>
                <a:lnTo>
                  <a:pt x="10765231" y="0"/>
                </a:lnTo>
                <a:lnTo>
                  <a:pt x="10765231" y="1179576"/>
                </a:lnTo>
                <a:lnTo>
                  <a:pt x="10646359" y="1298448"/>
                </a:lnTo>
                <a:lnTo>
                  <a:pt x="0" y="1298448"/>
                </a:lnTo>
                <a:lnTo>
                  <a:pt x="0" y="118872"/>
                </a:lnTo>
                <a:close/>
              </a:path>
            </a:pathLst>
          </a:custGeom>
          <a:solidFill>
            <a:srgbClr val="E7EDF9"/>
          </a:solidFill>
          <a:ln w="13970">
            <a:solidFill>
              <a:srgbClr val="005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13232" y="4105655"/>
            <a:ext cx="32004" cy="1179576"/>
          </a:xfrm>
          <a:prstGeom prst="rect">
            <a:avLst/>
          </a:prstGeom>
          <a:solidFill>
            <a:srgbClr val="005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4128" y="4224527"/>
            <a:ext cx="7315200" cy="201168"/>
          </a:xfrm>
          <a:prstGeom prst="rect">
            <a:avLst/>
          </a:prstGeom>
          <a:noFill/>
        </p:spPr>
        <p:txBody>
          <a:bodyPr wrap="square" lIns="0" tIns="0" rIns="0" bIns="0" anchor="t">
            <a:spAutoFit/>
          </a:bodyPr>
          <a:lstStyle/>
          <a:p>
            <a:pPr algn="l">
              <a:lnSpc>
                <a:spcPct val="100000"/>
              </a:lnSpc>
            </a:pPr>
            <a:r>
              <a:rPr sz="800" b="1" i="0" spc="160">
                <a:solidFill>
                  <a:srgbClr val="0044CC"/>
                </a:solidFill>
                <a:latin typeface="Segoe UI"/>
              </a:rPr>
              <a:t>VÌ SAO AIRCON HỢP VỚI UNO Q</a:t>
            </a:r>
          </a:p>
        </p:txBody>
      </p:sp>
      <p:sp>
        <p:nvSpPr>
          <p:cNvPr id="30" name="TextBox 29"/>
          <p:cNvSpPr txBox="1"/>
          <p:nvPr/>
        </p:nvSpPr>
        <p:spPr>
          <a:xfrm>
            <a:off x="1024128" y="4480560"/>
            <a:ext cx="10143439" cy="676656"/>
          </a:xfrm>
          <a:prstGeom prst="rect">
            <a:avLst/>
          </a:prstGeom>
          <a:noFill/>
        </p:spPr>
        <p:txBody>
          <a:bodyPr wrap="square" lIns="0" tIns="0" rIns="0" bIns="0" anchor="t">
            <a:spAutoFit/>
          </a:bodyPr>
          <a:lstStyle/>
          <a:p>
            <a:pPr algn="l">
              <a:lnSpc>
                <a:spcPct val="128000"/>
              </a:lnSpc>
            </a:pPr>
            <a:r>
              <a:rPr sz="1250" b="0" i="0">
                <a:solidFill>
                  <a:srgbClr val="111111"/>
                </a:solidFill>
                <a:latin typeface="Segoe UI"/>
              </a:rPr>
              <a:t>Cảm biến, đường truyền, thuật toán và giao diện đã chạy. Thứ duy nhất còn thiếu là một bộ não đủ sức chạy mô hình ngay trong nhà — và đó chính xác là chỗ Arduino UNO Q lấp vào.</a:t>
            </a:r>
          </a:p>
        </p:txBody>
      </p:sp>
      <p:sp>
        <p:nvSpPr>
          <p:cNvPr id="31" name="Rectangle 30"/>
          <p:cNvSpPr/>
          <p:nvPr/>
        </p:nvSpPr>
        <p:spPr>
          <a:xfrm>
            <a:off x="713232"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4108"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05498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22586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396738"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56761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73849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909368"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080245"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25112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421998"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59287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76375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934628"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10550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27638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447258"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61813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78901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395988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13076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30164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47251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64339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814272"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98514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15602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32690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49777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668655"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83953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01040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181285"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635216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52303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69391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86479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703566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720654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737742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7548299"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71917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89005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806092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23180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40268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857355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874443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8915312"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908618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925706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9427942"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59881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976969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9940573"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11144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10282326" y="5907024"/>
            <a:ext cx="5486" cy="15636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10453203"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1062407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1079495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10965833"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11136709"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11307586"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1478463" y="5907024"/>
            <a:ext cx="5486" cy="8229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713232" y="6126480"/>
            <a:ext cx="10765231" cy="5486"/>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713232" y="6254496"/>
            <a:ext cx="8612184" cy="201168"/>
          </a:xfrm>
          <a:prstGeom prst="rect">
            <a:avLst/>
          </a:prstGeom>
          <a:noFill/>
        </p:spPr>
        <p:txBody>
          <a:bodyPr wrap="square" lIns="0" tIns="0" rIns="0" bIns="0" anchor="t">
            <a:spAutoFit/>
          </a:bodyPr>
          <a:lstStyle/>
          <a:p>
            <a:pPr algn="l">
              <a:lnSpc>
                <a:spcPct val="100000"/>
              </a:lnSpc>
            </a:pPr>
            <a:r>
              <a:rPr sz="800" b="0" i="0" spc="60">
                <a:solidFill>
                  <a:srgbClr val="6B7C90"/>
                </a:solidFill>
                <a:latin typeface="Consolas"/>
              </a:rPr>
              <a:t>18 — bốn chỉ tiêu nghiệm thu khi Edge AI chạy trên UNO Q · AIRCON / EDGE-AI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4193</Words>
  <Application>Microsoft Office PowerPoint</Application>
  <PresentationFormat>Màn hình rộng</PresentationFormat>
  <Paragraphs>403</Paragraphs>
  <Slides>18</Slides>
  <Notes>0</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18</vt:i4>
      </vt:variant>
    </vt:vector>
  </HeadingPairs>
  <TitlesOfParts>
    <vt:vector size="23" baseType="lpstr">
      <vt:lpstr>Arial</vt:lpstr>
      <vt:lpstr>Calibri</vt:lpstr>
      <vt:lpstr>Consolas</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2273201040781 - NGUYỄN NGỌC QUỲNH NHƯ - 71K28TDPT14</cp:lastModifiedBy>
  <cp:revision>2</cp:revision>
  <dcterms:created xsi:type="dcterms:W3CDTF">2013-01-27T09:14:16Z</dcterms:created>
  <dcterms:modified xsi:type="dcterms:W3CDTF">2026-07-29T09:32:25Z</dcterms:modified>
  <cp:category/>
</cp:coreProperties>
</file>